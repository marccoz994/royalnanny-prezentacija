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1: Standardi profesionalne nege i razvoja deteta</a:t>
            </a:r>
          </a:p>
          <a:p>
            <a:r>
              <a:t>Modul: Uvod | Kategorija: ROYAL NANNY AKADEMIJA</a:t>
            </a:r>
          </a:p>
          <a:p/>
          <a:p>
            <a:r>
              <a:t>🎯 CILJ OVE TEME:</a:t>
            </a:r>
          </a:p>
          <a:p>
            <a:r>
              <a:t>Postaviti autoritet predavača, predstaviti saradnika Spec. strukovnu med-sestru Jelenu Aleksić i definisati standarde izvrsnosti.</a:t>
            </a:r>
          </a:p>
          <a:p/>
          <a:p>
            <a:r>
              <a:t>📌 KLJUČNE TEZE I SMERNICE ZA PREDAVAČA:</a:t>
            </a:r>
          </a:p>
          <a:p>
            <a:r>
              <a:t>Naglasite da Royal Nanny obuka nije samo kurs čuvanja dece, već akademija elitne nege. Polaznice moraju shvatiti da je spoj medicinske obučenosti, preventivnog razmišljanja i bontona ono što stvara poverenje roditelja.</a:t>
            </a:r>
          </a:p>
          <a:p/>
          <a:p>
            <a:r>
              <a:t>⚠️ NAJČEŠĆE GREŠKE I ZABLUDE U PRAKSI:</a:t>
            </a:r>
          </a:p>
          <a:p>
            <a:r>
              <a:t>Polaznice često misle da je 'ljubav prema deci' dovoljna. Jasno podvući da je medicinska stručnost bez improvizacije temelj rada.</a:t>
            </a:r>
          </a:p>
          <a:p/>
          <a:p>
            <a:r>
              <a:t>❓ INTERAKTIVNO PITANJE ZA POLAZNICE:</a:t>
            </a:r>
          </a:p>
          <a:p>
            <a:r>
              <a:t>Šta po vašem mišljenju razlikuje prosečnu dadilju od sertifikovane Royal Nanny profesionalne negovateljice?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2: Struktura edukativnog programa i kurikuluma</a:t>
            </a:r>
          </a:p>
          <a:p>
            <a:r>
              <a:t>Modul: Uvod | Kategorija: PREGLED PROGRAMA</a:t>
            </a:r>
          </a:p>
          <a:p/>
          <a:p>
            <a:r>
              <a:t>🎯 CILJ OVE TEME:</a:t>
            </a:r>
          </a:p>
          <a:p>
            <a:r>
              <a:t>Predstaviti polaznicama celokupnu mapu edukacije i povezati sve teme u jedinstven logički sistem.</a:t>
            </a:r>
          </a:p>
          <a:p/>
          <a:p>
            <a:r>
              <a:t>📌 KLJUČNE TEZE I SMERNICE ZA PREDAVAČA:</a:t>
            </a:r>
          </a:p>
          <a:p>
            <a:r>
              <a:t>Objasnite polaznicama da svaka od 37 tema ima direktnu primenu u praksi. Redosled je osmišljen tako da se znanje postepeno nadograđuje.</a:t>
            </a:r>
          </a:p>
          <a:p/>
          <a:p>
            <a:r>
              <a:t>⚠️ NAJČEŠĆE GREŠKE I ZABLUDE U PRAKSI:</a:t>
            </a:r>
          </a:p>
          <a:p>
            <a:r>
              <a:t>Pretpostavka da se bolesno dete neguje intuitivno, bez poznavanja egzaktnih protokola i crvenih alarma.</a:t>
            </a:r>
          </a:p>
          <a:p/>
          <a:p>
            <a:r>
              <a:t>❓ INTERAKTIVNO PITANJE ZA POLAZNICE:</a:t>
            </a:r>
          </a:p>
          <a:p>
            <a:r>
              <a:t>Koju oblast pedijatrijske nege smatrate najodgovornijom i u kojoj osećate potrebu za najvećim usavršavanjem?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3: Priprema sobe za bebu, nameštaja i opreme</a:t>
            </a:r>
          </a:p>
          <a:p>
            <a:r>
              <a:t>Modul: Modul 1: Higijena i nega | Kategorija: MODUL 1 • TEMA 1</a:t>
            </a:r>
          </a:p>
          <a:p/>
          <a:p>
            <a:r>
              <a:t>🎯 CILJ OVE TEME:</a:t>
            </a:r>
          </a:p>
          <a:p>
            <a:r>
              <a:t>Naučiti polaznice kako da pripreme i bezbednosno verifikuju prostoriju i opremu pre dolaska novorođenčeta.</a:t>
            </a:r>
          </a:p>
          <a:p/>
          <a:p>
            <a:r>
              <a:t>📌 KLJUČNE TEZE I SMERNICE ZA PREDAVAČA:</a:t>
            </a:r>
          </a:p>
          <a:p>
            <a:r>
              <a:t>Bebi je neophodna nesmetana cirkulacija svežeg vazduha. Naglasiti važnost vlaženja vazduha zimi jer suv vazduh isušuje sluzokožu disajnih puteva.</a:t>
            </a:r>
          </a:p>
          <a:p/>
          <a:p>
            <a:r>
              <a:t>⚠️ NAJČEŠĆE GREŠKE I ZABLUDE U PRAKSI:</a:t>
            </a:r>
          </a:p>
          <a:p>
            <a:r>
              <a:t>Pretopljavanje sobe preko 24°C, postavljanje kreveca tik uz radijator ili ispod prozora, i pretrpavanje kreveca plišanim igračkama.</a:t>
            </a:r>
          </a:p>
          <a:p/>
          <a:p>
            <a:r>
              <a:t>❓ INTERAKTIVNO PITANJE ZA POLAZNICE:</a:t>
            </a:r>
          </a:p>
          <a:p>
            <a:r>
              <a:t>Zašto je preporučljivo da ogradica ne zatvara sve 4 strane kreveca novorođenčeta?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4: Kupanje bebe: Priprema, stanica i mikroklima</a:t>
            </a:r>
          </a:p>
          <a:p>
            <a:r>
              <a:t>Modul: Modul 1: Higijena i nega | Kategorija: MODUL 1 • TEMA 2</a:t>
            </a:r>
          </a:p>
          <a:p/>
          <a:p>
            <a:r>
              <a:t>🎯 CILJ OVE TEME:</a:t>
            </a:r>
          </a:p>
          <a:p>
            <a:r>
              <a:t>Usvojiti protokol organizacije stanice za kupanje gde se eliminiše svaki bezbednosni rizik.</a:t>
            </a:r>
          </a:p>
          <a:p/>
          <a:p>
            <a:r>
              <a:t>📌 KLJUČNE TEZE I SMERNICE ZA PREDAVAČA:</a:t>
            </a:r>
          </a:p>
          <a:p>
            <a:r>
              <a:t>Dlan odrasle osobe je ogrubeo i manje osetljiv. Koža novorođenčeta je višestruko tanja i sklona opekotinama već na temperaturama preko 38°C.</a:t>
            </a:r>
          </a:p>
          <a:p/>
          <a:p>
            <a:r>
              <a:t>⚠️ NAJČEŠĆE GREŠKE I ZABLUDE U PRAKSI:</a:t>
            </a:r>
          </a:p>
          <a:p>
            <a:r>
              <a:t>Svlačenje bebe pre nego što je sipana voda ili pre nego što su pripremljeni peškir i čista odeća, što stvara paniku i rizik od pothlađivanja.</a:t>
            </a:r>
          </a:p>
          <a:p/>
          <a:p>
            <a:r>
              <a:t>❓ INTERAKTIVNO PITANJE ZA POLAZNICE:</a:t>
            </a:r>
          </a:p>
          <a:p>
            <a:r>
              <a:t>Zašto se temperatura vode uvek mora meriti toplomerom, a ne samo procenjivati dlanom?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5: Tehnika kupanja bebe i nega kože</a:t>
            </a:r>
          </a:p>
          <a:p>
            <a:r>
              <a:t>Modul: Modul 1: Higijena i nega | Kategorija: MODUL 1 • TEMA 3</a:t>
            </a:r>
          </a:p>
          <a:p/>
          <a:p>
            <a:r>
              <a:t>🎯 CILJ OVE TEME:</a:t>
            </a:r>
          </a:p>
          <a:p>
            <a:r>
              <a:t>Savladati biomehaniku sigurnog držanja bebe tokom kupanja i pravilan izbor dermatoloških preparata.</a:t>
            </a:r>
          </a:p>
          <a:p/>
          <a:p>
            <a:r>
              <a:t>📌 KLJUČNE TEZE I SMERNICE ZA PREDAVAČA:</a:t>
            </a:r>
          </a:p>
          <a:p>
            <a:r>
              <a:t>Zadržavanje neispranog šampona i mrtvih ćelija na temenu podstiče stvaranje temenjače (seboreičnog dermatitisa). Redovna toaleta glave to sprečava.</a:t>
            </a:r>
          </a:p>
          <a:p/>
          <a:p>
            <a:r>
              <a:t>⚠️ NAJČEŠĆE GREŠKE I ZABLUDE U PRAKSI:</a:t>
            </a:r>
          </a:p>
          <a:p>
            <a:r>
              <a:t>Trljanje kože peškirom, pranje bebinog lica sapunicom, i korišćenje alkalnih sapuna koji uništavaju pH barijeru kože.</a:t>
            </a:r>
          </a:p>
          <a:p/>
          <a:p>
            <a:r>
              <a:t>❓ INTERAKTIVNO PITANJE ZA POLAZNICE:</a:t>
            </a:r>
          </a:p>
          <a:p>
            <a:r>
              <a:t>Zašto se glava i kosa novorođenčeta moraju dobro isprati i blago prosušiti kružnim pokretima frotira?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6: Nega pupčanika i pupčane rane</a:t>
            </a:r>
          </a:p>
          <a:p>
            <a:r>
              <a:t>Modul: Modul 1: Higijena i nega | Kategorija: MODUL 1 • TEMA 4</a:t>
            </a:r>
          </a:p>
          <a:p/>
          <a:p>
            <a:r>
              <a:t>🎯 CILJ OVE TEME:</a:t>
            </a:r>
          </a:p>
          <a:p>
            <a:r>
              <a:t>Ovladati sterilnom tehnikom nege pupčanog patrljka i ranim prepoznavanjem omfalitisa.</a:t>
            </a:r>
          </a:p>
          <a:p/>
          <a:p>
            <a:r>
              <a:t>📌 KLJUČNE TEZE I SMERNICE ZA PREDAVAČA:</a:t>
            </a:r>
          </a:p>
          <a:p>
            <a:r>
              <a:t>Minimalna kap krvi prilikom otpadanja je normalna reakcija rupture kapilara. Rana se prebriše Octeniseptom i prekrije sterilnom gazom. Ako krvarenje pulsira ili ne prestaje, obavezan je pregled lekara.</a:t>
            </a:r>
          </a:p>
          <a:p/>
          <a:p>
            <a:r>
              <a:t>⚠️ NAJČEŠĆE GREŠKE I ZABLUDE U PRAKSI:</a:t>
            </a:r>
          </a:p>
          <a:p>
            <a:r>
              <a:t>Prekrivanje pupka pelenom gde urin vlaži ranu, ili nasilno povlačenje patrljka koji još nije potpuno mumifikovao.</a:t>
            </a:r>
          </a:p>
          <a:p/>
          <a:p>
            <a:r>
              <a:t>❓ INTERAKTIVNO PITANJE ZA POLAZNICE:</a:t>
            </a:r>
          </a:p>
          <a:p>
            <a:r>
              <a:t>Šta treba uraditi ako se nakon otpadanja patrljka na sterilnoj gazi pojavi kapljica sveže sasušene krvi?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7: Nega čula: Oči, uši, nos i noktići</a:t>
            </a:r>
          </a:p>
          <a:p>
            <a:r>
              <a:t>Modul: Modul 1: Higijena i nega | Kategorija: MODUL 1 • TEMA 5</a:t>
            </a:r>
          </a:p>
          <a:p/>
          <a:p>
            <a:r>
              <a:t>🎯 CILJ OVE TEME:</a:t>
            </a:r>
          </a:p>
          <a:p>
            <a:r>
              <a:t>Usvojiti precizne aseptične korake toalete oka, nosa, uha i noktiju bez improvizacija.</a:t>
            </a:r>
          </a:p>
          <a:p/>
          <a:p>
            <a:r>
              <a:t>📌 KLJUČNE TEZE I SMERNICE ZA PREDAVAČA:</a:t>
            </a:r>
          </a:p>
          <a:p>
            <a:r>
              <a:t>Kretanjem ka nosu sekret se usmerava prirodnim tokom ka suznom kanalu i sprečava širenje eventualne infekcije ka očnoj jabučici i spoljnoj regiji.</a:t>
            </a:r>
          </a:p>
          <a:p/>
          <a:p>
            <a:r>
              <a:t>⚠️ NAJČEŠĆE GREŠKE I ZABLUDE U PRAKSI:</a:t>
            </a:r>
          </a:p>
          <a:p>
            <a:r>
              <a:t>Upotreba čaja od kamilice za ispiranje očiju i guranje štapića sa vatom u ušni kanal odojčeta.</a:t>
            </a:r>
          </a:p>
          <a:p/>
          <a:p>
            <a:r>
              <a:t>❓ INTERAKTIVNO PITANJE ZA POLAZNICE:</a:t>
            </a:r>
          </a:p>
          <a:p>
            <a:r>
              <a:t>Zašto se brisanje oka novorođenčeta vrši od spoljašnjeg ugla ka unutrašnjem, a ne obrnuto?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8: Oblačenje bebe i prevencija pretopljavanja</a:t>
            </a:r>
          </a:p>
          <a:p>
            <a:r>
              <a:t>Modul: Modul 1: Higijena i nega | Kategorija: MODUL 1 • TEMA 6</a:t>
            </a:r>
          </a:p>
          <a:p/>
          <a:p>
            <a:r>
              <a:t>🎯 CILJ OVE TEME:</a:t>
            </a:r>
          </a:p>
          <a:p>
            <a:r>
              <a:t>Naučiti polaznice proceni toplotnog komfora deteta i prevenciji pretopljavanja.</a:t>
            </a:r>
          </a:p>
          <a:p/>
          <a:p>
            <a:r>
              <a:t>📌 KLJUČNE TEZE I SMERNICE ZA PREDAVAČA:</a:t>
            </a:r>
          </a:p>
          <a:p>
            <a:r>
              <a:t>Periferna cirkulacija kod novorođenčeta je u razvoju i vazomotorne reakcije na periferiji su izražene. Merodavan je isključivo potiljak – ako je znojav, beba je pretopljena.</a:t>
            </a:r>
          </a:p>
          <a:p/>
          <a:p>
            <a:r>
              <a:t>⚠️ NAJČEŠĆE GREŠKE I ZABLUDE U PRAKSI:</a:t>
            </a:r>
          </a:p>
          <a:p>
            <a:r>
              <a:t>Oblačenje kape bebi u zagrejanoj sobi, višestruko umotavanje u ćebad i procena toplote po hladnim bebinim šakama.</a:t>
            </a:r>
          </a:p>
          <a:p/>
          <a:p>
            <a:r>
              <a:t>❓ INTERAKTIVNO PITANJE ZA POLAZNICE:</a:t>
            </a:r>
          </a:p>
          <a:p>
            <a:r>
              <a:t>Zašto hladne šake i stopala kod novorođenčeta nisu pouzdan znak da je bebi hladno?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9: Položaj pri hranjenju, nošenju i spavanju</a:t>
            </a:r>
          </a:p>
          <a:p>
            <a:r>
              <a:t>Modul: Modul 1: Higijena i nega | Kategorija: MODUL 1 • TEMA 7</a:t>
            </a:r>
          </a:p>
          <a:p/>
          <a:p>
            <a:r>
              <a:t>🎯 CILJ OVE TEME:</a:t>
            </a:r>
          </a:p>
          <a:p>
            <a:r>
              <a:t>Usvojiti međunarodne standarde bezbednog sna (AAP protokoli) i pravilne tehnike nošenja i hranjenja.</a:t>
            </a:r>
          </a:p>
          <a:p/>
          <a:p>
            <a:r>
              <a:t>📌 KLJUČNE TEZE I SMERNICE ZA PREDAVAČA:</a:t>
            </a:r>
          </a:p>
          <a:p>
            <a:r>
              <a:t>Beba u bočnom položaju lako može da se prevali na stomak, što drastično uvećava rizik od blokade disajnih puteva i sindroma iznenadne smrti odojčeta (SIDS).</a:t>
            </a:r>
          </a:p>
          <a:p/>
          <a:p>
            <a:r>
              <a:t>⚠️ NAJČEŠĆE GREŠKE I ZABLUDE U PRAKSI:</a:t>
            </a:r>
          </a:p>
          <a:p>
            <a:r>
              <a:t>Uspavljivanje novorođenčeta na stomaku ili boku, postavljanje mekih jastuka pod glavu i preskakanje podrigivanja.</a:t>
            </a:r>
          </a:p>
          <a:p/>
          <a:p>
            <a:r>
              <a:t>❓ INTERAKTIVNO PITANJE ZA POLAZNICE:</a:t>
            </a:r>
          </a:p>
          <a:p>
            <a:r>
              <a:t>Zašto se spavanje na boku više ne preporučuje kao bezbedan položaj za novorođenče?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10: Higijena bebine garderobe i bebinog pribora</a:t>
            </a:r>
          </a:p>
          <a:p>
            <a:r>
              <a:t>Modul: Modul 1: Higijena i nega | Kategorija: MODUL 1 • TEMA 8</a:t>
            </a:r>
          </a:p>
          <a:p/>
          <a:p>
            <a:r>
              <a:t>🎯 CILJ OVE TEME:</a:t>
            </a:r>
          </a:p>
          <a:p>
            <a:r>
              <a:t>Naučiti standarde hemijske i mikrobiološke bezbednosti tekstila i opreme sa kojom beba dolazi u kontakt.</a:t>
            </a:r>
          </a:p>
          <a:p/>
          <a:p>
            <a:r>
              <a:t>📌 KLJUČNE TEZE I SMERNICE ZA PREDAVAČA:</a:t>
            </a:r>
          </a:p>
          <a:p>
            <a:r>
              <a:t>Omekšivači sadrže jake sintetičke mirise i katjonske surfaktante koji stvaraju okluzivni sloj na tkanini, provociraju atopijski dermatitis i narušavaju disanje kože.</a:t>
            </a:r>
          </a:p>
          <a:p/>
          <a:p>
            <a:r>
              <a:t>⚠️ NAJČEŠĆE GREŠKE I ZABLUDE U PRAKSI:</a:t>
            </a:r>
          </a:p>
          <a:p>
            <a:r>
              <a:t>Korišćenje mirišljavih omekšivača za veš, zajedničko pranje bebinog veša sa odećom odraslih i nedovoljno ispiranje.</a:t>
            </a:r>
          </a:p>
          <a:p/>
          <a:p>
            <a:r>
              <a:t>❓ INTERAKTIVNO PITANJE ZA POLAZNICE:</a:t>
            </a:r>
          </a:p>
          <a:p>
            <a:r>
              <a:t>Zašto se omekšivač za veš strogo zabranjuje u održavanju odeće novorođenčadi i odojčadi?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11: Prednosti dojenja i biološki značaj mleka</a:t>
            </a:r>
          </a:p>
          <a:p>
            <a:r>
              <a:t>Modul: Modul 2: Dojenje | Kategorija: MODUL 2 • TEMA 9</a:t>
            </a:r>
          </a:p>
          <a:p/>
          <a:p>
            <a:r>
              <a:t>🎯 CILJ OVE TEME:</a:t>
            </a:r>
          </a:p>
          <a:p>
            <a:r>
              <a:t>Pružiti polaznicama duboko naučno razumevanje bioloških prednosti majčinog mleka kako bi pružile nepokolebljivu podršku majkama.</a:t>
            </a:r>
          </a:p>
          <a:p/>
          <a:p>
            <a:r>
              <a:t>📌 KLJUČNE TEZE I SMERNICE ZA PREDAVAČA:</a:t>
            </a:r>
          </a:p>
          <a:p>
            <a:r>
              <a:t>Kolostrum sadrži ekstremno visoku koncentraciju sIgA antitela koja oblažu nezrelu sluzokožu bebinog digestivnog trakta i sprečavaju kolonizaciju patogena.</a:t>
            </a:r>
          </a:p>
          <a:p/>
          <a:p>
            <a:r>
              <a:t>⚠️ NAJČEŠĆE GREŠKE I ZABLUDE U PRAKSI:</a:t>
            </a:r>
          </a:p>
          <a:p>
            <a:r>
              <a:t>Pretpostavka da majka u prvim danima "nema mleka" jer kolostrum izlazi u kapima (zanemarivanje činjenice da je želudac novorođenčeta veličine klikera).</a:t>
            </a:r>
          </a:p>
          <a:p/>
          <a:p>
            <a:r>
              <a:t>❓ INTERAKTIVNO PITANJE ZA POLAZNICE:</a:t>
            </a:r>
          </a:p>
          <a:p>
            <a:r>
              <a:t>Zašto se kolostrum naziva prvom bebinom vakcinom?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12: Higijena i nega dojki tokom laktacije</a:t>
            </a:r>
          </a:p>
          <a:p>
            <a:r>
              <a:t>Modul: Modul 2: Dojenje | Kategorija: MODUL 2 • TEMA 10</a:t>
            </a:r>
          </a:p>
          <a:p/>
          <a:p>
            <a:r>
              <a:t>🎯 CILJ OVE TEME:</a:t>
            </a:r>
          </a:p>
          <a:p>
            <a:r>
              <a:t>Ukloniti zablude o pranju bradavica pre svakog podoja i očuvati integritet kože areole.</a:t>
            </a:r>
          </a:p>
          <a:p/>
          <a:p>
            <a:r>
              <a:t>📌 KLJUČNE TEZE I SMERNICE ZA PREDAVAČA:</a:t>
            </a:r>
          </a:p>
          <a:p>
            <a:r>
              <a:t>One luče prirodni baktericidni lipidni film koji podmazuje kožu i ima miris koji novorođenče prepoznaje instinktivno iz materice.</a:t>
            </a:r>
          </a:p>
          <a:p/>
          <a:p>
            <a:r>
              <a:t>⚠️ NAJČEŠĆE GREŠKE I ZABLUDE U PRAKSI:</a:t>
            </a:r>
          </a:p>
          <a:p>
            <a:r>
              <a:t>Savetovanje majkama da prebrišu bradavice alkoholom, vlažnim maramicama ili sapunom pre nego što stave bebu na dojku.</a:t>
            </a:r>
          </a:p>
          <a:p/>
          <a:p>
            <a:r>
              <a:t>❓ INTERAKTIVNO PITANJE ZA POLAZNICE:</a:t>
            </a:r>
          </a:p>
          <a:p>
            <a:r>
              <a:t>Koja je fiziološka uloga Montgomerijevih žlezda na areoli dojke?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13: Priprema dojki za podoj: Let-down protokol</a:t>
            </a:r>
          </a:p>
          <a:p>
            <a:r>
              <a:t>Modul: Modul 2: Dojenje | Kategorija: MODUL 2 • TEMA 11</a:t>
            </a:r>
          </a:p>
          <a:p/>
          <a:p>
            <a:r>
              <a:t>🎯 CILJ OVE TEME:</a:t>
            </a:r>
          </a:p>
          <a:p>
            <a:r>
              <a:t>Naučiti polaznice kako da praktično pomognu majci da aktivira refleks otpuštanja mleka pre postavljanja bebe.</a:t>
            </a:r>
          </a:p>
          <a:p/>
          <a:p>
            <a:r>
              <a:t>📌 KLJUČNE TEZE I SMERNICE ZA PREDAVAČA:</a:t>
            </a:r>
          </a:p>
          <a:p>
            <a:r>
              <a:t>Adrenalin sužava krvne sudove i direktno inhibira delovanje oksitocina na mioepitelne ćelije oko alveola, sprečavajući istiskivanje mleka ka sinusima.</a:t>
            </a:r>
          </a:p>
          <a:p/>
          <a:p>
            <a:r>
              <a:t>⚠️ NAJČEŠĆE GREŠKE I ZABLUDE U PRAKSI:</a:t>
            </a:r>
          </a:p>
          <a:p>
            <a:r>
              <a:t>Forsiranje bebe na tvrdu, prenapregnutu dojku dok beba plače, što dovodi do oštećenja bradavice i odbijanja podoja.</a:t>
            </a:r>
          </a:p>
          <a:p/>
          <a:p>
            <a:r>
              <a:t>❓ INTERAKTIVNO PITANJE ZA POLAZNICE:</a:t>
            </a:r>
          </a:p>
          <a:p>
            <a:r>
              <a:t>Kako adrenalin utiče na laktaciju i refleks otpuštanja mleka?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14: Položaji pri dojenju: Ergonomija za majku i bebu</a:t>
            </a:r>
          </a:p>
          <a:p>
            <a:r>
              <a:t>Modul: Modul 2: Dojenje | Kategorija: MODUL 2 • TEMA 12</a:t>
            </a:r>
          </a:p>
          <a:p/>
          <a:p>
            <a:r>
              <a:t>🎯 CILJ OVE TEME:</a:t>
            </a:r>
          </a:p>
          <a:p>
            <a:r>
              <a:t>Ovladati anatomskim položajima pri dojenju i individualno ih prilagoditi stanju majke.</a:t>
            </a:r>
          </a:p>
          <a:p/>
          <a:p>
            <a:r>
              <a:t>📌 KLJUČNE TEZE I SMERNICE ZA PREDAVAČA:</a:t>
            </a:r>
          </a:p>
          <a:p>
            <a:r>
              <a:t>Ragbi hvat potpuno rasterećuje prednji trbušni zid i rez od carskog reza, a istovremeno majci omogućava odličan vizuelni pregled nad bebinim ustima.</a:t>
            </a:r>
          </a:p>
          <a:p/>
          <a:p>
            <a:r>
              <a:t>⚠️ NAJČEŠĆE GREŠKE I ZABLUDE U PRAKSI:</a:t>
            </a:r>
          </a:p>
          <a:p>
            <a:r>
              <a:t>Naginjanje majke prema bebi umesto privlačenja bebe dojci, što izaziva hronične bolove u leđima i plitak hvat.</a:t>
            </a:r>
          </a:p>
          <a:p/>
          <a:p>
            <a:r>
              <a:t>❓ INTERAKTIVNO PITANJE ZA POLAZNICE:</a:t>
            </a:r>
          </a:p>
          <a:p>
            <a:r>
              <a:t>Zašto je ragbi hvat (ispod pazuha) prvi izbor kod žena koje su se porodile carskim rezom?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15: Pravilno postavljanje bebe na dojku (Asimetrični hvat)</a:t>
            </a:r>
          </a:p>
          <a:p>
            <a:r>
              <a:t>Modul: Modul 2: Dojenje | Kategorija: MODUL 2 • TEMA 13</a:t>
            </a:r>
          </a:p>
          <a:p/>
          <a:p>
            <a:r>
              <a:t>🎯 CILJ OVE TEME:</a:t>
            </a:r>
          </a:p>
          <a:p>
            <a:r>
              <a:t>Uvežbati asimetrični hvat do detalja i naučiti prepoznavanje plitkog hvata pre nego što nastanu oštećenja.</a:t>
            </a:r>
          </a:p>
          <a:p/>
          <a:p>
            <a:r>
              <a:t>📌 KLJUČNE TEZE I SMERNICE ZA PREDAVAČA:</a:t>
            </a:r>
          </a:p>
          <a:p>
            <a:r>
              <a:t>Coktanje, škljocanje jezikom i uvlačenje obraza (jamice) ukazuju na gubljenje vakuuma i plitak hvat. Mora se čuti mirno, duboko gutanje ("ka-hu").</a:t>
            </a:r>
          </a:p>
          <a:p/>
          <a:p>
            <a:r>
              <a:t>⚠️ NAJČEŠĆE GREŠKE I ZABLUDE U PRAKSI:</a:t>
            </a:r>
          </a:p>
          <a:p>
            <a:r>
              <a:t>Guranje dojke bebi u usta dok su usta poluotvorena, što rezultira time da beba sisa samo vrh bradavice.</a:t>
            </a:r>
          </a:p>
          <a:p/>
          <a:p>
            <a:r>
              <a:t>❓ INTERAKTIVNO PITANJE ZA POLAZNICE:</a:t>
            </a:r>
          </a:p>
          <a:p>
            <a:r>
              <a:t>Koji zvuci tokom podoja ukazuju na to da je hvat nepravilan?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16: Ispucale bradavice (Ragade): Prevencija i tretman</a:t>
            </a:r>
          </a:p>
          <a:p>
            <a:r>
              <a:t>Modul: Modul 2: Dojenje | Kategorija: MODUL 2 • TEMA 14</a:t>
            </a:r>
          </a:p>
          <a:p/>
          <a:p>
            <a:r>
              <a:t>🎯 CILJ OVE TEME:</a:t>
            </a:r>
          </a:p>
          <a:p>
            <a:r>
              <a:t>Naučiti polaznice kako da u roku od nekoliko minuta identifikuju uzrok bola pri dojenju i saniraju ragade.</a:t>
            </a:r>
          </a:p>
          <a:p/>
          <a:p>
            <a:r>
              <a:t>📌 KLJUČNE TEZE I SMERNICE ZA PREDAVAČA:</a:t>
            </a:r>
          </a:p>
          <a:p>
            <a:r>
              <a:t>Nežno gurnuti opran mali prst u ugao bebinog jezika i usana dok se ne čuje popuštanje vakuuma, pa tek onda lagano izvući bradavicu.</a:t>
            </a:r>
          </a:p>
          <a:p/>
          <a:p>
            <a:r>
              <a:t>⚠️ NAJČEŠĆE GREŠKE I ZABLUDE U PRAKSI:</a:t>
            </a:r>
          </a:p>
          <a:p>
            <a:r>
              <a:t>Prekidanje dojenja zbog ragada i agresivno pranje sapunima i dezinficijensima koji onemogućavaju zarastanje.</a:t>
            </a:r>
          </a:p>
          <a:p/>
          <a:p>
            <a:r>
              <a:t>❓ INTERAKTIVNO PITANJE ZA POLAZNICE:</a:t>
            </a:r>
          </a:p>
          <a:p>
            <a:r>
              <a:t>Kako pravilno prekinuti podoj ako beba spava na dojci ili je hvat bolan?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17: Upala dojki: Prepunjenost i mastitis</a:t>
            </a:r>
          </a:p>
          <a:p>
            <a:r>
              <a:t>Modul: Modul 2: Dojenje | Kategorija: MODUL 2 • TEMA 15</a:t>
            </a:r>
          </a:p>
          <a:p/>
          <a:p>
            <a:r>
              <a:t>🎯 CILJ OVE TEME:</a:t>
            </a:r>
          </a:p>
          <a:p>
            <a:r>
              <a:t>Ovladati jasnim algoritmom postupanja kod zastoja mleka i mastitisa bez nepotrebnog prekidanja laktacije.</a:t>
            </a:r>
          </a:p>
          <a:p/>
          <a:p>
            <a:r>
              <a:t>📌 KLJUČNE TEZE I SMERNICE ZA PREDAVAČA:</a:t>
            </a:r>
          </a:p>
          <a:p>
            <a:r>
              <a:t>Želudačna kiselina bebe uništava bakterije, a beba je najefikasnija pumpa za pražnjenje zapušenog mlečnog kanala. Naglasiti da majka mora da miruje i uzima tečnost.</a:t>
            </a:r>
          </a:p>
          <a:p/>
          <a:p>
            <a:r>
              <a:t>⚠️ NAJČEŠĆE GREŠKE I ZABLUDE U PRAKSI:</a:t>
            </a:r>
          </a:p>
          <a:p>
            <a:r>
              <a:t>Prekidanje dojenja na bolesnoj dojci, što stvara još gori zastoj i vodi direktno ka stvaranju apscesa.</a:t>
            </a:r>
          </a:p>
          <a:p/>
          <a:p>
            <a:r>
              <a:t>❓ INTERAKTIVNO PITANJE ZA POLAZNICE:</a:t>
            </a:r>
          </a:p>
          <a:p>
            <a:r>
              <a:t>Zašto je bezbedno i preporučljivo da beba doji na dojci zahvaćenoj mastitisom?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18: Izmazanje majčinog mleka: Tehnike i higijena</a:t>
            </a:r>
          </a:p>
          <a:p>
            <a:r>
              <a:t>Modul: Modul 2: Dojenje | Kategorija: MODUL 2 • TEMA 16</a:t>
            </a:r>
          </a:p>
          <a:p/>
          <a:p>
            <a:r>
              <a:t>🎯 CILJ OVE TEME:</a:t>
            </a:r>
          </a:p>
          <a:p>
            <a:r>
              <a:t>Naučiti polaznice demonstraciji Marmet tehnike ručnog izmazanja i pravilnom rukovanju izdajalicama.</a:t>
            </a:r>
          </a:p>
          <a:p/>
          <a:p>
            <a:r>
              <a:t>📌 KLJUČNE TEZE I SMERNICE ZA PREDAVAČA:</a:t>
            </a:r>
          </a:p>
          <a:p>
            <a:r>
              <a:t>Mlečni sinusi se nalaze ispod areole, a ne u bradavici. Stiskanje bradavice zatvara kanaliće, izaziva jak bol i može oštetiti osetljive nerve.</a:t>
            </a:r>
          </a:p>
          <a:p/>
          <a:p>
            <a:r>
              <a:t>⚠️ NAJČEŠĆE GREŠKE I ZABLUDE U PRAKSI:</a:t>
            </a:r>
          </a:p>
          <a:p>
            <a:r>
              <a:t>Trljanje i klizanje prstiju po koži tokom ručnog izmazanja (stvara modrice) i korišćenje preuskog levka na električnoj pumpici.</a:t>
            </a:r>
          </a:p>
          <a:p/>
          <a:p>
            <a:r>
              <a:t>❓ INTERAKTIVNO PITANJE ZA POLAZNICE:</a:t>
            </a:r>
          </a:p>
          <a:p>
            <a:r>
              <a:t>Zašto se bradavica ne sme stiskati i čupati tokom ručnog izmazanja?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19: Čuvanje i odmrzavanje majčinog mleka</a:t>
            </a:r>
          </a:p>
          <a:p>
            <a:r>
              <a:t>Modul: Modul 2: Dojenje | Kategorija: MODUL 2 • TEMA 17</a:t>
            </a:r>
          </a:p>
          <a:p/>
          <a:p>
            <a:r>
              <a:t>🎯 CILJ OVE TEME:</a:t>
            </a:r>
          </a:p>
          <a:p>
            <a:r>
              <a:t>Usvojiti međunarodne protokole bezbednog skladištenja i manipulacije humanim mlekom.</a:t>
            </a:r>
          </a:p>
          <a:p/>
          <a:p>
            <a:r>
              <a:t>📌 KLJUČNE TEZE I SMERNICE ZA PREDAVAČA:</a:t>
            </a:r>
          </a:p>
          <a:p>
            <a:r>
              <a:t>To je prirodno razdvajanje mlečne masti koja isplivava na površinu. Flašicu ne treba snažno mućkati, već lagano kružno promešati da se emulzija sjedini.</a:t>
            </a:r>
          </a:p>
          <a:p/>
          <a:p>
            <a:r>
              <a:t>⚠️ NAJČEŠĆE GREŠKE I ZABLUDE U PRAKSI:</a:t>
            </a:r>
          </a:p>
          <a:p>
            <a:r>
              <a:t>Držanje mleka u vratima frižidera, grejanje u mikrotalasnoj rerni i ponovno zamrzavanje preostalog mleka.</a:t>
            </a:r>
          </a:p>
          <a:p/>
          <a:p>
            <a:r>
              <a:t>❓ INTERAKTIVNO PITANJE ZA POLAZNICE:</a:t>
            </a:r>
          </a:p>
          <a:p>
            <a:r>
              <a:t>Zašto se izdojeno mleko tokom stajanja u frižideru razdvaja na dva sloja i šta treba uraditi pre hranjenja?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20: Adaptirana formula: Priprema, higijena i bezbednost</a:t>
            </a:r>
          </a:p>
          <a:p>
            <a:r>
              <a:t>Modul: Modul 2: Dojenje | Kategorija: MODUL 2 • TEMA 18</a:t>
            </a:r>
          </a:p>
          <a:p/>
          <a:p>
            <a:r>
              <a:t>🎯 CILJ OVE TEME:</a:t>
            </a:r>
          </a:p>
          <a:p>
            <a:r>
              <a:t>Usvojiti stroge laboratorijske i kliničke standarde pripreme adaptiranog mleka bez odstupanja.</a:t>
            </a:r>
          </a:p>
          <a:p/>
          <a:p>
            <a:r>
              <a:t>📌 KLJUČNE TEZE I SMERNICE ZA PREDAVAČA:</a:t>
            </a:r>
          </a:p>
          <a:p>
            <a:r>
              <a:t>Previsoka temperatura denaturiše proteine, razara dodate probiotske kulture i uništava termolabilne vitamine (poput vitamina C).</a:t>
            </a:r>
          </a:p>
          <a:p/>
          <a:p>
            <a:r>
              <a:t>⚠️ NAJČEŠĆE GREŠKE I ZABLUDE U PRAKSI:</a:t>
            </a:r>
          </a:p>
          <a:p>
            <a:r>
              <a:t>Dodavanje "još malo praha da beba bolje spava", sipanje praha u ključalu vodu (uništava vitamine) i čuvanje nepopijene formule za kasnije.</a:t>
            </a:r>
          </a:p>
          <a:p/>
          <a:p>
            <a:r>
              <a:t>❓ INTERAKTIVNO PITANJE ZA POLAZNICE:</a:t>
            </a:r>
          </a:p>
          <a:p>
            <a:r>
              <a:t>Zašto se adaptirana formula nikada ne sme pripremati sa vrelom ključalom vodom preko 70°C?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21: Vakcinacija odojčeta: Kalendar imunizacije i priprema</a:t>
            </a:r>
          </a:p>
          <a:p>
            <a:r>
              <a:t>Modul: Modul 3: Nega odojčeta | Kategorija: MODUL 3 • TEMA 19</a:t>
            </a:r>
          </a:p>
          <a:p/>
          <a:p>
            <a:r>
              <a:t>🎯 CILJ OVE TEME:</a:t>
            </a:r>
          </a:p>
          <a:p>
            <a:r>
              <a:t>Upoznati polaznice sa zvaničnim kalendarom imunizacije i ulogom negovateljice u pripremi deteta za posetu pedijatru.</a:t>
            </a:r>
          </a:p>
          <a:p/>
          <a:p>
            <a:r>
              <a:t>📌 KLJUČNE TEZE I SMERNICE ZA PREDAVAČA:</a:t>
            </a:r>
          </a:p>
          <a:p>
            <a:r>
              <a:t>Zdravstvena knjižica deteta i karton imunizacije. Dete pre vakcine mora proći auskultatorni pregled pluća, pregled ždrela i merenje telesne temperature.</a:t>
            </a:r>
          </a:p>
          <a:p/>
          <a:p>
            <a:r>
              <a:t>⚠️ NAJČEŠĆE GREŠKE I ZABLUDE U PRAKSI:</a:t>
            </a:r>
          </a:p>
          <a:p>
            <a:r>
              <a:t>Davanje preventivnih sirupa za snižavanje temperature pre odlaska na vakcinaciju (smanjuje imuni odgovor organizma).</a:t>
            </a:r>
          </a:p>
          <a:p/>
          <a:p>
            <a:r>
              <a:t>❓ INTERAKTIVNO PITANJE ZA POLAZNICE:</a:t>
            </a:r>
          </a:p>
          <a:p>
            <a:r>
              <a:t>Koja medicinska dokumentacija je obavezna prilikom svakog odlaska na vakcinaciju?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22: Šetnja i boravak na svežem vazduhu</a:t>
            </a:r>
          </a:p>
          <a:p>
            <a:r>
              <a:t>Modul: Modul 3: Nega odojčeta | Kategorija: MODUL 3 • TEMA 20</a:t>
            </a:r>
          </a:p>
          <a:p/>
          <a:p>
            <a:r>
              <a:t>🎯 CILJ OVE TEME:</a:t>
            </a:r>
          </a:p>
          <a:p>
            <a:r>
              <a:t>Usvojiti bezbednosne preporuke za šetnju i eliminisati uobičajeni strah od izvođenja novorođenčeta.</a:t>
            </a:r>
          </a:p>
          <a:p/>
          <a:p>
            <a:r>
              <a:t>📌 KLJUČNE TEZE I SMERNICE ZA PREDAVAČA:</a:t>
            </a:r>
          </a:p>
          <a:p>
            <a:r>
              <a:t>Pelena zaustavlja cirkulaciju vazduha, a temperatura unutar kolica raste za 10-15°C za samo 20 minuta, stvarajući opasnost od toplotnog udara.</a:t>
            </a:r>
          </a:p>
          <a:p/>
          <a:p>
            <a:r>
              <a:t>⚠️ NAJČEŠĆE GREŠKE I ZABLUDE U PRAKSI:</a:t>
            </a:r>
          </a:p>
          <a:p>
            <a:r>
              <a:t>Prekrivanje otvora kolica pelenom tokom leta (stvara efekat staklene bašte sa temperaturama preko 40°C unutar kolica) i pretopljavanje deteta.</a:t>
            </a:r>
          </a:p>
          <a:p/>
          <a:p>
            <a:r>
              <a:t>❓ INTERAKTIVNO PITANJE ZA POLAZNICE:</a:t>
            </a:r>
          </a:p>
          <a:p>
            <a:r>
              <a:t>Zašto je opasno prekriti bebi kolica pamučnom pelenom tokom letnjih meseci?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23: Uvođenje čvrste hrane (Nemlečna dohrana)</a:t>
            </a:r>
          </a:p>
          <a:p>
            <a:r>
              <a:t>Modul: Modul 3: Nega odojčeta | Kategorija: MODUL 3 • TEMA 21</a:t>
            </a:r>
          </a:p>
          <a:p/>
          <a:p>
            <a:r>
              <a:t>🎯 CILJ OVE TEME:</a:t>
            </a:r>
          </a:p>
          <a:p>
            <a:r>
              <a:t>Usvojiti pedijatrijski protokol uvođenja dohrane i bezbednosna pravila prevencije alergija i gušenja.</a:t>
            </a:r>
          </a:p>
          <a:p/>
          <a:p>
            <a:r>
              <a:t>📌 KLJUČNE TEZE I SMERNICE ZA PREDAVAČA:</a:t>
            </a:r>
          </a:p>
          <a:p>
            <a:r>
              <a:t>Ukoliko se razvije alergijska reakcija (osip, povraćanje, otok), ona se javlja tokom dana kada je lako dostupna pedijatrijska pomoć, a ne tokom noći.</a:t>
            </a:r>
          </a:p>
          <a:p/>
          <a:p>
            <a:r>
              <a:t>⚠️ NAJČEŠĆE GREŠKE I ZABLUDE U PRAKSI:</a:t>
            </a:r>
          </a:p>
          <a:p>
            <a:r>
              <a:t>Uvođenje više namirnica odjednom, soljenje bebi hrane i davanje meda deci mlađoj od 12 meseci.</a:t>
            </a:r>
          </a:p>
          <a:p/>
          <a:p>
            <a:r>
              <a:t>❓ INTERAKTIVNO PITANJE ZA POLAZNICE:</a:t>
            </a:r>
          </a:p>
          <a:p>
            <a:r>
              <a:t>Zašto se nove namirnice uvek uvode u prepodnevnim časovima?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24: Zdrave životne navike i motorni razvoj</a:t>
            </a:r>
          </a:p>
          <a:p>
            <a:r>
              <a:t>Modul: Modul 3: Nega odojčeta | Kategorija: MODUL 3 • TEMA 22</a:t>
            </a:r>
          </a:p>
          <a:p/>
          <a:p>
            <a:r>
              <a:t>🎯 CILJ OVE TEME:</a:t>
            </a:r>
          </a:p>
          <a:p>
            <a:r>
              <a:t>Usvojiti principe stimulacije motornog razvoja i eliminisati štetne faktore iz bebinog okruženja.</a:t>
            </a:r>
          </a:p>
          <a:p/>
          <a:p>
            <a:r>
              <a:t>📌 KLJUČNE TEZE I SMERNICE ZA PREDAVAČA:</a:t>
            </a:r>
          </a:p>
          <a:p>
            <a:r>
              <a:t>Dubak uskraćuje bebi prirodnu fazu puzanja, stavlja opterećenje na nezrele kukove pre vremena i sprečava razvoj refleksa ravnoteže i odbrane rukama pri padu.</a:t>
            </a:r>
          </a:p>
          <a:p/>
          <a:p>
            <a:r>
              <a:t>⚠️ NAJČEŠĆE GREŠKE I ZABLUDE U PRAKSI:</a:t>
            </a:r>
          </a:p>
          <a:p>
            <a:r>
              <a:t>Korišćenje dubaka/hodalica, prekomerno držanje bebe u njihalicama i puštanje crtanih filmova na telefonu bebama.</a:t>
            </a:r>
          </a:p>
          <a:p/>
          <a:p>
            <a:r>
              <a:t>❓ INTERAKTIVNO PITANJE ZA POLAZNICE:</a:t>
            </a:r>
          </a:p>
          <a:p>
            <a:r>
              <a:t>Zašto pedijatri i dečji fizijatri širom sveta jednoglasno zabranjuju upotrebu dubaka za bebe?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25: Denticija (Nicanje zubića) i oralna higijena</a:t>
            </a:r>
          </a:p>
          <a:p>
            <a:r>
              <a:t>Modul: Modul 3: Nega odojčeta | Kategorija: MODUL 3 • TEMA 23</a:t>
            </a:r>
          </a:p>
          <a:p/>
          <a:p>
            <a:r>
              <a:t>🎯 CILJ OVE TEME:</a:t>
            </a:r>
          </a:p>
          <a:p>
            <a:r>
              <a:t>Usvojiti pravilne metode ublažavanja bolova pri denticiji i protokole prevencije ranog karijesa.</a:t>
            </a:r>
          </a:p>
          <a:p/>
          <a:p>
            <a:r>
              <a:t>📌 KLJUČNE TEZE I SMERNICE ZA PREDAVAČA:</a:t>
            </a:r>
          </a:p>
          <a:p>
            <a:r>
              <a:t>Lidokain umrtvljuje ždrelo, što može dovesti do gušenja pljuvačkom i mlekom, a prekomerna apsorpcija nosi rizik od sistemske toksičnosti i aritmija.</a:t>
            </a:r>
          </a:p>
          <a:p/>
          <a:p>
            <a:r>
              <a:t>⚠️ NAJČEŠĆE GREŠKE I ZABLUDE U PRAKSI:</a:t>
            </a:r>
          </a:p>
          <a:p>
            <a:r>
              <a:t>Pripisivanje visoke temperature od 39°C "zubićima", zaleđivanje glodalica u zamrzivaču i ostavljanje flašice bebi u krevetac noću.</a:t>
            </a:r>
          </a:p>
          <a:p/>
          <a:p>
            <a:r>
              <a:t>❓ INTERAKTIVNO PITANJE ZA POLAZNICE:</a:t>
            </a:r>
          </a:p>
          <a:p>
            <a:r>
              <a:t>Zašto se anestetički gelovi sa lidokainom ne preporučuju za ublažavanje tegoba nicanja zuba?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26: Putovanje sa odojčetom: Vožnja i adaptacija</a:t>
            </a:r>
          </a:p>
          <a:p>
            <a:r>
              <a:t>Modul: Modul 3: Nega odojčeta | Kategorija: MODUL 3 • TEMA 24</a:t>
            </a:r>
          </a:p>
          <a:p/>
          <a:p>
            <a:r>
              <a:t>🎯 CILJ OVE TEME:</a:t>
            </a:r>
          </a:p>
          <a:p>
            <a:r>
              <a:t>Naučiti polaznice planiranju putovanja sa odojčetom uz poštovanje najviših bezbednosnih standarda.</a:t>
            </a:r>
          </a:p>
          <a:p/>
          <a:p>
            <a:r>
              <a:t>📌 KLJUČNE TEZE I SMERNICE ZA PREDAVAČA:</a:t>
            </a:r>
          </a:p>
          <a:p>
            <a:r>
              <a:t>Bebina glava čini 25% ukupne mase tela, a vratni mišići i ligamenti su nerazvijeni. Pri frontalnom sudaru, sedište okrenuto unazad raspoređuje silu duž celih leđa i štiti kičmenu moždinu.</a:t>
            </a:r>
          </a:p>
          <a:p/>
          <a:p>
            <a:r>
              <a:t>⚠️ NAJČEŠĆE GREŠKE I ZABLUDE U PRAKSI:</a:t>
            </a:r>
          </a:p>
          <a:p>
            <a:r>
              <a:t>Vađenje bebe iz auto-sedišta tokom vožnje da bi se nahranila (smrtonosan rizik u slučaju kočenja) i preduga vožnja bez pauze.</a:t>
            </a:r>
          </a:p>
          <a:p/>
          <a:p>
            <a:r>
              <a:t>❓ INTERAKTIVNO PITANJE ZA POLAZNICE:</a:t>
            </a:r>
          </a:p>
          <a:p>
            <a:r>
              <a:t>Zašto je položaj u suprotnom smeru od kretanja vozila (rear-facing) višestruko bezbedniji za bebe i malu decu?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27: Grčevi kod beba (Infantilne kolike): Smirivanje i nega</a:t>
            </a:r>
          </a:p>
          <a:p>
            <a:r>
              <a:t>Modul: Modul 4: Nega bolesnog deteta | Kategorija: MODUL 4 • TEMA 25</a:t>
            </a:r>
          </a:p>
          <a:p/>
          <a:p>
            <a:r>
              <a:t>🎯 CILJ OVE TEME:</a:t>
            </a:r>
          </a:p>
          <a:p>
            <a:r>
              <a:t>Naučiti polaznice kako da prepoznaju kolike, primene tehnike umirivanja i pruže psihološki oslonac iscrpljenim roditeljima.</a:t>
            </a:r>
          </a:p>
          <a:p/>
          <a:p>
            <a:r>
              <a:t>📌 KLJUČNE TEZE I SMERNICE ZA PREDAVAČA:</a:t>
            </a:r>
          </a:p>
          <a:p>
            <a:r>
              <a:t>To je anatomski smer peristaltike debelog creva (od cekuma, preko transverzalnog, do descendentnog kolona). Suprotan smer pogoršava zastoj gasova.</a:t>
            </a:r>
          </a:p>
          <a:p/>
          <a:p>
            <a:r>
              <a:t>⚠️ NAJČEŠĆE GREŠKE I ZABLUDE U PRAKSI:</a:t>
            </a:r>
          </a:p>
          <a:p>
            <a:r>
              <a:t>Panika, besomučno menjanje formula na svoju ruku, prekidanje dojenja i davanje neproverenih narodnih čajeva.</a:t>
            </a:r>
          </a:p>
          <a:p/>
          <a:p>
            <a:r>
              <a:t>❓ INTERAKTIVNO PITANJE ZA POLAZNICE:</a:t>
            </a:r>
          </a:p>
          <a:p>
            <a:r>
              <a:t>Zašto se masaža bebinog stomaka kod grčeva sme raditi isključivo u smeru kazaljke na satu?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28: Osip po telu, pelenski osip i promene na koži</a:t>
            </a:r>
          </a:p>
          <a:p>
            <a:r>
              <a:t>Modul: Modul 4: Nega bolesnog deteta | Kategorija: MODUL 4 • TEMA 26</a:t>
            </a:r>
          </a:p>
          <a:p/>
          <a:p>
            <a:r>
              <a:t>🎯 CILJ OVE TEME:</a:t>
            </a:r>
          </a:p>
          <a:p>
            <a:r>
              <a:t>Naučiti polaznice diferencijalnoj dijagnozi dečjih osipa i spasilačkom izvođenju Tumbler testa čašom.</a:t>
            </a:r>
          </a:p>
          <a:p/>
          <a:p>
            <a:r>
              <a:t>📌 KLJUČNE TEZE I SMERNICE ZA PREDAVAČA:</a:t>
            </a:r>
          </a:p>
          <a:p>
            <a:r>
              <a:t>To je znak ekstravazacije eritrocita u dermis (petehije/purpura). U kombinaciji sa febrilnošću, to je apsolutni crveni alarm za meningokokcemiju i sepsu!</a:t>
            </a:r>
          </a:p>
          <a:p/>
          <a:p>
            <a:r>
              <a:t>⚠️ NAJČEŠĆE GREŠKE I ZABLUDE U PRAKSI:</a:t>
            </a:r>
          </a:p>
          <a:p>
            <a:r>
              <a:t>Ignorisanje osipa koji ne bledi na pritisak i lečenje kandidijaze običnim cinkovim pastama umesto antimikoticima.</a:t>
            </a:r>
          </a:p>
          <a:p/>
          <a:p>
            <a:r>
              <a:t>❓ INTERAKTIVNO PITANJE ZA POLAZNICE:</a:t>
            </a:r>
          </a:p>
          <a:p>
            <a:r>
              <a:t>Šta ukazuje pozitivan Tumbler test kada osip ne gubi boju pod pritiskom staklene čaše?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29: Infekcija oka kod odojčadi (Konjunktivitis)</a:t>
            </a:r>
          </a:p>
          <a:p>
            <a:r>
              <a:t>Modul: Modul 4: Nega bolesnog deteta | Kategorija: MODUL 4 • TEMA 27</a:t>
            </a:r>
          </a:p>
          <a:p/>
          <a:p>
            <a:r>
              <a:t>🎯 CILJ OVE TEME:</a:t>
            </a:r>
          </a:p>
          <a:p>
            <a:r>
              <a:t>Usvojiti tehniku aseptične toalete oka i prepoznati razliku između stenoze suznog kanala i akutne infekcije.</a:t>
            </a:r>
          </a:p>
          <a:p/>
          <a:p>
            <a:r>
              <a:t>📌 KLJUČNE TEZE I SMERNICE ZA PREDAVAČA:</a:t>
            </a:r>
          </a:p>
          <a:p>
            <a:r>
              <a:t>Pogrešna upotreba kortikosteroidnih ili neodgovarajućih antibiotskih kapi može zamaskirati infekciju, povisiti intraokularni pritisak i trajno oštetiti vid.</a:t>
            </a:r>
          </a:p>
          <a:p/>
          <a:p>
            <a:r>
              <a:t>⚠️ NAJČEŠĆE GREŠKE I ZABLUDE U PRAKSI:</a:t>
            </a:r>
          </a:p>
          <a:p>
            <a:r>
              <a:t>Ispiranje očiju čajem od kamilice, kapanje majčinog mleka u oko i brisanje oba oka istom gazom.</a:t>
            </a:r>
          </a:p>
          <a:p/>
          <a:p>
            <a:r>
              <a:t>❓ INTERAKTIVNO PITANJE ZA POLAZNICE:</a:t>
            </a:r>
          </a:p>
          <a:p>
            <a:r>
              <a:t>Zašto se kapi za oči nikada ne smeju davati samoinicijativno bez pregleda lekara?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30: Zapušen nos kod odojčeta (Rinitis i toaleta)</a:t>
            </a:r>
          </a:p>
          <a:p>
            <a:r>
              <a:t>Modul: Modul 4: Nega bolesnog deteta | Kategorija: MODUL 4 • TEMA 28</a:t>
            </a:r>
          </a:p>
          <a:p/>
          <a:p>
            <a:r>
              <a:t>🎯 CILJ OVE TEME:</a:t>
            </a:r>
          </a:p>
          <a:p>
            <a:r>
              <a:t>Ovladati bezbednom tehnikom toalete i aspiracije nosa bez povređivanja nežne nazalne sluzokože.</a:t>
            </a:r>
          </a:p>
          <a:p/>
          <a:p>
            <a:r>
              <a:t>📌 KLJUČNE TEZE I SMERNICE ZA PREDAVAČA:</a:t>
            </a:r>
          </a:p>
          <a:p>
            <a:r>
              <a:t>Aspiracija izaziva refleks gađenja i kašalj. Ako je želudac pun mleka, beba će momentalno povratiti, uz visok rizik od aspiracije sadržaja u pluća.</a:t>
            </a:r>
          </a:p>
          <a:p/>
          <a:p>
            <a:r>
              <a:t>⚠️ NAJČEŠĆE GREŠKE I ZABLUDE U PRAKSI:</a:t>
            </a:r>
          </a:p>
          <a:p>
            <a:r>
              <a:t>Aspiracija nosa odmah nakon obroka (izaziva povraćanje u mlazu) i agresivno guranje tvrdih nastavaka u nosić.</a:t>
            </a:r>
          </a:p>
          <a:p/>
          <a:p>
            <a:r>
              <a:t>❓ INTERAKTIVNO PITANJE ZA POLAZNICE:</a:t>
            </a:r>
          </a:p>
          <a:p>
            <a:r>
              <a:t>Zašto se aspiracija nosa mora raditi isključivo pre obroka, a nikada neposredno posle?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31: Vakcinacija: Postvakcinalne reakcije i nega deteta</a:t>
            </a:r>
          </a:p>
          <a:p>
            <a:r>
              <a:t>Modul: Modul 4: Nega bolesnog deteta | Kategorija: MODUL 4 • TEMA 29</a:t>
            </a:r>
          </a:p>
          <a:p/>
          <a:p>
            <a:r>
              <a:t>🎯 CILJ OVE TEME:</a:t>
            </a:r>
          </a:p>
          <a:p>
            <a:r>
              <a:t>Razlikovati normalne postvakcinalne reakcije od retkih ozbiljnih komplikacija i pravilno negovati mesto uboda.</a:t>
            </a:r>
          </a:p>
          <a:p/>
          <a:p>
            <a:r>
              <a:t>📌 KLJUČNE TEZE I SMERNICE ZA PREDAVAČA:</a:t>
            </a:r>
          </a:p>
          <a:p>
            <a:r>
              <a:t>To je specifična lokalna reakcija formiranja celularnog imuniteta protiv tuberkuloze. Svaka intervencija remeti formiranje ožiljka i može izazvati superinfekciju.</a:t>
            </a:r>
          </a:p>
          <a:p/>
          <a:p>
            <a:r>
              <a:t>⚠️ NAJČEŠĆE GREŠKE I ZABLUDE U PRAKSI:</a:t>
            </a:r>
          </a:p>
          <a:p>
            <a:r>
              <a:t>Stavljanje alkoholnih obloga na mesto uboda (peče i oštećuje kožu) i ceđenje gnojnog BCG čvorića na ramenu.</a:t>
            </a:r>
          </a:p>
          <a:p/>
          <a:p>
            <a:r>
              <a:t>❓ INTERAKTIVNO PITANJE ZA POLAZNICE:</a:t>
            </a:r>
          </a:p>
          <a:p>
            <a:r>
              <a:t>Zašto se gnojni čvorić koji nastaje nakon BCG vakcinacije ne sme dirati, istiskivati niti mazati antisepticima?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32: Digestivni poremećaji: Opstipacija i dijareja</a:t>
            </a:r>
          </a:p>
          <a:p>
            <a:r>
              <a:t>Modul: Modul 4: Nega bolesnog deteta | Kategorija: MODUL 4 • TEMA 30</a:t>
            </a:r>
          </a:p>
          <a:p/>
          <a:p>
            <a:r>
              <a:t>🎯 CILJ OVE TEME:</a:t>
            </a:r>
          </a:p>
          <a:p>
            <a:r>
              <a:t>Prepoznati rane znake dehidracije kod odojčeta i pravilno primeniti protokol oralne rehidracije (ORS).</a:t>
            </a:r>
          </a:p>
          <a:p/>
          <a:p>
            <a:r>
              <a:t>📌 KLJUČNE TEZE I SMERNICE ZA PREDAVAČA:</a:t>
            </a:r>
          </a:p>
          <a:p>
            <a:r>
              <a:t>Prolivom se gube ogromne količine natrijuma i kalijuma. Unos same vode bez elektrolita razblažuje krv, izaziva edem mozga i konvulzije.</a:t>
            </a:r>
          </a:p>
          <a:p/>
          <a:p>
            <a:r>
              <a:t>⚠️ NAJČEŠĆE GREŠKE I ZABLUDE U PRAKSI:</a:t>
            </a:r>
          </a:p>
          <a:p>
            <a:r>
              <a:t>Prekidanje dojenja tokom proliva, davanje čistog čaja ili vode umesto elektrolita (vodi u hiponatremiju i konvulzije) i stimulacija anusa toplomerom.</a:t>
            </a:r>
          </a:p>
          <a:p/>
          <a:p>
            <a:r>
              <a:t>❓ INTERAKTIVNO PITANJE ZA POLAZNICE:</a:t>
            </a:r>
          </a:p>
          <a:p>
            <a:r>
              <a:t>Zašto se kod teškog proliva detetu mora davati ORS rastvor sa elektrolitima, a ne obična prokuvana voda?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33: Visoka temperatura: Granične vrednosti i fizikalne mere</a:t>
            </a:r>
          </a:p>
          <a:p>
            <a:r>
              <a:t>Modul: Modul 4: Nega bolesnog deteta | Kategorija: MODUL 4 • TEMA 31</a:t>
            </a:r>
          </a:p>
          <a:p/>
          <a:p>
            <a:r>
              <a:t>🎯 CILJ OVE TEME:</a:t>
            </a:r>
          </a:p>
          <a:p>
            <a:r>
              <a:t>Naučiti polaznice pravilnom obaranju temperature i suzbijanju febrile fobije kod roditelja.</a:t>
            </a:r>
          </a:p>
          <a:p/>
          <a:p>
            <a:r>
              <a:t>📌 KLJUČNE TEZE I SMERNICE ZA PREDAVAČA:</a:t>
            </a:r>
          </a:p>
          <a:p>
            <a:r>
              <a:t>Aspirin (acetilsalicilna kiselina) kod virusnih infekcija izaziva Reyeov sindrom – po život opasno akutno oštećenje jetre i edem mozga sa visokom smrtnošću.</a:t>
            </a:r>
          </a:p>
          <a:p/>
          <a:p>
            <a:r>
              <a:t>⚠️ NAJČEŠĆE GREŠKE I ZABLUDE U PRAKSI:</a:t>
            </a:r>
          </a:p>
          <a:p>
            <a:r>
              <a:t>Utopljavanje febrilnog deteta da se "preznoji", trljanje alkoholom i davanje aspirina.</a:t>
            </a:r>
          </a:p>
          <a:p/>
          <a:p>
            <a:r>
              <a:t>❓ INTERAKTIVNO PITANJE ZA POLAZNICE:</a:t>
            </a:r>
          </a:p>
          <a:p>
            <a:r>
              <a:t>Zašto je aspirin strogo zabranjen za snižavanje temperature kod dece i odojčadi?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34: Povrede i nezgode: Padovi, opekotine i gušenje</a:t>
            </a:r>
          </a:p>
          <a:p>
            <a:r>
              <a:t>Modul: Modul 4: Nega bolesnog deteta | Kategorija: MODUL 4 • TEMA 32</a:t>
            </a:r>
          </a:p>
          <a:p/>
          <a:p>
            <a:r>
              <a:t>🎯 CILJ OVE TEME:</a:t>
            </a:r>
          </a:p>
          <a:p>
            <a:r>
              <a:t>Uvežbati motoričke radnje pružanja prve pomoći kod zadesnih povreda, opekotina i opstrukcije disajnih puteva.</a:t>
            </a:r>
          </a:p>
          <a:p/>
          <a:p>
            <a:r>
              <a:t>📌 KLJUČNE TEZE I SMERNICE ZA PREDAVAČA:</a:t>
            </a:r>
          </a:p>
          <a:p>
            <a:r>
              <a:t>5 udaraca između lopatica preko podlaktice sa glavom nadole, pa 5 pritisaka na grudnu kost sa dva prsta. Ponavljati dok se strano telo ne izbaci ili dete ne prodiše. Pozvati 194.</a:t>
            </a:r>
          </a:p>
          <a:p/>
          <a:p>
            <a:r>
              <a:t>⚠️ NAJČEŠĆE GREŠKE I ZABLUDE U PRAKSI:</a:t>
            </a:r>
          </a:p>
          <a:p>
            <a:r>
              <a:t>Premazivanje opekotina mašću ili uljem i panika sa slepim čačkanjem po bebinom grlu tokom gušenja.</a:t>
            </a:r>
          </a:p>
          <a:p/>
          <a:p>
            <a:r>
              <a:t>❓ INTERAKTIVNO PITANJE ZA POLAZNICE:</a:t>
            </a:r>
          </a:p>
          <a:p>
            <a:r>
              <a:t>Koji je tačan redosled postupaka ako se odojče mlađe od godinu dana guši komadićem hrane ili igračke?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35: Zarazne bolesti dečjeg uzrasta</a:t>
            </a:r>
          </a:p>
          <a:p>
            <a:r>
              <a:t>Modul: Modul 4: Nega bolesnog deteta | Kategorija: MODUL 4 • TEMA 33</a:t>
            </a:r>
          </a:p>
          <a:p/>
          <a:p>
            <a:r>
              <a:t>🎯 CILJ OVE TEME:</a:t>
            </a:r>
          </a:p>
          <a:p>
            <a:r>
              <a:t>Usvojiti kliničke slike najčešćih zaraznih bolesti i zapamtiti kritično pravilo zabrane ibuprofena kod varičele.</a:t>
            </a:r>
          </a:p>
          <a:p/>
          <a:p>
            <a:r>
              <a:t>📌 KLJUČNE TEZE I SMERNICE ZA PREDAVAČA:</a:t>
            </a:r>
          </a:p>
          <a:p>
            <a:r>
              <a:t>Ibuprofen slabi lokalni imuni odgovor kože i pogoduje invaziji streptokoka grupe A u potkožna tkiva, što dovodi do nekrotizirajućeg fasciitisa i sepse. Daje se isključivo paracetamol.</a:t>
            </a:r>
          </a:p>
          <a:p/>
          <a:p>
            <a:r>
              <a:t>⚠️ NAJČEŠĆE GREŠKE I ZABLUDE U PRAKSI:</a:t>
            </a:r>
          </a:p>
          <a:p>
            <a:r>
              <a:t>Davanje ibuprofena detetu sa varičelom i ignorisanje malinastog jezika kod šarlaha.</a:t>
            </a:r>
          </a:p>
          <a:p/>
          <a:p>
            <a:r>
              <a:t>❓ INTERAKTIVNO PITANJE ZA POLAZNICE:</a:t>
            </a:r>
          </a:p>
          <a:p>
            <a:r>
              <a:t>Zašto je ibuprofen strogo kontraindikovan kod dece obolele od varičele (ovčijih boginja)?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36: Ujedi insekata: Protokol vađenja krpelja</a:t>
            </a:r>
          </a:p>
          <a:p>
            <a:r>
              <a:t>Modul: Modul 4: Nega bolesnog deteta | Kategorija: MODUL 4 • TEMA 34</a:t>
            </a:r>
          </a:p>
          <a:p/>
          <a:p>
            <a:r>
              <a:t>🎯 CILJ OVE TEME:</a:t>
            </a:r>
          </a:p>
          <a:p>
            <a:r>
              <a:t>Usvojiti zvanični medicinski protokol vađenja krpelja i prepoznavanje ranih znakova Lajmske bolesti.</a:t>
            </a:r>
          </a:p>
          <a:p/>
          <a:p>
            <a:r>
              <a:t>📌 KLJUČNE TEZE I SMERNICE ZA PREDAVAČA:</a:t>
            </a:r>
          </a:p>
          <a:p>
            <a:r>
              <a:t>Hemikalije izazivaju asfiksiju (gušenje) krpelja, usled čega on u samrtnom ropcu izbacuje sadržaj svojih creva pun spiroheta Borrelia burgdorferi u krv deteta.</a:t>
            </a:r>
          </a:p>
          <a:p/>
          <a:p>
            <a:r>
              <a:t>⚠️ NAJČEŠĆE GREŠKE I ZABLUDE U PRAKSI:</a:t>
            </a:r>
          </a:p>
          <a:p>
            <a:r>
              <a:t>Premazivanje krpelja uljem ili acetonom i stiskanje kesice sa otrovom prstima pri vađenju pčelinje žaoke.</a:t>
            </a:r>
          </a:p>
          <a:p/>
          <a:p>
            <a:r>
              <a:t>❓ INTERAKTIVNO PITANJE ZA POLAZNICE:</a:t>
            </a:r>
          </a:p>
          <a:p>
            <a:r>
              <a:t>Zašto se krpelj ne sme premazivati uljem, alkoholom ili hemijskim sredstvima pre vađenja?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37: Alergije i anafilaktički šok kod dece</a:t>
            </a:r>
          </a:p>
          <a:p>
            <a:r>
              <a:t>Modul: Modul 4: Nega bolesnog deteta | Kategorija: MODUL 4 • TEMA 35</a:t>
            </a:r>
          </a:p>
          <a:p/>
          <a:p>
            <a:r>
              <a:t>🎯 CILJ OVE TEME:</a:t>
            </a:r>
          </a:p>
          <a:p>
            <a:r>
              <a:t>Uvežbati hitno prepoznavanje anafilaksije i praktičnu primenu autoinjektora adrenalina (EpiPen) bez oklevanja.</a:t>
            </a:r>
          </a:p>
          <a:p/>
          <a:p>
            <a:r>
              <a:t>📌 KLJUČNE TEZE I SMERNICE ZA PREDAVAČA:</a:t>
            </a:r>
          </a:p>
          <a:p>
            <a:r>
              <a:t>Isključivo u spoljašnju srednju trećinu butine (musculus vastus lateralis) pod uglom od tačno 90 stepeni. Nikada u gluteus ili venu.</a:t>
            </a:r>
          </a:p>
          <a:p/>
          <a:p>
            <a:r>
              <a:t>⚠️ NAJČEŠĆE GREŠKE I ZABLUDE U PRAKSI:</a:t>
            </a:r>
          </a:p>
          <a:p>
            <a:r>
              <a:t>Čekanje i gubljenje vremena davanjem sirupa antihistaminika dok dete otiče u grlu umesto hitne primene adrenalina i poziva 194.</a:t>
            </a:r>
          </a:p>
          <a:p/>
          <a:p>
            <a:r>
              <a:t>❓ INTERAKTIVNO PITANJE ZA POLAZNICE:</a:t>
            </a:r>
          </a:p>
          <a:p>
            <a:r>
              <a:t>Gde se anatomski aplicira autoinjektor adrenalina (EpiPen) i pod kojim uglom?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38: Zlatni standard putne i kućne apoteke za decu</a:t>
            </a:r>
          </a:p>
          <a:p>
            <a:r>
              <a:t>Modul: Modul 4: Nega bolesnog deteta | Kategorija: MODUL 4 • TEMA 36</a:t>
            </a:r>
          </a:p>
          <a:p/>
          <a:p>
            <a:r>
              <a:t>🎯 CILJ OVE TEME:</a:t>
            </a:r>
          </a:p>
          <a:p>
            <a:r>
              <a:t>Naučiti polaznice strukturisanju, reviziji i kontroli bezbednosti pedijatrijske apoteke u domu i na putu.</a:t>
            </a:r>
          </a:p>
          <a:p/>
          <a:p>
            <a:r>
              <a:t>📌 KLJUČNE TEZE I SMERNICE ZA PREDAVAČA:</a:t>
            </a:r>
          </a:p>
          <a:p>
            <a:r>
              <a:t>Ako dete ima visoku temperaturu praćenu upornim povraćanjem, sirup će odmah izbaciti. Čepić omogućava efikasnu rektalnu apsorpciju leka bez opterećenja želuca.</a:t>
            </a:r>
          </a:p>
          <a:p/>
          <a:p>
            <a:r>
              <a:t>⚠️ NAJČEŠĆE GREŠKE I ZABLUDE U PRAKSI:</a:t>
            </a:r>
          </a:p>
          <a:p>
            <a:r>
              <a:t>Čuvanje lekova u kupatilskom ormariću gde vlaga degradira lekove i davanje sirupa kojima je prošao rok nakon otvaranja.</a:t>
            </a:r>
          </a:p>
          <a:p/>
          <a:p>
            <a:r>
              <a:t>❓ INTERAKTIVNO PITANJE ZA POLAZNICE:</a:t>
            </a:r>
          </a:p>
          <a:p>
            <a:r>
              <a:t>Zašto je u dečjoj apoteci neophodno imati antipiretike i u formi sirupa i u formi čepića?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39: Davanje lekova: Tehnike bezbedne administracije</a:t>
            </a:r>
          </a:p>
          <a:p>
            <a:r>
              <a:t>Modul: Modul 4: Nega bolesnog deteta | Kategorija: MODUL 4 • TEMA 37</a:t>
            </a:r>
          </a:p>
          <a:p/>
          <a:p>
            <a:r>
              <a:t>🎯 CILJ OVE TEME:</a:t>
            </a:r>
          </a:p>
          <a:p>
            <a:r>
              <a:t>Usvojiti protokol bezbednog doziranja i praktične veštine administracije lekova bez stresa i rizika od aspiracije.</a:t>
            </a:r>
          </a:p>
          <a:p/>
          <a:p>
            <a:r>
              <a:t>📌 KLJUČNE TEZE I SMERNICE ZA PREDAVAČA:</a:t>
            </a:r>
          </a:p>
          <a:p>
            <a:r>
              <a:t>Mlaz usmeren direktno u grlo izaziva laringospazam, gušenje i aspiraciju u disajne puteve. Uz obraz dete refleksno guta male količine tečnosti bezbedno.</a:t>
            </a:r>
          </a:p>
          <a:p/>
          <a:p>
            <a:r>
              <a:t>⚠️ NAJČEŠĆE GREŠKE I ZABLUDE U PRAKSI:</a:t>
            </a:r>
          </a:p>
          <a:p>
            <a:r>
              <a:t>Doziranje leka "odokativno" na kašičicu, ubrizgavanje sirupa direktno na koren jezika (izaziva nagon na povraćanje) i primena hladnih kapi u uho.</a:t>
            </a:r>
          </a:p>
          <a:p/>
          <a:p>
            <a:r>
              <a:t>❓ INTERAKTIVNO PITANJE ZA POLAZNICE:</a:t>
            </a:r>
          </a:p>
          <a:p>
            <a:r>
              <a:t>Zašto se oralni špric sa sirupom usmerava uz unutrašnju stranu obraza, a ne direktno u grlo?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40: Dnevnik nege, diskrecija i etički kodeks Royal Nanny</a:t>
            </a:r>
          </a:p>
          <a:p>
            <a:r>
              <a:t>Modul: Završni standardi | Kategorija: PROFESIONALNI STANDARDI</a:t>
            </a:r>
          </a:p>
          <a:p/>
          <a:p>
            <a:r>
              <a:t>🎯 CILJ OVE TEME:</a:t>
            </a:r>
          </a:p>
          <a:p>
            <a:r>
              <a:t>Definisati profesionalni identitet sertifikovane Royal Nanny dadilje, značaj diskrecije i standarde vođenja dokumentacije.</a:t>
            </a:r>
          </a:p>
          <a:p/>
          <a:p>
            <a:r>
              <a:t>📌 KLJUČNE TEZE I SMERNICE ZA PREDAVAČA:</a:t>
            </a:r>
          </a:p>
          <a:p>
            <a:r>
              <a:t>Spoj neprikosnovene medicinske stručnosti u kriznim situacijama, nežne posvećenosti detetu i apsolutne diskrecije o privatnom životu doma.</a:t>
            </a:r>
          </a:p>
          <a:p/>
          <a:p>
            <a:r>
              <a:t>⚠️ NAJČEŠĆE GREŠKE I ZABLUDE U PRAKSI:</a:t>
            </a:r>
          </a:p>
          <a:p>
            <a:r>
              <a:t>Prelaženje granica profesionalne distance, fotografisanje dece klijenata telefonom i neprecizna evidencija o datim lekovima.</a:t>
            </a:r>
          </a:p>
          <a:p/>
          <a:p>
            <a:r>
              <a:t>❓ INTERAKTIVNO PITANJE ZA POLAZNICE:</a:t>
            </a:r>
          </a:p>
          <a:p>
            <a:r>
              <a:t>Šta čini temelj poverenja između porodice visoke platežne moći i sertifikovane Royal Nanny negovateljice?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.xml"/><Relationship Id="rId5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Relationship Id="rId5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Relationship Id="rId5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6.xml"/><Relationship Id="rId5" Type="http://schemas.openxmlformats.org/officeDocument/2006/relationships/image" Target="../media/image9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7.xml"/><Relationship Id="rId5" Type="http://schemas.openxmlformats.org/officeDocument/2006/relationships/image" Target="../media/image10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734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CDBBA0"/>
                </a:solidFill>
                <a:latin typeface="Poppins"/>
              </a:defRPr>
            </a:pPr>
            <a:r>
              <a:t>ROYAL NANNY AKADEMIJA • UVOD</a:t>
            </a:r>
          </a:p>
        </p:txBody>
      </p:sp>
      <p:pic>
        <p:nvPicPr>
          <p:cNvPr id="4" name="Picture 3" descr="logo_horizontal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CDBBA0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CDBBA0"/>
                </a:solidFill>
                <a:latin typeface="Poppins"/>
              </a:defRPr>
            </a:pPr>
            <a:r>
              <a:t>ROYAL NANNY AKADEMIJA • STANDARDI NEGE   |   01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900" b="1">
                <a:solidFill>
                  <a:srgbClr val="F0E9D7"/>
                </a:solidFill>
                <a:latin typeface="Libre Baskerville"/>
              </a:defRPr>
            </a:pPr>
            <a:r>
              <a:t>Standardi profesionalne nege i razvoja deteta</a:t>
            </a:r>
          </a:p>
          <a:p>
            <a:pPr>
              <a:spcBef>
                <a:spcPts val="300"/>
              </a:spcBef>
              <a:defRPr sz="1350">
                <a:solidFill>
                  <a:srgbClr val="CDBBA0"/>
                </a:solidFill>
                <a:latin typeface="Poppins"/>
              </a:defRPr>
            </a:pPr>
            <a:r>
              <a:t>Edukativni program za predavače • Saradnik: Spec. strukovna med-sestra Jelena Aleksić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691640"/>
            <a:ext cx="4297680" cy="4572000"/>
          </a:xfrm>
          <a:prstGeom prst="roundRect">
            <a:avLst/>
          </a:prstGeom>
          <a:solidFill>
            <a:srgbClr val="3A2B26"/>
          </a:solidFill>
          <a:ln w="19050">
            <a:solidFill>
              <a:srgbClr val="CD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1_nanny_bab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828800"/>
            <a:ext cx="4023360" cy="42976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1691640"/>
            <a:ext cx="6126480" cy="2560320"/>
          </a:xfrm>
          <a:prstGeom prst="roundRect">
            <a:avLst/>
          </a:prstGeom>
          <a:solidFill>
            <a:srgbClr val="3A2B26"/>
          </a:solidFill>
          <a:ln w="12700">
            <a:solidFill>
              <a:srgbClr val="CD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228600"/>
          <a:lstStyle/>
          <a:p>
            <a:pPr algn="ctr">
              <a:defRPr sz="2200" b="1">
                <a:solidFill>
                  <a:srgbClr val="CDBBA0"/>
                </a:solidFill>
                <a:latin typeface="Libre Baskerville"/>
              </a:defRPr>
            </a:pPr>
            <a:r>
              <a:t>Ekskluzivna obuka za elitne dadilje</a:t>
            </a:r>
          </a:p>
          <a:p>
            <a:pPr>
              <a:spcBef>
                <a:spcPts val="800"/>
              </a:spcBef>
              <a:defRPr sz="1450">
                <a:solidFill>
                  <a:srgbClr val="F0E9D7"/>
                </a:solidFill>
                <a:latin typeface="Poppins"/>
              </a:defRPr>
            </a:pPr>
            <a:r>
              <a:t>Kroz 40 strukturisanih pedijatrijskih predavanja, edukacija obezbeđuje beskompromisni kvalitet, medicinsku bezbednost i najviši nivo diskrecije.</a:t>
            </a:r>
          </a:p>
          <a:p>
            <a:pPr>
              <a:spcBef>
                <a:spcPts val="600"/>
              </a:spcBef>
            </a:pPr>
            <a:r>
              <a:rPr sz="1250" b="1">
                <a:solidFill>
                  <a:srgbClr val="D1AE66"/>
                </a:solidFill>
                <a:latin typeface="Poppins"/>
              </a:rPr>
              <a:t>• </a:t>
            </a:r>
            <a:r>
              <a:rPr sz="1250" b="1">
                <a:solidFill>
                  <a:srgbClr val="D1AE66"/>
                </a:solidFill>
                <a:latin typeface="Poppins"/>
              </a:rPr>
              <a:t>4 sveobuhvatna modula:</a:t>
            </a:r>
            <a:r>
              <a:rPr sz="1250" b="0">
                <a:solidFill>
                  <a:srgbClr val="F0E9D7"/>
                </a:solidFill>
                <a:latin typeface="Poppins"/>
              </a:rPr>
              <a:t> Higijena i nega novorođenčeta, dojenje i ishrana, nega odojčeta i </a:t>
            </a:r>
            <a:r>
              <a:rPr sz="1250" b="1">
                <a:solidFill>
                  <a:srgbClr val="FFFFFF"/>
                </a:solidFill>
                <a:latin typeface="Poppins"/>
              </a:rPr>
              <a:t>pedijatrijska hitna stanja</a:t>
            </a:r>
            <a:r>
              <a:rPr sz="1250" b="0">
                <a:solidFill>
                  <a:srgbClr val="F0E9D7"/>
                </a:solidFill>
                <a:latin typeface="Poppins"/>
              </a:rPr>
              <a:t>.</a:t>
            </a:r>
          </a:p>
          <a:p>
            <a:pPr>
              <a:spcBef>
                <a:spcPts val="600"/>
              </a:spcBef>
            </a:pPr>
            <a:r>
              <a:rPr sz="1250" b="1">
                <a:solidFill>
                  <a:srgbClr val="D1AE66"/>
                </a:solidFill>
                <a:latin typeface="Poppins"/>
              </a:rPr>
              <a:t>• </a:t>
            </a:r>
            <a:r>
              <a:rPr sz="1250" b="1">
                <a:solidFill>
                  <a:srgbClr val="D1AE66"/>
                </a:solidFill>
                <a:latin typeface="Poppins"/>
              </a:rPr>
              <a:t>Medicinski utemeljeni protokoli:</a:t>
            </a:r>
            <a:r>
              <a:rPr sz="1250" b="0">
                <a:solidFill>
                  <a:srgbClr val="F0E9D7"/>
                </a:solidFill>
                <a:latin typeface="Poppins"/>
              </a:rPr>
              <a:t> Zlatni standardi pedijatrijske nege po smernicama </a:t>
            </a:r>
            <a:r>
              <a:rPr sz="1250" b="1">
                <a:solidFill>
                  <a:srgbClr val="FFFFFF"/>
                </a:solidFill>
                <a:latin typeface="Poppins"/>
              </a:rPr>
              <a:t>SZO, UNICEF-a i Instituta za neonatologiju</a:t>
            </a:r>
            <a:r>
              <a:rPr sz="1250" b="0">
                <a:solidFill>
                  <a:srgbClr val="F0E9D7"/>
                </a:solidFill>
                <a:latin typeface="Poppins"/>
              </a:rPr>
              <a:t>.</a:t>
            </a:r>
          </a:p>
          <a:p>
            <a:pPr>
              <a:spcBef>
                <a:spcPts val="600"/>
              </a:spcBef>
            </a:pPr>
            <a:r>
              <a:rPr sz="1250" b="1">
                <a:solidFill>
                  <a:srgbClr val="D1AE66"/>
                </a:solidFill>
                <a:latin typeface="Poppins"/>
              </a:rPr>
              <a:t>• </a:t>
            </a:r>
            <a:r>
              <a:rPr sz="1250" b="1">
                <a:solidFill>
                  <a:srgbClr val="D1AE66"/>
                </a:solidFill>
                <a:latin typeface="Poppins"/>
              </a:rPr>
              <a:t>Vrhunski bonton &amp; diskrecija:</a:t>
            </a:r>
            <a:r>
              <a:rPr sz="1250" b="0">
                <a:solidFill>
                  <a:srgbClr val="F0E9D7"/>
                </a:solidFill>
                <a:latin typeface="Poppins"/>
              </a:rPr>
              <a:t> Diplomatska komunikacija, etika, </a:t>
            </a:r>
            <a:r>
              <a:rPr sz="1250" b="1">
                <a:solidFill>
                  <a:srgbClr val="FFFFFF"/>
                </a:solidFill>
                <a:latin typeface="Poppins"/>
              </a:rPr>
              <a:t>ugovor o tajnosti (NDA)</a:t>
            </a:r>
            <a:r>
              <a:rPr sz="1250" b="0">
                <a:solidFill>
                  <a:srgbClr val="F0E9D7"/>
                </a:solidFill>
                <a:latin typeface="Poppins"/>
              </a:rPr>
              <a:t> i besprekorna higijena.</a:t>
            </a:r>
          </a:p>
          <a:p>
            <a:pPr>
              <a:spcBef>
                <a:spcPts val="600"/>
              </a:spcBef>
            </a:pPr>
            <a:r>
              <a:rPr sz="1250" b="1">
                <a:solidFill>
                  <a:srgbClr val="D1AE66"/>
                </a:solidFill>
                <a:latin typeface="Poppins"/>
              </a:rPr>
              <a:t>• </a:t>
            </a:r>
            <a:r>
              <a:rPr sz="1250" b="1">
                <a:solidFill>
                  <a:srgbClr val="D1AE66"/>
                </a:solidFill>
                <a:latin typeface="Poppins"/>
              </a:rPr>
              <a:t>Praktična demonstracija:</a:t>
            </a:r>
            <a:r>
              <a:rPr sz="1250" b="0">
                <a:solidFill>
                  <a:srgbClr val="F0E9D7"/>
                </a:solidFill>
                <a:latin typeface="Poppins"/>
              </a:rPr>
              <a:t> Usvajanje veština kroz </a:t>
            </a:r>
            <a:r>
              <a:rPr sz="1250" b="1">
                <a:solidFill>
                  <a:srgbClr val="FFFFFF"/>
                </a:solidFill>
                <a:latin typeface="Poppins"/>
              </a:rPr>
              <a:t>realne kliničke simulacije</a:t>
            </a:r>
            <a:r>
              <a:rPr sz="1250" b="0">
                <a:solidFill>
                  <a:srgbClr val="F0E9D7"/>
                </a:solidFill>
                <a:latin typeface="Poppins"/>
              </a:rPr>
              <a:t> i hands-on rad sa medicinskim lutkama.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691640"/>
            <a:ext cx="73152" cy="2560320"/>
          </a:xfrm>
          <a:prstGeom prst="rect">
            <a:avLst/>
          </a:prstGeom>
          <a:solidFill>
            <a:srgbClr val="D1A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4434840"/>
            <a:ext cx="1920240" cy="1828800"/>
          </a:xfrm>
          <a:prstGeom prst="roundRect">
            <a:avLst/>
          </a:prstGeom>
          <a:solidFill>
            <a:srgbClr val="3A2B26"/>
          </a:solidFill>
          <a:ln w="12700">
            <a:solidFill>
              <a:srgbClr val="CD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defRPr sz="3200" b="1">
                <a:solidFill>
                  <a:srgbClr val="D1AE66"/>
                </a:solidFill>
                <a:latin typeface="Libre Baskerville"/>
              </a:defRPr>
            </a:pPr>
            <a:r>
              <a:t>4</a:t>
            </a:r>
          </a:p>
          <a:p>
            <a:pPr>
              <a:spcBef>
                <a:spcPts val="600"/>
              </a:spcBef>
              <a:defRPr sz="1200">
                <a:solidFill>
                  <a:srgbClr val="F0E9D7"/>
                </a:solidFill>
                <a:latin typeface="Poppins"/>
              </a:defRPr>
            </a:pPr>
            <a:r>
              <a:t>Stručna modula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434840"/>
            <a:ext cx="64008" cy="1828800"/>
          </a:xfrm>
          <a:prstGeom prst="rect">
            <a:avLst/>
          </a:prstGeom>
          <a:solidFill>
            <a:srgbClr val="D1A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88920" y="4434840"/>
            <a:ext cx="1920240" cy="1828800"/>
          </a:xfrm>
          <a:prstGeom prst="roundRect">
            <a:avLst/>
          </a:prstGeom>
          <a:solidFill>
            <a:srgbClr val="3A2B26"/>
          </a:solidFill>
          <a:ln w="12700">
            <a:solidFill>
              <a:srgbClr val="CD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defRPr sz="3200" b="1">
                <a:solidFill>
                  <a:srgbClr val="D1AE66"/>
                </a:solidFill>
                <a:latin typeface="Libre Baskerville"/>
              </a:defRPr>
            </a:pPr>
            <a:r>
              <a:t>37</a:t>
            </a:r>
          </a:p>
          <a:p>
            <a:pPr>
              <a:spcBef>
                <a:spcPts val="600"/>
              </a:spcBef>
              <a:defRPr sz="1200">
                <a:solidFill>
                  <a:srgbClr val="F0E9D7"/>
                </a:solidFill>
                <a:latin typeface="Poppins"/>
              </a:defRPr>
            </a:pPr>
            <a:r>
              <a:t>Zasebnih tema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4434840"/>
            <a:ext cx="64008" cy="1828800"/>
          </a:xfrm>
          <a:prstGeom prst="rect">
            <a:avLst/>
          </a:prstGeom>
          <a:solidFill>
            <a:srgbClr val="D1A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46320" y="4434840"/>
            <a:ext cx="1920240" cy="1828800"/>
          </a:xfrm>
          <a:prstGeom prst="roundRect">
            <a:avLst/>
          </a:prstGeom>
          <a:solidFill>
            <a:srgbClr val="3A2B26"/>
          </a:solidFill>
          <a:ln w="12700">
            <a:solidFill>
              <a:srgbClr val="CD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defRPr sz="3200" b="1">
                <a:solidFill>
                  <a:srgbClr val="D1AE66"/>
                </a:solidFill>
                <a:latin typeface="Libre Baskerville"/>
              </a:defRPr>
            </a:pPr>
            <a:r>
              <a:t>100%</a:t>
            </a:r>
          </a:p>
          <a:p>
            <a:pPr>
              <a:spcBef>
                <a:spcPts val="600"/>
              </a:spcBef>
              <a:defRPr sz="1200">
                <a:solidFill>
                  <a:srgbClr val="F0E9D7"/>
                </a:solidFill>
                <a:latin typeface="Poppins"/>
              </a:defRPr>
            </a:pPr>
            <a:r>
              <a:t>Zlatni standard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4434840"/>
            <a:ext cx="64008" cy="1828800"/>
          </a:xfrm>
          <a:prstGeom prst="rect">
            <a:avLst/>
          </a:prstGeom>
          <a:solidFill>
            <a:srgbClr val="D1A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765535"/>
                </a:solidFill>
                <a:latin typeface="Poppins"/>
              </a:defRPr>
            </a:pPr>
            <a:r>
              <a:t>PREGLED PROGRAMA • UVOD</a:t>
            </a:r>
          </a:p>
        </p:txBody>
      </p:sp>
      <p:pic>
        <p:nvPicPr>
          <p:cNvPr id="4" name="Picture 3" descr="logo_horizonta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765535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9614F"/>
                </a:solidFill>
                <a:latin typeface="Poppins"/>
              </a:defRPr>
            </a:pPr>
            <a:r>
              <a:t>ROYAL NANNY AKADEMIJA • STANDARDI NEGE   |   02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900" b="1">
                <a:solidFill>
                  <a:srgbClr val="47342E"/>
                </a:solidFill>
                <a:latin typeface="Libre Baskerville"/>
              </a:defRPr>
            </a:pPr>
            <a:r>
              <a:t>Struktura edukativnog programa i kurikuluma</a:t>
            </a:r>
          </a:p>
          <a:p>
            <a:pPr>
              <a:spcBef>
                <a:spcPts val="300"/>
              </a:spcBef>
              <a:defRPr sz="1350">
                <a:solidFill>
                  <a:srgbClr val="69614F"/>
                </a:solidFill>
                <a:latin typeface="Poppins"/>
              </a:defRPr>
            </a:pPr>
            <a:r>
              <a:t>4 stručna modula • 37 pedijatrijskih i kliničkih tema • Praktična obuka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256032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46304" bIns="128016"/>
          <a:lstStyle/>
          <a:p>
            <a:pPr algn="ctr">
              <a:defRPr sz="950" b="1">
                <a:solidFill>
                  <a:srgbClr val="765535"/>
                </a:solidFill>
                <a:latin typeface="Poppins"/>
              </a:defRPr>
            </a:pPr>
            <a:r>
              <a:t>MODUL 1  •  8 TEMA</a:t>
            </a:r>
          </a:p>
          <a:p>
            <a:pPr>
              <a:spcBef>
                <a:spcPts val="400"/>
              </a:spcBef>
              <a:defRPr sz="1300" b="1">
                <a:solidFill>
                  <a:srgbClr val="47342E"/>
                </a:solidFill>
                <a:latin typeface="Libre Baskerville"/>
              </a:defRPr>
            </a:pPr>
            <a:r>
              <a:t>Higijena i nega novorođenčeta</a:t>
            </a:r>
          </a:p>
          <a:p>
            <a:pPr>
              <a:spcBef>
                <a:spcPts val="250"/>
              </a:spcBef>
              <a:defRPr sz="919">
                <a:solidFill>
                  <a:srgbClr val="47342E"/>
                </a:solidFill>
                <a:latin typeface="Poppins"/>
              </a:defRPr>
            </a:pPr>
            <a:r>
              <a:t>• Priprema sobe i mikroklima</a:t>
            </a:r>
          </a:p>
          <a:p>
            <a:pPr>
              <a:spcBef>
                <a:spcPts val="250"/>
              </a:spcBef>
              <a:defRPr sz="919">
                <a:solidFill>
                  <a:srgbClr val="47342E"/>
                </a:solidFill>
                <a:latin typeface="Poppins"/>
              </a:defRPr>
            </a:pPr>
            <a:r>
              <a:t>• Kupanje bebe i nega kože</a:t>
            </a:r>
          </a:p>
          <a:p>
            <a:pPr>
              <a:spcBef>
                <a:spcPts val="250"/>
              </a:spcBef>
              <a:defRPr sz="919">
                <a:solidFill>
                  <a:srgbClr val="47342E"/>
                </a:solidFill>
                <a:latin typeface="Poppins"/>
              </a:defRPr>
            </a:pPr>
            <a:r>
              <a:t>• Nega pupčanika i pupčane rane</a:t>
            </a:r>
          </a:p>
          <a:p>
            <a:pPr>
              <a:spcBef>
                <a:spcPts val="250"/>
              </a:spcBef>
              <a:defRPr sz="919">
                <a:solidFill>
                  <a:srgbClr val="47342E"/>
                </a:solidFill>
                <a:latin typeface="Poppins"/>
              </a:defRPr>
            </a:pPr>
            <a:r>
              <a:t>• Nega čula (oči, uši, nos, nokti)</a:t>
            </a:r>
          </a:p>
          <a:p>
            <a:pPr>
              <a:spcBef>
                <a:spcPts val="250"/>
              </a:spcBef>
              <a:defRPr sz="919">
                <a:solidFill>
                  <a:srgbClr val="47342E"/>
                </a:solidFill>
                <a:latin typeface="Poppins"/>
              </a:defRPr>
            </a:pPr>
            <a:r>
              <a:t>• Oblačenje i prevencija pretopljavanja</a:t>
            </a:r>
          </a:p>
          <a:p>
            <a:pPr>
              <a:spcBef>
                <a:spcPts val="250"/>
              </a:spcBef>
              <a:defRPr sz="919">
                <a:solidFill>
                  <a:srgbClr val="47342E"/>
                </a:solidFill>
                <a:latin typeface="Poppins"/>
              </a:defRPr>
            </a:pPr>
            <a:r>
              <a:t>• Položaji pri hranjenju, nošenju i snu</a:t>
            </a:r>
          </a:p>
          <a:p>
            <a:pPr>
              <a:spcBef>
                <a:spcPts val="250"/>
              </a:spcBef>
              <a:defRPr sz="919">
                <a:solidFill>
                  <a:srgbClr val="47342E"/>
                </a:solidFill>
                <a:latin typeface="Poppins"/>
              </a:defRPr>
            </a:pPr>
            <a:r>
              <a:t>• Higijena bebine garderobe i opreme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2560320" cy="7315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1691640"/>
            <a:ext cx="256032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46304" bIns="128016"/>
          <a:lstStyle/>
          <a:p>
            <a:pPr algn="ctr">
              <a:defRPr sz="950" b="1">
                <a:solidFill>
                  <a:srgbClr val="8B906D"/>
                </a:solidFill>
                <a:latin typeface="Poppins"/>
              </a:defRPr>
            </a:pPr>
            <a:r>
              <a:t>MODUL 2  •  10 TEMA</a:t>
            </a:r>
          </a:p>
          <a:p>
            <a:pPr>
              <a:spcBef>
                <a:spcPts val="400"/>
              </a:spcBef>
              <a:defRPr sz="1300" b="1">
                <a:solidFill>
                  <a:srgbClr val="47342E"/>
                </a:solidFill>
                <a:latin typeface="Libre Baskerville"/>
              </a:defRPr>
            </a:pPr>
            <a:r>
              <a:t>Dojenje i ishrana novorođenčeta</a:t>
            </a:r>
          </a:p>
          <a:p>
            <a:pPr>
              <a:spcBef>
                <a:spcPts val="250"/>
              </a:spcBef>
              <a:defRPr sz="919">
                <a:solidFill>
                  <a:srgbClr val="47342E"/>
                </a:solidFill>
                <a:latin typeface="Poppins"/>
              </a:defRPr>
            </a:pPr>
            <a:r>
              <a:t>• Prednosti dojenja i biološki značaj</a:t>
            </a:r>
          </a:p>
          <a:p>
            <a:pPr>
              <a:spcBef>
                <a:spcPts val="250"/>
              </a:spcBef>
              <a:defRPr sz="919">
                <a:solidFill>
                  <a:srgbClr val="47342E"/>
                </a:solidFill>
                <a:latin typeface="Poppins"/>
              </a:defRPr>
            </a:pPr>
            <a:r>
              <a:t>• Higijena dojki i nega lanolinom</a:t>
            </a:r>
          </a:p>
          <a:p>
            <a:pPr>
              <a:spcBef>
                <a:spcPts val="250"/>
              </a:spcBef>
              <a:defRPr sz="919">
                <a:solidFill>
                  <a:srgbClr val="47342E"/>
                </a:solidFill>
                <a:latin typeface="Poppins"/>
              </a:defRPr>
            </a:pPr>
            <a:r>
              <a:t>• Priprema dojki i let-down refleks</a:t>
            </a:r>
          </a:p>
          <a:p>
            <a:pPr>
              <a:spcBef>
                <a:spcPts val="250"/>
              </a:spcBef>
              <a:defRPr sz="919">
                <a:solidFill>
                  <a:srgbClr val="47342E"/>
                </a:solidFill>
                <a:latin typeface="Poppins"/>
              </a:defRPr>
            </a:pPr>
            <a:r>
              <a:t>• Položaji pri dojenju i ergonomija</a:t>
            </a:r>
          </a:p>
          <a:p>
            <a:pPr>
              <a:spcBef>
                <a:spcPts val="250"/>
              </a:spcBef>
              <a:defRPr sz="919">
                <a:solidFill>
                  <a:srgbClr val="47342E"/>
                </a:solidFill>
                <a:latin typeface="Poppins"/>
              </a:defRPr>
            </a:pPr>
            <a:r>
              <a:t>• Asimetrični hvat bradavice</a:t>
            </a:r>
          </a:p>
          <a:p>
            <a:pPr>
              <a:spcBef>
                <a:spcPts val="250"/>
              </a:spcBef>
              <a:defRPr sz="919">
                <a:solidFill>
                  <a:srgbClr val="47342E"/>
                </a:solidFill>
                <a:latin typeface="Poppins"/>
              </a:defRPr>
            </a:pPr>
            <a:r>
              <a:t>• Ispucale bradavice (ragade)</a:t>
            </a:r>
          </a:p>
          <a:p>
            <a:pPr>
              <a:spcBef>
                <a:spcPts val="250"/>
              </a:spcBef>
              <a:defRPr sz="919">
                <a:solidFill>
                  <a:srgbClr val="47342E"/>
                </a:solidFill>
                <a:latin typeface="Poppins"/>
              </a:defRPr>
            </a:pPr>
            <a:r>
              <a:t>• Prepunjenost dojki i mastitis</a:t>
            </a:r>
          </a:p>
          <a:p>
            <a:pPr>
              <a:spcBef>
                <a:spcPts val="250"/>
              </a:spcBef>
              <a:defRPr sz="919">
                <a:solidFill>
                  <a:srgbClr val="47342E"/>
                </a:solidFill>
                <a:latin typeface="Poppins"/>
              </a:defRPr>
            </a:pPr>
            <a:r>
              <a:t>• Tehnike izmazanja majčinog mleka</a:t>
            </a:r>
          </a:p>
          <a:p>
            <a:pPr>
              <a:spcBef>
                <a:spcPts val="250"/>
              </a:spcBef>
              <a:defRPr sz="919">
                <a:solidFill>
                  <a:srgbClr val="47342E"/>
                </a:solidFill>
                <a:latin typeface="Poppins"/>
              </a:defRPr>
            </a:pPr>
            <a:r>
              <a:t>• Čuvanje i odmrzavanje mleka</a:t>
            </a:r>
          </a:p>
          <a:p>
            <a:pPr>
              <a:spcBef>
                <a:spcPts val="250"/>
              </a:spcBef>
              <a:defRPr sz="919">
                <a:solidFill>
                  <a:srgbClr val="47342E"/>
                </a:solidFill>
                <a:latin typeface="Poppins"/>
              </a:defRPr>
            </a:pPr>
            <a:r>
              <a:t>• Priprema adaptirane formule (70°C)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691640"/>
            <a:ext cx="2560320" cy="73152"/>
          </a:xfrm>
          <a:prstGeom prst="rect">
            <a:avLst/>
          </a:prstGeom>
          <a:solidFill>
            <a:srgbClr val="8B9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0" y="1691640"/>
            <a:ext cx="256032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46304" bIns="128016"/>
          <a:lstStyle/>
          <a:p>
            <a:pPr algn="ctr">
              <a:defRPr sz="950" b="1">
                <a:solidFill>
                  <a:srgbClr val="47342E"/>
                </a:solidFill>
                <a:latin typeface="Poppins"/>
              </a:defRPr>
            </a:pPr>
            <a:r>
              <a:t>MODUL 3  •  6 TEMA</a:t>
            </a:r>
          </a:p>
          <a:p>
            <a:pPr>
              <a:spcBef>
                <a:spcPts val="400"/>
              </a:spcBef>
              <a:defRPr sz="1300" b="1">
                <a:solidFill>
                  <a:srgbClr val="47342E"/>
                </a:solidFill>
                <a:latin typeface="Libre Baskerville"/>
              </a:defRPr>
            </a:pPr>
            <a:r>
              <a:t>Nega i razvoj odojčeta</a:t>
            </a:r>
          </a:p>
          <a:p>
            <a:pPr>
              <a:spcBef>
                <a:spcPts val="250"/>
              </a:spcBef>
              <a:defRPr sz="919">
                <a:solidFill>
                  <a:srgbClr val="47342E"/>
                </a:solidFill>
                <a:latin typeface="Poppins"/>
              </a:defRPr>
            </a:pPr>
            <a:r>
              <a:t>• Kalendar obavezne imunizacije</a:t>
            </a:r>
          </a:p>
          <a:p>
            <a:pPr>
              <a:spcBef>
                <a:spcPts val="250"/>
              </a:spcBef>
              <a:defRPr sz="919">
                <a:solidFill>
                  <a:srgbClr val="47342E"/>
                </a:solidFill>
                <a:latin typeface="Poppins"/>
              </a:defRPr>
            </a:pPr>
            <a:r>
              <a:t>• Šetnja i boravak na svežem vazduhu</a:t>
            </a:r>
          </a:p>
          <a:p>
            <a:pPr>
              <a:spcBef>
                <a:spcPts val="250"/>
              </a:spcBef>
              <a:defRPr sz="919">
                <a:solidFill>
                  <a:srgbClr val="47342E"/>
                </a:solidFill>
                <a:latin typeface="Poppins"/>
              </a:defRPr>
            </a:pPr>
            <a:r>
              <a:t>• Uvođenje čvrste hrane (pravilo 3 dana)</a:t>
            </a:r>
          </a:p>
          <a:p>
            <a:pPr>
              <a:spcBef>
                <a:spcPts val="250"/>
              </a:spcBef>
              <a:defRPr sz="919">
                <a:solidFill>
                  <a:srgbClr val="47342E"/>
                </a:solidFill>
                <a:latin typeface="Poppins"/>
              </a:defRPr>
            </a:pPr>
            <a:r>
              <a:t>• Zdrave navike i motorni razvoj</a:t>
            </a:r>
          </a:p>
          <a:p>
            <a:pPr>
              <a:spcBef>
                <a:spcPts val="250"/>
              </a:spcBef>
              <a:defRPr sz="919">
                <a:solidFill>
                  <a:srgbClr val="47342E"/>
                </a:solidFill>
                <a:latin typeface="Poppins"/>
              </a:defRPr>
            </a:pPr>
            <a:r>
              <a:t>• Nicanje zubića i oralna toaleta</a:t>
            </a:r>
          </a:p>
          <a:p>
            <a:pPr>
              <a:spcBef>
                <a:spcPts val="250"/>
              </a:spcBef>
              <a:defRPr sz="919">
                <a:solidFill>
                  <a:srgbClr val="47342E"/>
                </a:solidFill>
                <a:latin typeface="Poppins"/>
              </a:defRPr>
            </a:pPr>
            <a:r>
              <a:t>• Putovanje i bezbednost u vožnji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691640"/>
            <a:ext cx="2560320" cy="73152"/>
          </a:xfrm>
          <a:prstGeom prst="rect">
            <a:avLst/>
          </a:prstGeom>
          <a:solidFill>
            <a:srgbClr val="47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23960" y="1691640"/>
            <a:ext cx="256032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46304" bIns="128016"/>
          <a:lstStyle/>
          <a:p>
            <a:pPr algn="ctr">
              <a:defRPr sz="950" b="1">
                <a:solidFill>
                  <a:srgbClr val="B94137"/>
                </a:solidFill>
                <a:latin typeface="Poppins"/>
              </a:defRPr>
            </a:pPr>
            <a:r>
              <a:t>MODUL 4  •  13 TEMA</a:t>
            </a:r>
          </a:p>
          <a:p>
            <a:pPr>
              <a:spcBef>
                <a:spcPts val="400"/>
              </a:spcBef>
              <a:defRPr sz="1300" b="1">
                <a:solidFill>
                  <a:srgbClr val="47342E"/>
                </a:solidFill>
                <a:latin typeface="Libre Baskerville"/>
              </a:defRPr>
            </a:pPr>
            <a:r>
              <a:t>Bolesno dete i hitna stanja</a:t>
            </a:r>
          </a:p>
          <a:p>
            <a:pPr>
              <a:spcBef>
                <a:spcPts val="250"/>
              </a:spcBef>
              <a:defRPr sz="919">
                <a:solidFill>
                  <a:srgbClr val="47342E"/>
                </a:solidFill>
                <a:latin typeface="Poppins"/>
              </a:defRPr>
            </a:pPr>
            <a:r>
              <a:t>• Grčevi (kolike) i smirivanje</a:t>
            </a:r>
          </a:p>
          <a:p>
            <a:pPr>
              <a:spcBef>
                <a:spcPts val="250"/>
              </a:spcBef>
              <a:defRPr sz="919">
                <a:solidFill>
                  <a:srgbClr val="47342E"/>
                </a:solidFill>
                <a:latin typeface="Poppins"/>
              </a:defRPr>
            </a:pPr>
            <a:r>
              <a:t>• Osipi po telu i pelenski osip</a:t>
            </a:r>
          </a:p>
          <a:p>
            <a:pPr>
              <a:spcBef>
                <a:spcPts val="250"/>
              </a:spcBef>
              <a:defRPr sz="919">
                <a:solidFill>
                  <a:srgbClr val="47342E"/>
                </a:solidFill>
                <a:latin typeface="Poppins"/>
              </a:defRPr>
            </a:pPr>
            <a:r>
              <a:t>• Infekcije oka i zapušen nos</a:t>
            </a:r>
          </a:p>
          <a:p>
            <a:pPr>
              <a:spcBef>
                <a:spcPts val="250"/>
              </a:spcBef>
              <a:defRPr sz="919">
                <a:solidFill>
                  <a:srgbClr val="47342E"/>
                </a:solidFill>
                <a:latin typeface="Poppins"/>
              </a:defRPr>
            </a:pPr>
            <a:r>
              <a:t>• Postvakcinalne reakcije i nega</a:t>
            </a:r>
          </a:p>
          <a:p>
            <a:pPr>
              <a:spcBef>
                <a:spcPts val="250"/>
              </a:spcBef>
              <a:defRPr sz="919">
                <a:solidFill>
                  <a:srgbClr val="47342E"/>
                </a:solidFill>
                <a:latin typeface="Poppins"/>
              </a:defRPr>
            </a:pPr>
            <a:r>
              <a:t>• Digestivni poremećaji i dehidracija</a:t>
            </a:r>
          </a:p>
          <a:p>
            <a:pPr>
              <a:spcBef>
                <a:spcPts val="250"/>
              </a:spcBef>
              <a:defRPr sz="919">
                <a:solidFill>
                  <a:srgbClr val="47342E"/>
                </a:solidFill>
                <a:latin typeface="Poppins"/>
              </a:defRPr>
            </a:pPr>
            <a:r>
              <a:t>• Visoka febrilnost i konvulzije</a:t>
            </a:r>
          </a:p>
          <a:p>
            <a:pPr>
              <a:spcBef>
                <a:spcPts val="250"/>
              </a:spcBef>
              <a:defRPr sz="919">
                <a:solidFill>
                  <a:srgbClr val="47342E"/>
                </a:solidFill>
                <a:latin typeface="Poppins"/>
              </a:defRPr>
            </a:pPr>
            <a:r>
              <a:t>• Gušenje, padovi i opekotine</a:t>
            </a:r>
          </a:p>
          <a:p>
            <a:pPr>
              <a:spcBef>
                <a:spcPts val="250"/>
              </a:spcBef>
              <a:defRPr sz="919">
                <a:solidFill>
                  <a:srgbClr val="47342E"/>
                </a:solidFill>
                <a:latin typeface="Poppins"/>
              </a:defRPr>
            </a:pPr>
            <a:r>
              <a:t>• Zarazne bolesti dečjeg uzrasta</a:t>
            </a:r>
          </a:p>
          <a:p>
            <a:pPr>
              <a:spcBef>
                <a:spcPts val="250"/>
              </a:spcBef>
              <a:defRPr sz="919">
                <a:solidFill>
                  <a:srgbClr val="47342E"/>
                </a:solidFill>
                <a:latin typeface="Poppins"/>
              </a:defRPr>
            </a:pPr>
            <a:r>
              <a:t>• Ujedi insekata i vađenje krpelja</a:t>
            </a:r>
          </a:p>
          <a:p>
            <a:pPr>
              <a:spcBef>
                <a:spcPts val="250"/>
              </a:spcBef>
              <a:defRPr sz="919">
                <a:solidFill>
                  <a:srgbClr val="47342E"/>
                </a:solidFill>
                <a:latin typeface="Poppins"/>
              </a:defRPr>
            </a:pPr>
            <a:r>
              <a:t>• Alergije i anafilaktički šok</a:t>
            </a:r>
          </a:p>
          <a:p>
            <a:pPr>
              <a:spcBef>
                <a:spcPts val="250"/>
              </a:spcBef>
              <a:defRPr sz="919">
                <a:solidFill>
                  <a:srgbClr val="47342E"/>
                </a:solidFill>
                <a:latin typeface="Poppins"/>
              </a:defRPr>
            </a:pPr>
            <a:r>
              <a:t>• Putna i kućna apoteka za decu</a:t>
            </a:r>
          </a:p>
          <a:p>
            <a:pPr>
              <a:spcBef>
                <a:spcPts val="250"/>
              </a:spcBef>
              <a:defRPr sz="919">
                <a:solidFill>
                  <a:srgbClr val="47342E"/>
                </a:solidFill>
                <a:latin typeface="Poppins"/>
              </a:defRPr>
            </a:pPr>
            <a:r>
              <a:t>• Davanje lekova i etički kodeks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3960" y="1691640"/>
            <a:ext cx="2560320" cy="73152"/>
          </a:xfrm>
          <a:prstGeom prst="rect">
            <a:avLst/>
          </a:prstGeom>
          <a:solidFill>
            <a:srgbClr val="B94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5687568"/>
            <a:ext cx="10652760" cy="621792"/>
          </a:xfrm>
          <a:prstGeom prst="roundRect">
            <a:avLst/>
          </a:prstGeom>
          <a:solidFill>
            <a:srgbClr val="47342E"/>
          </a:solidFill>
          <a:ln w="12700">
            <a:solidFill>
              <a:srgbClr val="D1A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73152"/>
          <a:lstStyle/>
          <a:p>
            <a:pPr algn="ctr">
              <a:defRPr sz="1200" b="1">
                <a:solidFill>
                  <a:srgbClr val="D1AE66"/>
                </a:solidFill>
                <a:latin typeface="Libre Baskerville"/>
              </a:defRPr>
            </a:pPr>
            <a:r>
              <a:t>★ STRUČNA AKREDITACIJA KURIKULUMA:  Spec. strukovna medicinska sestra Jelena Aleksić</a:t>
            </a:r>
          </a:p>
          <a:p>
            <a:pPr>
              <a:spcBef>
                <a:spcPts val="200"/>
              </a:spcBef>
              <a:defRPr sz="950">
                <a:solidFill>
                  <a:srgbClr val="F0E9D7"/>
                </a:solidFill>
                <a:latin typeface="Poppins"/>
              </a:defRPr>
            </a:pPr>
            <a:r>
              <a:t>4 STRUČNA MODULA   •   37 KLINIČKIH I PEDIJATRIJSKIH TEMA   •   100% STANDARDIZACIJA ZNANJA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765535"/>
                </a:solidFill>
                <a:latin typeface="Poppins"/>
              </a:defRPr>
            </a:pPr>
            <a:r>
              <a:t>MODUL 1 • TEMA 1 • MODUL 1: HIGIJENA I NEGA</a:t>
            </a:r>
          </a:p>
        </p:txBody>
      </p:sp>
      <p:pic>
        <p:nvPicPr>
          <p:cNvPr id="4" name="Picture 3" descr="logo_horizonta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765535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9614F"/>
                </a:solidFill>
                <a:latin typeface="Poppins"/>
              </a:defRPr>
            </a:pPr>
            <a:r>
              <a:t>ROYAL NANNY AKADEMIJA • STANDARDI NEGE   |   03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676656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900" b="1">
                <a:solidFill>
                  <a:srgbClr val="47342E"/>
                </a:solidFill>
                <a:latin typeface="Libre Baskerville"/>
              </a:defRPr>
            </a:pPr>
            <a:r>
              <a:t>Priprema sobe za bebu, nameštaja i opreme</a:t>
            </a:r>
          </a:p>
          <a:p>
            <a:pPr>
              <a:spcBef>
                <a:spcPts val="300"/>
              </a:spcBef>
              <a:defRPr sz="1350">
                <a:solidFill>
                  <a:srgbClr val="69614F"/>
                </a:solidFill>
                <a:latin typeface="Poppins"/>
              </a:defRPr>
            </a:pPr>
            <a:r>
              <a:t>Modul 1: Higijena i nega novorođenčeta • Tema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051560"/>
            <a:ext cx="443484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4_nursery_co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022" y="1078992"/>
            <a:ext cx="3823411" cy="51206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1691640"/>
            <a:ext cx="2017776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bIns="73152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18-23°C</a:t>
            </a:r>
          </a:p>
          <a:p>
            <a:pPr>
              <a:spcBef>
                <a:spcPts val="200"/>
              </a:spcBef>
              <a:defRPr sz="1000">
                <a:solidFill>
                  <a:srgbClr val="69614F"/>
                </a:solidFill>
                <a:latin typeface="Poppins"/>
              </a:defRPr>
            </a:pPr>
            <a:r>
              <a:t>Sobna temperatura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691640"/>
            <a:ext cx="54864" cy="89611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77312" y="1691640"/>
            <a:ext cx="2017776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bIns="73152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1.5 m</a:t>
            </a:r>
          </a:p>
          <a:p>
            <a:pPr>
              <a:spcBef>
                <a:spcPts val="200"/>
              </a:spcBef>
              <a:defRPr sz="1000">
                <a:solidFill>
                  <a:srgbClr val="69614F"/>
                </a:solidFill>
                <a:latin typeface="Poppins"/>
              </a:defRPr>
            </a:pPr>
            <a:r>
              <a:t>Od izvora toplote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77312" y="1691640"/>
            <a:ext cx="54864" cy="89611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3104" y="1691640"/>
            <a:ext cx="2017776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bIns="73152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50-60%</a:t>
            </a:r>
          </a:p>
          <a:p>
            <a:pPr>
              <a:spcBef>
                <a:spcPts val="200"/>
              </a:spcBef>
              <a:defRPr sz="1000">
                <a:solidFill>
                  <a:srgbClr val="69614F"/>
                </a:solidFill>
                <a:latin typeface="Poppins"/>
              </a:defRPr>
            </a:pPr>
            <a:r>
              <a:t>Vlažnost vazduha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3104" y="1691640"/>
            <a:ext cx="54864" cy="89611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2715768"/>
            <a:ext cx="6309360" cy="1709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19456" tIns="164592" bIns="137160"/>
          <a:lstStyle/>
          <a:p>
            <a:pPr algn="ctr">
              <a:defRPr sz="1800" b="1">
                <a:solidFill>
                  <a:srgbClr val="765535"/>
                </a:solidFill>
                <a:latin typeface="Libre Baskerville"/>
              </a:defRPr>
            </a:pPr>
            <a:r>
              <a:t>Mikroklima i higijena prostora</a:t>
            </a:r>
          </a:p>
          <a:p>
            <a:pPr>
              <a:spcBef>
                <a:spcPts val="400"/>
              </a:spcBef>
              <a:defRPr sz="1400">
                <a:solidFill>
                  <a:srgbClr val="47342E"/>
                </a:solidFill>
                <a:latin typeface="Poppins"/>
              </a:defRPr>
            </a:pPr>
            <a:r>
              <a:t>Prostor za bebu mora biti oaza čistoće, mira i optimalnih mikroklimatskih parametara koji podržavaju nezreo termoregulacioni centar novorođenčeta.</a:t>
            </a:r>
          </a:p>
          <a:p>
            <a:pPr>
              <a:spcBef>
                <a:spcPts val="35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Optimalna temperatura:</a:t>
            </a:r>
            <a:r>
              <a:rPr sz="1300" b="0">
                <a:solidFill>
                  <a:srgbClr val="47342E"/>
                </a:solidFill>
                <a:latin typeface="Poppins"/>
              </a:rPr>
              <a:t> Održavati </a:t>
            </a:r>
            <a:r>
              <a:rPr sz="1300" b="1">
                <a:solidFill>
                  <a:srgbClr val="47342E"/>
                </a:solidFill>
                <a:latin typeface="Poppins"/>
              </a:rPr>
              <a:t>18–23°C</a:t>
            </a:r>
            <a:r>
              <a:rPr sz="1300" b="0">
                <a:solidFill>
                  <a:srgbClr val="47342E"/>
                </a:solidFill>
                <a:latin typeface="Poppins"/>
              </a:rPr>
              <a:t> tokom dana i noći, a prilikom kupanja zagrejati na </a:t>
            </a:r>
            <a:r>
              <a:rPr sz="1300" b="1">
                <a:solidFill>
                  <a:srgbClr val="47342E"/>
                </a:solidFill>
                <a:latin typeface="Poppins"/>
              </a:rPr>
              <a:t>24–26°C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35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Vlažnost i provetravanje:</a:t>
            </a:r>
            <a:r>
              <a:rPr sz="1300" b="0">
                <a:solidFill>
                  <a:srgbClr val="47342E"/>
                </a:solidFill>
                <a:latin typeface="Poppins"/>
              </a:rPr>
              <a:t> Zimi redovno vlažiti zagrejani vazduh (</a:t>
            </a:r>
            <a:r>
              <a:rPr sz="1300" b="1">
                <a:solidFill>
                  <a:srgbClr val="47342E"/>
                </a:solidFill>
                <a:latin typeface="Poppins"/>
              </a:rPr>
              <a:t>50–60%</a:t>
            </a:r>
            <a:r>
              <a:rPr sz="1300" b="0">
                <a:solidFill>
                  <a:srgbClr val="47342E"/>
                </a:solidFill>
                <a:latin typeface="Poppins"/>
              </a:rPr>
              <a:t>); provetravati sobu </a:t>
            </a:r>
            <a:r>
              <a:rPr sz="1300" b="1">
                <a:solidFill>
                  <a:srgbClr val="47342E"/>
                </a:solidFill>
                <a:latin typeface="Poppins"/>
              </a:rPr>
              <a:t>više puta dnevno</a:t>
            </a:r>
            <a:r>
              <a:rPr sz="1300" b="0">
                <a:solidFill>
                  <a:srgbClr val="47342E"/>
                </a:solidFill>
                <a:latin typeface="Poppins"/>
              </a:rPr>
              <a:t> dok beba nije u njoj.</a:t>
            </a:r>
          </a:p>
          <a:p>
            <a:pPr>
              <a:spcBef>
                <a:spcPts val="35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Zidovi i enterijer:</a:t>
            </a:r>
            <a:r>
              <a:rPr sz="1300" b="0">
                <a:solidFill>
                  <a:srgbClr val="47342E"/>
                </a:solidFill>
                <a:latin typeface="Poppins"/>
              </a:rPr>
              <a:t> Nežne pastelne boje, svetla soba </a:t>
            </a:r>
            <a:r>
              <a:rPr sz="1300" b="1">
                <a:solidFill>
                  <a:srgbClr val="47342E"/>
                </a:solidFill>
                <a:latin typeface="Poppins"/>
              </a:rPr>
              <a:t>bez tepiha sa dugim vlaknima</a:t>
            </a:r>
            <a:r>
              <a:rPr sz="1300" b="0">
                <a:solidFill>
                  <a:srgbClr val="47342E"/>
                </a:solidFill>
                <a:latin typeface="Poppins"/>
              </a:rPr>
              <a:t> i predmeta koji skupljaju prašinu.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715768"/>
            <a:ext cx="64008" cy="1709928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553712"/>
            <a:ext cx="6309360" cy="1709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19456" tIns="164592" bIns="137160"/>
          <a:lstStyle/>
          <a:p>
            <a:pPr algn="ctr">
              <a:defRPr sz="1800" b="1">
                <a:solidFill>
                  <a:srgbClr val="765535"/>
                </a:solidFill>
                <a:latin typeface="Libre Baskerville"/>
              </a:defRPr>
            </a:pPr>
            <a:r>
              <a:t>Bezbednost kreveca i raspored opreme</a:t>
            </a:r>
          </a:p>
          <a:p>
            <a:pPr>
              <a:spcBef>
                <a:spcPts val="400"/>
              </a:spcBef>
              <a:defRPr sz="1400">
                <a:solidFill>
                  <a:srgbClr val="47342E"/>
                </a:solidFill>
                <a:latin typeface="Poppins"/>
              </a:defRPr>
            </a:pPr>
            <a:r>
              <a:t>Ergonomski raspored omogućava dadilji i majci da sve radnje obavljaju bezbedno i bez nepotrebnog savijanja kičme.</a:t>
            </a:r>
          </a:p>
          <a:p>
            <a:pPr>
              <a:spcBef>
                <a:spcPts val="35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Pozicija kreveca:</a:t>
            </a:r>
            <a:r>
              <a:rPr sz="1300" b="0">
                <a:solidFill>
                  <a:srgbClr val="47342E"/>
                </a:solidFill>
                <a:latin typeface="Poppins"/>
              </a:rPr>
              <a:t> U mirnom uglu, </a:t>
            </a:r>
            <a:r>
              <a:rPr sz="1300" b="1">
                <a:solidFill>
                  <a:srgbClr val="47342E"/>
                </a:solidFill>
                <a:latin typeface="Poppins"/>
              </a:rPr>
              <a:t>dalje od promaje i prozora</a:t>
            </a:r>
            <a:r>
              <a:rPr sz="1300" b="0">
                <a:solidFill>
                  <a:srgbClr val="47342E"/>
                </a:solidFill>
                <a:latin typeface="Poppins"/>
              </a:rPr>
              <a:t>, minimum </a:t>
            </a:r>
            <a:r>
              <a:rPr sz="1300" b="1">
                <a:solidFill>
                  <a:srgbClr val="47342E"/>
                </a:solidFill>
                <a:latin typeface="Poppins"/>
              </a:rPr>
              <a:t>1–1.5 metar od radijatora</a:t>
            </a:r>
            <a:r>
              <a:rPr sz="1300" b="0">
                <a:solidFill>
                  <a:srgbClr val="47342E"/>
                </a:solidFill>
                <a:latin typeface="Poppins"/>
              </a:rPr>
              <a:t> i strujnih utičnica.</a:t>
            </a:r>
          </a:p>
          <a:p>
            <a:pPr>
              <a:spcBef>
                <a:spcPts val="35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Čvrst dušek:</a:t>
            </a:r>
            <a:r>
              <a:rPr sz="1300" b="0">
                <a:solidFill>
                  <a:srgbClr val="47342E"/>
                </a:solidFill>
                <a:latin typeface="Poppins"/>
              </a:rPr>
              <a:t> Ravan i tvrd dušek </a:t>
            </a:r>
            <a:r>
              <a:rPr sz="1300" b="1">
                <a:solidFill>
                  <a:srgbClr val="47342E"/>
                </a:solidFill>
                <a:latin typeface="Poppins"/>
              </a:rPr>
              <a:t>bez jastuka i debelih ogradica</a:t>
            </a:r>
            <a:r>
              <a:rPr sz="1300" b="0">
                <a:solidFill>
                  <a:srgbClr val="47342E"/>
                </a:solidFill>
                <a:latin typeface="Poppins"/>
              </a:rPr>
              <a:t>; posteljina od </a:t>
            </a:r>
            <a:r>
              <a:rPr sz="1300" b="1">
                <a:solidFill>
                  <a:srgbClr val="47342E"/>
                </a:solidFill>
                <a:latin typeface="Poppins"/>
              </a:rPr>
              <a:t>100% prirodnog pamuka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35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Kutak za prepovijanje i dojenje:</a:t>
            </a:r>
            <a:r>
              <a:rPr sz="1300" b="0">
                <a:solidFill>
                  <a:srgbClr val="47342E"/>
                </a:solidFill>
                <a:latin typeface="Poppins"/>
              </a:rPr>
              <a:t> Komoda sa mekom podlogom </a:t>
            </a:r>
            <a:r>
              <a:rPr sz="1300" b="1">
                <a:solidFill>
                  <a:srgbClr val="47342E"/>
                </a:solidFill>
                <a:latin typeface="Poppins"/>
              </a:rPr>
              <a:t>na dohvat ruke sa pelenama i kremama</a:t>
            </a:r>
            <a:r>
              <a:rPr sz="1300" b="0">
                <a:solidFill>
                  <a:srgbClr val="47342E"/>
                </a:solidFill>
                <a:latin typeface="Poppins"/>
              </a:rPr>
              <a:t>; udobna fotelja za dojenje.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553712"/>
            <a:ext cx="64008" cy="1709928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765535"/>
                </a:solidFill>
                <a:latin typeface="Poppins"/>
              </a:defRPr>
            </a:pPr>
            <a:r>
              <a:t>MODUL 1 • TEMA 2 • MODUL 1: HIGIJENA I NEGA</a:t>
            </a:r>
          </a:p>
        </p:txBody>
      </p:sp>
      <p:pic>
        <p:nvPicPr>
          <p:cNvPr id="4" name="Picture 3" descr="logo_horizonta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765535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9614F"/>
                </a:solidFill>
                <a:latin typeface="Poppins"/>
              </a:defRPr>
            </a:pPr>
            <a:r>
              <a:t>ROYAL NANNY AKADEMIJA • STANDARDI NEGE   |   04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900" b="1">
                <a:solidFill>
                  <a:srgbClr val="47342E"/>
                </a:solidFill>
                <a:latin typeface="Libre Baskerville"/>
              </a:defRPr>
            </a:pPr>
            <a:r>
              <a:t>Kupanje bebe: Priprema, stanica i mikroklima</a:t>
            </a:r>
          </a:p>
          <a:p>
            <a:pPr>
              <a:spcBef>
                <a:spcPts val="300"/>
              </a:spcBef>
              <a:defRPr sz="1350">
                <a:solidFill>
                  <a:srgbClr val="69614F"/>
                </a:solidFill>
                <a:latin typeface="Poppins"/>
              </a:defRPr>
            </a:pPr>
            <a:r>
              <a:t>Modul 1: Higijena i nega novorođenčeta • Tema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Priprema prostora i mikroklima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Kupanje je intiman i smirujući ritual koji zahteva savršenu logističku pripremu pre nego što se sa bebe skine ijedan komad odeće.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Zagrevanje prostorije:</a:t>
            </a:r>
            <a:r>
              <a:rPr sz="1300" b="0">
                <a:solidFill>
                  <a:srgbClr val="47342E"/>
                </a:solidFill>
                <a:latin typeface="Poppins"/>
              </a:rPr>
              <a:t> Provetriti prostoriju, a zatim je zagrejati na </a:t>
            </a:r>
            <a:r>
              <a:rPr sz="1300" b="1">
                <a:solidFill>
                  <a:srgbClr val="47342E"/>
                </a:solidFill>
                <a:latin typeface="Poppins"/>
              </a:rPr>
              <a:t>24–26°C</a:t>
            </a:r>
            <a:r>
              <a:rPr sz="1300" b="0">
                <a:solidFill>
                  <a:srgbClr val="47342E"/>
                </a:solidFill>
                <a:latin typeface="Poppins"/>
              </a:rPr>
              <a:t> kako beba ne bi doživela </a:t>
            </a:r>
            <a:r>
              <a:rPr sz="1300" b="1">
                <a:solidFill>
                  <a:srgbClr val="47342E"/>
                </a:solidFill>
                <a:latin typeface="Poppins"/>
              </a:rPr>
              <a:t>temperaturni šok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Provera vode toplomerom:</a:t>
            </a:r>
            <a:r>
              <a:rPr sz="1300" b="0">
                <a:solidFill>
                  <a:srgbClr val="47342E"/>
                </a:solidFill>
                <a:latin typeface="Poppins"/>
              </a:rPr>
              <a:t> Voda u kadici mora biti </a:t>
            </a:r>
            <a:r>
              <a:rPr sz="1300" b="1">
                <a:solidFill>
                  <a:srgbClr val="47342E"/>
                </a:solidFill>
                <a:latin typeface="Poppins"/>
              </a:rPr>
              <a:t>35–37°C</a:t>
            </a:r>
            <a:r>
              <a:rPr sz="1300" b="0">
                <a:solidFill>
                  <a:srgbClr val="47342E"/>
                </a:solidFill>
                <a:latin typeface="Poppins"/>
              </a:rPr>
              <a:t>; obavezno proveriti </a:t>
            </a:r>
            <a:r>
              <a:rPr sz="1300" b="1">
                <a:solidFill>
                  <a:srgbClr val="47342E"/>
                </a:solidFill>
                <a:latin typeface="Poppins"/>
              </a:rPr>
              <a:t>namenskim toplomerom</a:t>
            </a:r>
            <a:r>
              <a:rPr sz="1300" b="0">
                <a:solidFill>
                  <a:srgbClr val="47342E"/>
                </a:solidFill>
                <a:latin typeface="Poppins"/>
              </a:rPr>
              <a:t> ili </a:t>
            </a:r>
            <a:r>
              <a:rPr sz="1300" b="1">
                <a:solidFill>
                  <a:srgbClr val="47342E"/>
                </a:solidFill>
                <a:latin typeface="Poppins"/>
              </a:rPr>
              <a:t>unutrašnjom stranom podlaktice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Pripremljen bokal za ispiranje:</a:t>
            </a:r>
            <a:r>
              <a:rPr sz="1300" b="0">
                <a:solidFill>
                  <a:srgbClr val="47342E"/>
                </a:solidFill>
                <a:latin typeface="Poppins"/>
              </a:rPr>
              <a:t> Bokal sa </a:t>
            </a:r>
            <a:r>
              <a:rPr sz="1300" b="1">
                <a:solidFill>
                  <a:srgbClr val="47342E"/>
                </a:solidFill>
                <a:latin typeface="Poppins"/>
              </a:rPr>
              <a:t>čistom toplom vodom</a:t>
            </a:r>
            <a:r>
              <a:rPr sz="1300" b="0">
                <a:solidFill>
                  <a:srgbClr val="47342E"/>
                </a:solidFill>
                <a:latin typeface="Poppins"/>
              </a:rPr>
              <a:t> pripremiti pored kadice za </a:t>
            </a:r>
            <a:r>
              <a:rPr sz="1300" b="1">
                <a:solidFill>
                  <a:srgbClr val="47342E"/>
                </a:solidFill>
                <a:latin typeface="Poppins"/>
              </a:rPr>
              <a:t>završno polivanje tela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Sve na dohvat ruke PRE svlačenja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Svi rekviziti i garderoba moraju biti raspoređeni po tačnom redosledu upotrebe pre početka toalete.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Kompletan set za toaletu:</a:t>
            </a:r>
            <a:r>
              <a:rPr sz="1300" b="0">
                <a:solidFill>
                  <a:srgbClr val="47342E"/>
                </a:solidFill>
                <a:latin typeface="Poppins"/>
              </a:rPr>
              <a:t> Kadica, </a:t>
            </a:r>
            <a:r>
              <a:rPr sz="1300" b="1">
                <a:solidFill>
                  <a:srgbClr val="47342E"/>
                </a:solidFill>
                <a:latin typeface="Poppins"/>
              </a:rPr>
              <a:t>meki frotirni peškir sa kapuljačom</a:t>
            </a:r>
            <a:r>
              <a:rPr sz="1300" b="0">
                <a:solidFill>
                  <a:srgbClr val="47342E"/>
                </a:solidFill>
                <a:latin typeface="Poppins"/>
              </a:rPr>
              <a:t>, rukavica za kupanje, </a:t>
            </a:r>
            <a:r>
              <a:rPr sz="1300" b="1">
                <a:solidFill>
                  <a:srgbClr val="47342E"/>
                </a:solidFill>
                <a:latin typeface="Poppins"/>
              </a:rPr>
              <a:t>sindet pH 5.5</a:t>
            </a:r>
            <a:r>
              <a:rPr sz="1300" b="0">
                <a:solidFill>
                  <a:srgbClr val="47342E"/>
                </a:solidFill>
                <a:latin typeface="Poppins"/>
              </a:rPr>
              <a:t>, sterilne gaze i fiziološki rastvor.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Pripremljena garderoba:</a:t>
            </a:r>
            <a:r>
              <a:rPr sz="1300" b="0">
                <a:solidFill>
                  <a:srgbClr val="47342E"/>
                </a:solidFill>
                <a:latin typeface="Poppins"/>
              </a:rPr>
              <a:t> Čist bodi, zeka, </a:t>
            </a:r>
            <a:r>
              <a:rPr sz="1300" b="1">
                <a:solidFill>
                  <a:srgbClr val="47342E"/>
                </a:solidFill>
                <a:latin typeface="Poppins"/>
              </a:rPr>
              <a:t>pelena i krema za pelensku regiju</a:t>
            </a:r>
            <a:r>
              <a:rPr sz="1300" b="0">
                <a:solidFill>
                  <a:srgbClr val="47342E"/>
                </a:solidFill>
                <a:latin typeface="Poppins"/>
              </a:rPr>
              <a:t> već </a:t>
            </a:r>
            <a:r>
              <a:rPr sz="1300" b="1">
                <a:solidFill>
                  <a:srgbClr val="47342E"/>
                </a:solidFill>
                <a:latin typeface="Poppins"/>
              </a:rPr>
              <a:t>otvoreni na stolu za prepovijanje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Zlatno pravilo bezbednosti:</a:t>
            </a:r>
            <a:r>
              <a:rPr sz="1300" b="0">
                <a:solidFill>
                  <a:srgbClr val="47342E"/>
                </a:solidFill>
                <a:latin typeface="Poppins"/>
              </a:rPr>
              <a:t> Beba se </a:t>
            </a:r>
            <a:r>
              <a:rPr sz="1300" b="1">
                <a:solidFill>
                  <a:srgbClr val="47342E"/>
                </a:solidFill>
                <a:latin typeface="Poppins"/>
              </a:rPr>
              <a:t>NIKADA ne ostavlja sama</a:t>
            </a:r>
            <a:r>
              <a:rPr sz="1300" b="0">
                <a:solidFill>
                  <a:srgbClr val="47342E"/>
                </a:solidFill>
                <a:latin typeface="Poppins"/>
              </a:rPr>
              <a:t> u kadici ili na komodi ni na pola sekunde; </a:t>
            </a:r>
            <a:r>
              <a:rPr sz="1300" b="1">
                <a:solidFill>
                  <a:srgbClr val="47342E"/>
                </a:solidFill>
                <a:latin typeface="Poppins"/>
              </a:rPr>
              <a:t>jedna ruka uvek čvrsto pridržava bebu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35-37°C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Temperatura vode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9976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24-26°C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Temperatura sobe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2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100%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Stalni nadzor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765535"/>
                </a:solidFill>
                <a:latin typeface="Poppins"/>
              </a:defRPr>
            </a:pPr>
            <a:r>
              <a:t>MODUL 1 • TEMA 3 • MODUL 1: HIGIJENA I NEGA</a:t>
            </a:r>
          </a:p>
        </p:txBody>
      </p:sp>
      <p:pic>
        <p:nvPicPr>
          <p:cNvPr id="4" name="Picture 3" descr="logo_horizonta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765535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9614F"/>
                </a:solidFill>
                <a:latin typeface="Poppins"/>
              </a:defRPr>
            </a:pPr>
            <a:r>
              <a:t>ROYAL NANNY AKADEMIJA • STANDARDI NEGE   |   05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676656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47342E"/>
                </a:solidFill>
                <a:latin typeface="Libre Baskerville"/>
              </a:defRPr>
            </a:pPr>
            <a:r>
              <a:t>Tehnika kupanja bebe i nega kože</a:t>
            </a:r>
          </a:p>
          <a:p>
            <a:pPr>
              <a:spcBef>
                <a:spcPts val="300"/>
              </a:spcBef>
              <a:defRPr sz="1350">
                <a:solidFill>
                  <a:srgbClr val="69614F"/>
                </a:solidFill>
                <a:latin typeface="Poppins"/>
              </a:defRPr>
            </a:pPr>
            <a:r>
              <a:t>Modul 1: Higijena i nega novorođenčeta • Tema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051560"/>
            <a:ext cx="443484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6_baby_bat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022" y="1078992"/>
            <a:ext cx="3823411" cy="51206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1691640"/>
            <a:ext cx="2017776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bIns="73152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5-10 min</a:t>
            </a:r>
          </a:p>
          <a:p>
            <a:pPr>
              <a:spcBef>
                <a:spcPts val="200"/>
              </a:spcBef>
              <a:defRPr sz="1000">
                <a:solidFill>
                  <a:srgbClr val="69614F"/>
                </a:solidFill>
                <a:latin typeface="Poppins"/>
              </a:defRPr>
            </a:pPr>
            <a:r>
              <a:t>Trajanje kupanja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691640"/>
            <a:ext cx="54864" cy="89611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77312" y="1691640"/>
            <a:ext cx="2017776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bIns="73152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pH 5.5</a:t>
            </a:r>
          </a:p>
          <a:p>
            <a:pPr>
              <a:spcBef>
                <a:spcPts val="200"/>
              </a:spcBef>
              <a:defRPr sz="1000">
                <a:solidFill>
                  <a:srgbClr val="69614F"/>
                </a:solidFill>
                <a:latin typeface="Poppins"/>
              </a:defRPr>
            </a:pPr>
            <a:r>
              <a:t>Sindet sapun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77312" y="1691640"/>
            <a:ext cx="54864" cy="89611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3104" y="1691640"/>
            <a:ext cx="2017776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bIns="73152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3 min</a:t>
            </a:r>
          </a:p>
          <a:p>
            <a:pPr>
              <a:spcBef>
                <a:spcPts val="200"/>
              </a:spcBef>
              <a:defRPr sz="1000">
                <a:solidFill>
                  <a:srgbClr val="69614F"/>
                </a:solidFill>
                <a:latin typeface="Poppins"/>
              </a:defRPr>
            </a:pPr>
            <a:r>
              <a:t>Pravilo hidratacije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3104" y="1691640"/>
            <a:ext cx="54864" cy="89611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2715768"/>
            <a:ext cx="6309360" cy="1709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19456" tIns="164592" bIns="137160"/>
          <a:lstStyle/>
          <a:p>
            <a:pPr algn="ctr">
              <a:defRPr sz="1800" b="1">
                <a:solidFill>
                  <a:srgbClr val="765535"/>
                </a:solidFill>
                <a:latin typeface="Libre Baskerville"/>
              </a:defRPr>
            </a:pPr>
            <a:r>
              <a:t>Dve tehnike kupanja novorođenčeta</a:t>
            </a:r>
          </a:p>
          <a:p>
            <a:pPr>
              <a:spcBef>
                <a:spcPts val="400"/>
              </a:spcBef>
              <a:defRPr sz="1400">
                <a:solidFill>
                  <a:srgbClr val="47342E"/>
                </a:solidFill>
                <a:latin typeface="Poppins"/>
              </a:defRPr>
            </a:pPr>
            <a:r>
              <a:t>Tehnika kupanja se prilagođava stanju pupčane rane, uz stabilan hvat koji bebi pruža osećaj sigurnosti.</a:t>
            </a:r>
          </a:p>
          <a:p>
            <a:pPr>
              <a:spcBef>
                <a:spcPts val="35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Kupanje preko ruke (do mesec dana):</a:t>
            </a:r>
            <a:r>
              <a:rPr sz="1300" b="0">
                <a:solidFill>
                  <a:srgbClr val="47342E"/>
                </a:solidFill>
                <a:latin typeface="Poppins"/>
              </a:rPr>
              <a:t> Ruka ispod bebinog grudnog koša; preko pupčanog patrljka stavlja se </a:t>
            </a:r>
            <a:r>
              <a:rPr sz="1300" b="1">
                <a:solidFill>
                  <a:srgbClr val="47342E"/>
                </a:solidFill>
                <a:latin typeface="Poppins"/>
              </a:rPr>
              <a:t>suva tetra pelena</a:t>
            </a:r>
            <a:r>
              <a:rPr sz="1300" b="0">
                <a:solidFill>
                  <a:srgbClr val="47342E"/>
                </a:solidFill>
                <a:latin typeface="Poppins"/>
              </a:rPr>
              <a:t>; pere se prvo glava, trup, pa noge.</a:t>
            </a:r>
          </a:p>
          <a:p>
            <a:pPr>
              <a:spcBef>
                <a:spcPts val="35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Kupanje u kadici (sa kupkom):</a:t>
            </a:r>
            <a:r>
              <a:rPr sz="1300" b="0">
                <a:solidFill>
                  <a:srgbClr val="47342E"/>
                </a:solidFill>
                <a:latin typeface="Poppins"/>
              </a:rPr>
              <a:t> Beba leži na leđima sa glavicom </a:t>
            </a:r>
            <a:r>
              <a:rPr sz="1300" b="1">
                <a:solidFill>
                  <a:srgbClr val="47342E"/>
                </a:solidFill>
                <a:latin typeface="Poppins"/>
              </a:rPr>
              <a:t>podignutom 5 cm iznad vode</a:t>
            </a:r>
            <a:r>
              <a:rPr sz="1300" b="0">
                <a:solidFill>
                  <a:srgbClr val="47342E"/>
                </a:solidFill>
                <a:latin typeface="Poppins"/>
              </a:rPr>
              <a:t> na majčinoj podlaktici; lagano spuštanje prvo nožicama u vodu.</a:t>
            </a:r>
          </a:p>
          <a:p>
            <a:pPr>
              <a:spcBef>
                <a:spcPts val="35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Redosled pranja:</a:t>
            </a:r>
            <a:r>
              <a:rPr sz="1300" b="0">
                <a:solidFill>
                  <a:srgbClr val="47342E"/>
                </a:solidFill>
                <a:latin typeface="Poppins"/>
              </a:rPr>
              <a:t> Lice, glava, trup, ekstremiteti, a </a:t>
            </a:r>
            <a:r>
              <a:rPr sz="1300" b="1">
                <a:solidFill>
                  <a:srgbClr val="47342E"/>
                </a:solidFill>
                <a:latin typeface="Poppins"/>
              </a:rPr>
              <a:t>genitalna regija uvek poslednja</a:t>
            </a:r>
            <a:r>
              <a:rPr sz="1300" b="0">
                <a:solidFill>
                  <a:srgbClr val="47342E"/>
                </a:solidFill>
                <a:latin typeface="Poppins"/>
              </a:rPr>
              <a:t>; temeljno ispiranje vodom iz bokala.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715768"/>
            <a:ext cx="64008" cy="1709928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553712"/>
            <a:ext cx="6309360" cy="1709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19456" tIns="164592" bIns="137160"/>
          <a:lstStyle/>
          <a:p>
            <a:pPr algn="ctr">
              <a:defRPr sz="1800" b="1">
                <a:solidFill>
                  <a:srgbClr val="765535"/>
                </a:solidFill>
                <a:latin typeface="Libre Baskerville"/>
              </a:defRPr>
            </a:pPr>
            <a:r>
              <a:t>Zlatni standardi dermatološke nege kože</a:t>
            </a:r>
          </a:p>
          <a:p>
            <a:pPr>
              <a:spcBef>
                <a:spcPts val="400"/>
              </a:spcBef>
              <a:defRPr sz="1400">
                <a:solidFill>
                  <a:srgbClr val="47342E"/>
                </a:solidFill>
                <a:latin typeface="Poppins"/>
              </a:defRPr>
            </a:pPr>
            <a:r>
              <a:t>Koža novorođenčeta je pet puta tanja od kože odrasle osobe i sklona je brzom isušivanju i iritacijama.</a:t>
            </a:r>
          </a:p>
          <a:p>
            <a:pPr>
              <a:spcBef>
                <a:spcPts val="35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Sindeti umesto klasičnih sapuna:</a:t>
            </a:r>
            <a:r>
              <a:rPr sz="1300" b="0">
                <a:solidFill>
                  <a:srgbClr val="47342E"/>
                </a:solidFill>
                <a:latin typeface="Poppins"/>
              </a:rPr>
              <a:t> Koristiti </a:t>
            </a:r>
            <a:r>
              <a:rPr sz="1300" b="1">
                <a:solidFill>
                  <a:srgbClr val="47342E"/>
                </a:solidFill>
                <a:latin typeface="Poppins"/>
              </a:rPr>
              <a:t>blage sindete (pH 5.5)</a:t>
            </a:r>
            <a:r>
              <a:rPr sz="1300" b="0">
                <a:solidFill>
                  <a:srgbClr val="47342E"/>
                </a:solidFill>
                <a:latin typeface="Poppins"/>
              </a:rPr>
              <a:t> koji čuvaju zaštitni </a:t>
            </a:r>
            <a:r>
              <a:rPr sz="1300" b="1">
                <a:solidFill>
                  <a:srgbClr val="47342E"/>
                </a:solidFill>
                <a:latin typeface="Poppins"/>
              </a:rPr>
              <a:t>hidrolipidni omotač kože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35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Sušenje tapkanjem:</a:t>
            </a:r>
            <a:r>
              <a:rPr sz="1300" b="0">
                <a:solidFill>
                  <a:srgbClr val="47342E"/>
                </a:solidFill>
                <a:latin typeface="Poppins"/>
              </a:rPr>
              <a:t> Umotati bebu u mekani pamučni frotir; sušiti </a:t>
            </a:r>
            <a:r>
              <a:rPr sz="1300" b="1">
                <a:solidFill>
                  <a:srgbClr val="47342E"/>
                </a:solidFill>
                <a:latin typeface="Poppins"/>
              </a:rPr>
              <a:t>nežnim tapkanjem bez grubog trljanja</a:t>
            </a:r>
            <a:r>
              <a:rPr sz="1300" b="0">
                <a:solidFill>
                  <a:srgbClr val="47342E"/>
                </a:solidFill>
                <a:latin typeface="Poppins"/>
              </a:rPr>
              <a:t>, posebno u prevojima vrata i prepona.</a:t>
            </a:r>
          </a:p>
          <a:p>
            <a:pPr>
              <a:spcBef>
                <a:spcPts val="35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Pravilo 3 minuta:</a:t>
            </a:r>
            <a:r>
              <a:rPr sz="1300" b="0">
                <a:solidFill>
                  <a:srgbClr val="47342E"/>
                </a:solidFill>
                <a:latin typeface="Poppins"/>
              </a:rPr>
              <a:t> Naneti </a:t>
            </a:r>
            <a:r>
              <a:rPr sz="1300" b="1">
                <a:solidFill>
                  <a:srgbClr val="47342E"/>
                </a:solidFill>
                <a:latin typeface="Poppins"/>
              </a:rPr>
              <a:t>emolijens na blago vlažnu kožu unutar 3 minuta</a:t>
            </a:r>
            <a:r>
              <a:rPr sz="1300" b="0">
                <a:solidFill>
                  <a:srgbClr val="47342E"/>
                </a:solidFill>
                <a:latin typeface="Poppins"/>
              </a:rPr>
              <a:t> od kupanja radi optimalnog zadržavanja vlage.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553712"/>
            <a:ext cx="64008" cy="1709928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765535"/>
                </a:solidFill>
                <a:latin typeface="Poppins"/>
              </a:defRPr>
            </a:pPr>
            <a:r>
              <a:t>MODUL 1 • TEMA 4 • MODUL 1: HIGIJENA I NEGA</a:t>
            </a:r>
          </a:p>
        </p:txBody>
      </p:sp>
      <p:pic>
        <p:nvPicPr>
          <p:cNvPr id="4" name="Picture 3" descr="logo_horizonta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765535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9614F"/>
                </a:solidFill>
                <a:latin typeface="Poppins"/>
              </a:defRPr>
            </a:pPr>
            <a:r>
              <a:t>ROYAL NANNY AKADEMIJA • STANDARDI NEGE   |   06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47342E"/>
                </a:solidFill>
                <a:latin typeface="Libre Baskerville"/>
              </a:defRPr>
            </a:pPr>
            <a:r>
              <a:t>Nega pupčanika i pupčane rane</a:t>
            </a:r>
          </a:p>
          <a:p>
            <a:pPr>
              <a:spcBef>
                <a:spcPts val="300"/>
              </a:spcBef>
              <a:defRPr sz="1350">
                <a:solidFill>
                  <a:srgbClr val="69614F"/>
                </a:solidFill>
                <a:latin typeface="Poppins"/>
              </a:defRPr>
            </a:pPr>
            <a:r>
              <a:t>Modul 1: Higijena i nega novorođenčeta • Tema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Zlatni standard suve nege pupčanika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Savremeni pedijatrijski protokol nalaže princip suve nege koja omogućava brzu i bezbednu mumifikaciju pupčanog patrljka.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Prirodna mumifikacija:</a:t>
            </a:r>
            <a:r>
              <a:rPr sz="1300" b="0">
                <a:solidFill>
                  <a:srgbClr val="47342E"/>
                </a:solidFill>
                <a:latin typeface="Poppins"/>
              </a:rPr>
              <a:t> Pupčani patrljak se suši i spontano otpada između </a:t>
            </a:r>
            <a:r>
              <a:rPr sz="1300" b="1">
                <a:solidFill>
                  <a:srgbClr val="47342E"/>
                </a:solidFill>
                <a:latin typeface="Poppins"/>
              </a:rPr>
              <a:t>7. i 14. dana</a:t>
            </a:r>
            <a:r>
              <a:rPr sz="1300" b="0">
                <a:solidFill>
                  <a:srgbClr val="47342E"/>
                </a:solidFill>
                <a:latin typeface="Poppins"/>
              </a:rPr>
              <a:t>; proces se odvija brže ako se održava </a:t>
            </a:r>
            <a:r>
              <a:rPr sz="1300" b="1">
                <a:solidFill>
                  <a:srgbClr val="47342E"/>
                </a:solidFill>
                <a:latin typeface="Poppins"/>
              </a:rPr>
              <a:t>suvim i čistim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Toaleta antiseptikom:</a:t>
            </a:r>
            <a:r>
              <a:rPr sz="1300" b="0">
                <a:solidFill>
                  <a:srgbClr val="47342E"/>
                </a:solidFill>
                <a:latin typeface="Poppins"/>
              </a:rPr>
              <a:t> Prskanje </a:t>
            </a:r>
            <a:r>
              <a:rPr sz="1300" b="1">
                <a:solidFill>
                  <a:srgbClr val="47342E"/>
                </a:solidFill>
                <a:latin typeface="Poppins"/>
              </a:rPr>
              <a:t>Octenisept sprejom 1–2 puta dnevno</a:t>
            </a:r>
            <a:r>
              <a:rPr sz="1300" b="0">
                <a:solidFill>
                  <a:srgbClr val="47342E"/>
                </a:solidFill>
                <a:latin typeface="Poppins"/>
              </a:rPr>
              <a:t> i kod svakog prepovijanja ako dođe u kontakt sa urinom.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Pravilno prepovijanje:</a:t>
            </a:r>
            <a:r>
              <a:rPr sz="1300" b="0">
                <a:solidFill>
                  <a:srgbClr val="47342E"/>
                </a:solidFill>
                <a:latin typeface="Poppins"/>
              </a:rPr>
              <a:t> Prednji rub jednokratne pelene </a:t>
            </a:r>
            <a:r>
              <a:rPr sz="1300" b="1">
                <a:solidFill>
                  <a:srgbClr val="47342E"/>
                </a:solidFill>
                <a:latin typeface="Poppins"/>
              </a:rPr>
              <a:t>obavezno saviti ka spolja ispod pupka</a:t>
            </a:r>
            <a:r>
              <a:rPr sz="1300" b="0">
                <a:solidFill>
                  <a:srgbClr val="47342E"/>
                </a:solidFill>
                <a:latin typeface="Poppins"/>
              </a:rPr>
              <a:t> kako bi rana bila na vazduhu i zaštićena od vlage.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Prepoznavanje komplikacija (Omfalitis)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Svako odstupanje od normalnog zarastanja zahteva hitnu medicinsku evaluaciju radi sprečavanja širenja infekcije.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Crveni alarmi za hitan pregled: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Crvenilo oko pupka prečnika većeg od 1 cm</a:t>
            </a:r>
            <a:r>
              <a:rPr sz="1300" b="0">
                <a:solidFill>
                  <a:srgbClr val="47342E"/>
                </a:solidFill>
                <a:latin typeface="Poppins"/>
              </a:rPr>
              <a:t>, otok, </a:t>
            </a:r>
            <a:r>
              <a:rPr sz="1300" b="1">
                <a:solidFill>
                  <a:srgbClr val="47342E"/>
                </a:solidFill>
                <a:latin typeface="Poppins"/>
              </a:rPr>
              <a:t>neprijatan truležni miris</a:t>
            </a:r>
            <a:r>
              <a:rPr sz="1300" b="0">
                <a:solidFill>
                  <a:srgbClr val="47342E"/>
                </a:solidFill>
                <a:latin typeface="Poppins"/>
              </a:rPr>
              <a:t>, žućkast gnojan sekret.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Pupčani granulom:</a:t>
            </a:r>
            <a:r>
              <a:rPr sz="1300" b="0">
                <a:solidFill>
                  <a:srgbClr val="47342E"/>
                </a:solidFill>
                <a:latin typeface="Poppins"/>
              </a:rPr>
              <a:t> Crvenkasta mesnata izraslina u dnu rane nakon otpadanja koja vlaži – </a:t>
            </a:r>
            <a:r>
              <a:rPr sz="1300" b="1">
                <a:solidFill>
                  <a:srgbClr val="47342E"/>
                </a:solidFill>
                <a:latin typeface="Poppins"/>
              </a:rPr>
              <a:t>zahteva lapiziranje kod pedijatra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Stroge zabrane: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NIKADA ne vući i ne čupati patrljak na silu</a:t>
            </a:r>
            <a:r>
              <a:rPr sz="1300" b="0">
                <a:solidFill>
                  <a:srgbClr val="47342E"/>
                </a:solidFill>
                <a:latin typeface="Poppins"/>
              </a:rPr>
              <a:t>; </a:t>
            </a:r>
            <a:r>
              <a:rPr sz="1300" b="1">
                <a:solidFill>
                  <a:srgbClr val="47342E"/>
                </a:solidFill>
                <a:latin typeface="Poppins"/>
              </a:rPr>
              <a:t>zabranjeno posipanje antibiotskih praškova</a:t>
            </a:r>
            <a:r>
              <a:rPr sz="1300" b="0">
                <a:solidFill>
                  <a:srgbClr val="47342E"/>
                </a:solidFill>
                <a:latin typeface="Poppins"/>
              </a:rPr>
              <a:t> i mazanje narodnih melema.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7-14 dana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Otpadanje patrljka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9976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Octenisept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Izbor antiseptika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2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Suva nega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Zlatni standard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765535"/>
                </a:solidFill>
                <a:latin typeface="Poppins"/>
              </a:defRPr>
            </a:pPr>
            <a:r>
              <a:t>MODUL 1 • TEMA 5 • MODUL 1: HIGIJENA I NEGA</a:t>
            </a:r>
          </a:p>
        </p:txBody>
      </p:sp>
      <p:pic>
        <p:nvPicPr>
          <p:cNvPr id="4" name="Picture 3" descr="logo_horizonta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765535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9614F"/>
                </a:solidFill>
                <a:latin typeface="Poppins"/>
              </a:defRPr>
            </a:pPr>
            <a:r>
              <a:t>ROYAL NANNY AKADEMIJA • STANDARDI NEGE   |   07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47342E"/>
                </a:solidFill>
                <a:latin typeface="Libre Baskerville"/>
              </a:defRPr>
            </a:pPr>
            <a:r>
              <a:t>Nega čula: Oči, uši, nos i noktići</a:t>
            </a:r>
          </a:p>
          <a:p>
            <a:pPr>
              <a:spcBef>
                <a:spcPts val="300"/>
              </a:spcBef>
              <a:defRPr sz="1350">
                <a:solidFill>
                  <a:srgbClr val="69614F"/>
                </a:solidFill>
                <a:latin typeface="Poppins"/>
              </a:defRPr>
            </a:pPr>
            <a:r>
              <a:t>Modul 1: Higijena i nega novorođenčeta • Tema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Sterilna toaleta očiju i nosa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Čula novorođenčeta su izuzetno osetljiva i zahtevaju upotrebu sterilnih materijala bez ikakvih agresivnih ili alergogenih supstanci.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Brisanje očiju:</a:t>
            </a:r>
            <a:r>
              <a:rPr sz="1300" b="0">
                <a:solidFill>
                  <a:srgbClr val="47342E"/>
                </a:solidFill>
                <a:latin typeface="Poppins"/>
              </a:rPr>
              <a:t> Sterilna gaza natopljena </a:t>
            </a:r>
            <a:r>
              <a:rPr sz="1300" b="1">
                <a:solidFill>
                  <a:srgbClr val="47342E"/>
                </a:solidFill>
                <a:latin typeface="Poppins"/>
              </a:rPr>
              <a:t>fiziološkim rastvorom (0.9% NaCl)</a:t>
            </a:r>
            <a:r>
              <a:rPr sz="1300" b="0">
                <a:solidFill>
                  <a:srgbClr val="47342E"/>
                </a:solidFill>
                <a:latin typeface="Poppins"/>
              </a:rPr>
              <a:t>; brisati uvek </a:t>
            </a:r>
            <a:r>
              <a:rPr sz="1300" b="1">
                <a:solidFill>
                  <a:srgbClr val="47342E"/>
                </a:solidFill>
                <a:latin typeface="Poppins"/>
              </a:rPr>
              <a:t>od spoljašnjeg ugla oka ka unutrašnjem (ka nosu)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Zlatno pravilo za oči:</a:t>
            </a:r>
            <a:r>
              <a:rPr sz="1300" b="0">
                <a:solidFill>
                  <a:srgbClr val="47342E"/>
                </a:solidFill>
                <a:latin typeface="Poppins"/>
              </a:rPr>
              <a:t> Za svako oko i za svaki potez koristi se </a:t>
            </a:r>
            <a:r>
              <a:rPr sz="1300" b="1">
                <a:solidFill>
                  <a:srgbClr val="47342E"/>
                </a:solidFill>
                <a:latin typeface="Poppins"/>
              </a:rPr>
              <a:t>nova sterilna gaza</a:t>
            </a:r>
            <a:r>
              <a:rPr sz="1300" b="0">
                <a:solidFill>
                  <a:srgbClr val="47342E"/>
                </a:solidFill>
                <a:latin typeface="Poppins"/>
              </a:rPr>
              <a:t>! </a:t>
            </a:r>
            <a:r>
              <a:rPr sz="1300" b="1">
                <a:solidFill>
                  <a:srgbClr val="47342E"/>
                </a:solidFill>
                <a:latin typeface="Poppins"/>
              </a:rPr>
              <a:t>Nikada ne vraćati gazu unazad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Zabrana kamilice:</a:t>
            </a:r>
            <a:r>
              <a:rPr sz="1300" b="0">
                <a:solidFill>
                  <a:srgbClr val="47342E"/>
                </a:solidFill>
                <a:latin typeface="Poppins"/>
              </a:rPr>
              <a:t> Čaj od kamilice je </a:t>
            </a:r>
            <a:r>
              <a:rPr sz="1300" b="1">
                <a:solidFill>
                  <a:srgbClr val="47342E"/>
                </a:solidFill>
                <a:latin typeface="Poppins"/>
              </a:rPr>
              <a:t>STROGO ZABRANJEN</a:t>
            </a:r>
            <a:r>
              <a:rPr sz="1300" b="0">
                <a:solidFill>
                  <a:srgbClr val="47342E"/>
                </a:solidFill>
                <a:latin typeface="Poppins"/>
              </a:rPr>
              <a:t> jer nije sterilan, sadrži spore plesni i polen koji izazivaju </a:t>
            </a:r>
            <a:r>
              <a:rPr sz="1300" b="1">
                <a:solidFill>
                  <a:srgbClr val="47342E"/>
                </a:solidFill>
                <a:latin typeface="Poppins"/>
              </a:rPr>
              <a:t>teške konjunktivitise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Toaleta nosića:</a:t>
            </a:r>
            <a:r>
              <a:rPr sz="1300" b="0">
                <a:solidFill>
                  <a:srgbClr val="47342E"/>
                </a:solidFill>
                <a:latin typeface="Poppins"/>
              </a:rPr>
              <a:t> Nakapati </a:t>
            </a:r>
            <a:r>
              <a:rPr sz="1300" b="1">
                <a:solidFill>
                  <a:srgbClr val="47342E"/>
                </a:solidFill>
                <a:latin typeface="Poppins"/>
              </a:rPr>
              <a:t>1–2 kapi fiziološkog rastvora</a:t>
            </a:r>
            <a:r>
              <a:rPr sz="1300" b="0">
                <a:solidFill>
                  <a:srgbClr val="47342E"/>
                </a:solidFill>
                <a:latin typeface="Poppins"/>
              </a:rPr>
              <a:t> dok beba leži na boku radi razmekšavanja sekreta; aspirirati samo ako sekret ometa disanje.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Toaleta ušiju i sečenje noktića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Pravilna nega ušiju i noktića sprečava povrede nežne sluzokože i samopovređivanje lica.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Uši bez štapića:</a:t>
            </a:r>
            <a:r>
              <a:rPr sz="1300" b="0">
                <a:solidFill>
                  <a:srgbClr val="47342E"/>
                </a:solidFill>
                <a:latin typeface="Poppins"/>
              </a:rPr>
              <a:t> Brisati </a:t>
            </a:r>
            <a:r>
              <a:rPr sz="1300" b="1">
                <a:solidFill>
                  <a:srgbClr val="47342E"/>
                </a:solidFill>
                <a:latin typeface="Poppins"/>
              </a:rPr>
              <a:t>samo spoljašnju ušnu školjku</a:t>
            </a:r>
            <a:r>
              <a:rPr sz="1300" b="0">
                <a:solidFill>
                  <a:srgbClr val="47342E"/>
                </a:solidFill>
                <a:latin typeface="Poppins"/>
              </a:rPr>
              <a:t> i prevoj iza uha vlažnim tupferom; </a:t>
            </a:r>
            <a:r>
              <a:rPr sz="1300" b="1">
                <a:solidFill>
                  <a:srgbClr val="47342E"/>
                </a:solidFill>
                <a:latin typeface="Poppins"/>
              </a:rPr>
              <a:t>štapići za uši su STROGO ZABRANJENI u kanalu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Noktići u prvim nedeljama:</a:t>
            </a:r>
            <a:r>
              <a:rPr sz="1300" b="0">
                <a:solidFill>
                  <a:srgbClr val="47342E"/>
                </a:solidFill>
                <a:latin typeface="Poppins"/>
              </a:rPr>
              <a:t> U prve 2–3 nedelje se ne seku jer su srasli sa jagodicom; po potrebi staviti </a:t>
            </a:r>
            <a:r>
              <a:rPr sz="1300" b="1">
                <a:solidFill>
                  <a:srgbClr val="47342E"/>
                </a:solidFill>
                <a:latin typeface="Poppins"/>
              </a:rPr>
              <a:t>pamučne rukavice</a:t>
            </a:r>
            <a:r>
              <a:rPr sz="1300" b="0">
                <a:solidFill>
                  <a:srgbClr val="47342E"/>
                </a:solidFill>
                <a:latin typeface="Poppins"/>
              </a:rPr>
              <a:t> radi zaštite od grebanja.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Pravilno sečenje:</a:t>
            </a:r>
            <a:r>
              <a:rPr sz="1300" b="0">
                <a:solidFill>
                  <a:srgbClr val="47342E"/>
                </a:solidFill>
                <a:latin typeface="Poppins"/>
              </a:rPr>
              <a:t> Koristiti </a:t>
            </a:r>
            <a:r>
              <a:rPr sz="1300" b="1">
                <a:solidFill>
                  <a:srgbClr val="47342E"/>
                </a:solidFill>
                <a:latin typeface="Poppins"/>
              </a:rPr>
              <a:t>makazice sa zaobljenim tupim vrhom</a:t>
            </a:r>
            <a:r>
              <a:rPr sz="1300" b="0">
                <a:solidFill>
                  <a:srgbClr val="47342E"/>
                </a:solidFill>
                <a:latin typeface="Poppins"/>
              </a:rPr>
              <a:t> dok beba mirno spava; nokte seći </a:t>
            </a:r>
            <a:r>
              <a:rPr sz="1300" b="1">
                <a:solidFill>
                  <a:srgbClr val="47342E"/>
                </a:solidFill>
                <a:latin typeface="Poppins"/>
              </a:rPr>
              <a:t>ravno, nikada u krug</a:t>
            </a:r>
            <a:r>
              <a:rPr sz="1300" b="0">
                <a:solidFill>
                  <a:srgbClr val="47342E"/>
                </a:solidFill>
                <a:latin typeface="Poppins"/>
              </a:rPr>
              <a:t>, radi prevencije urastanja.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0.9% NaCl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Fiziološki rastvor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9976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Jedan potez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Jedna gaza po oku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2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0 štapića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U ušni kanal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765535"/>
                </a:solidFill>
                <a:latin typeface="Poppins"/>
              </a:defRPr>
            </a:pPr>
            <a:r>
              <a:t>MODUL 1 • TEMA 6 • MODUL 1: HIGIJENA I NEGA</a:t>
            </a:r>
          </a:p>
        </p:txBody>
      </p:sp>
      <p:pic>
        <p:nvPicPr>
          <p:cNvPr id="4" name="Picture 3" descr="logo_horizonta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765535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9614F"/>
                </a:solidFill>
                <a:latin typeface="Poppins"/>
              </a:defRPr>
            </a:pPr>
            <a:r>
              <a:t>ROYAL NANNY AKADEMIJA • STANDARDI NEGE   |   08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676656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900" b="1">
                <a:solidFill>
                  <a:srgbClr val="47342E"/>
                </a:solidFill>
                <a:latin typeface="Libre Baskerville"/>
              </a:defRPr>
            </a:pPr>
            <a:r>
              <a:t>Oblačenje bebe i prevencija pretopljavanja</a:t>
            </a:r>
          </a:p>
          <a:p>
            <a:pPr>
              <a:spcBef>
                <a:spcPts val="300"/>
              </a:spcBef>
              <a:defRPr sz="1350">
                <a:solidFill>
                  <a:srgbClr val="69614F"/>
                </a:solidFill>
                <a:latin typeface="Poppins"/>
              </a:defRPr>
            </a:pPr>
            <a:r>
              <a:t>Modul 1: Higijena i nega novorođenčeta • Tema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051560"/>
            <a:ext cx="443484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8_baby_dressin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022" y="1078992"/>
            <a:ext cx="3823411" cy="51206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1691640"/>
            <a:ext cx="2017776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bIns="73152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100%</a:t>
            </a:r>
          </a:p>
          <a:p>
            <a:pPr>
              <a:spcBef>
                <a:spcPts val="200"/>
              </a:spcBef>
              <a:defRPr sz="1000">
                <a:solidFill>
                  <a:srgbClr val="69614F"/>
                </a:solidFill>
                <a:latin typeface="Poppins"/>
              </a:defRPr>
            </a:pPr>
            <a:r>
              <a:t>Organski pamuk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691640"/>
            <a:ext cx="54864" cy="89611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77312" y="1691640"/>
            <a:ext cx="2017776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bIns="73152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+1 sloj</a:t>
            </a:r>
          </a:p>
          <a:p>
            <a:pPr>
              <a:spcBef>
                <a:spcPts val="200"/>
              </a:spcBef>
              <a:defRPr sz="1000">
                <a:solidFill>
                  <a:srgbClr val="69614F"/>
                </a:solidFill>
                <a:latin typeface="Poppins"/>
              </a:defRPr>
            </a:pPr>
            <a:r>
              <a:t>Pravilo u odnosu na odrasle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77312" y="1691640"/>
            <a:ext cx="54864" cy="89611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3104" y="1691640"/>
            <a:ext cx="2017776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bIns="73152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Potiljak</a:t>
            </a:r>
          </a:p>
          <a:p>
            <a:pPr>
              <a:spcBef>
                <a:spcPts val="200"/>
              </a:spcBef>
              <a:defRPr sz="1000">
                <a:solidFill>
                  <a:srgbClr val="69614F"/>
                </a:solidFill>
                <a:latin typeface="Poppins"/>
              </a:defRPr>
            </a:pPr>
            <a:r>
              <a:t>Mesto provere toplote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3104" y="1691640"/>
            <a:ext cx="54864" cy="89611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2715768"/>
            <a:ext cx="6309360" cy="1709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19456" tIns="164592" bIns="137160"/>
          <a:lstStyle/>
          <a:p>
            <a:pPr algn="ctr">
              <a:defRPr sz="1800" b="1">
                <a:solidFill>
                  <a:srgbClr val="765535"/>
                </a:solidFill>
                <a:latin typeface="Libre Baskerville"/>
              </a:defRPr>
            </a:pPr>
            <a:r>
              <a:t>Pravilan odabir odeće i materijala</a:t>
            </a:r>
          </a:p>
          <a:p>
            <a:pPr>
              <a:spcBef>
                <a:spcPts val="400"/>
              </a:spcBef>
              <a:defRPr sz="1400">
                <a:solidFill>
                  <a:srgbClr val="47342E"/>
                </a:solidFill>
                <a:latin typeface="Poppins"/>
              </a:defRPr>
            </a:pPr>
            <a:r>
              <a:t>Novorođenče ima nezreo centar za termoregulaciju, veliku površinu tela u odnosu na masu i tanku kožu, zbog čega lako gubi, ali i akumulira toplotu.</a:t>
            </a:r>
          </a:p>
          <a:p>
            <a:pPr>
              <a:spcBef>
                <a:spcPts val="35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100% organski pamuk:</a:t>
            </a:r>
            <a:r>
              <a:rPr sz="1300" b="0">
                <a:solidFill>
                  <a:srgbClr val="47342E"/>
                </a:solidFill>
                <a:latin typeface="Poppins"/>
              </a:rPr>
              <a:t> Odeća mora biti od </a:t>
            </a:r>
            <a:r>
              <a:rPr sz="1300" b="1">
                <a:solidFill>
                  <a:srgbClr val="47342E"/>
                </a:solidFill>
                <a:latin typeface="Poppins"/>
              </a:rPr>
              <a:t>čistog, prirodnog, prozračnog pamuka</a:t>
            </a:r>
            <a:r>
              <a:rPr sz="1300" b="0">
                <a:solidFill>
                  <a:srgbClr val="47342E"/>
                </a:solidFill>
                <a:latin typeface="Poppins"/>
              </a:rPr>
              <a:t> bez sintetike, perlica i unutrašnjih grubih etiketa.</a:t>
            </a:r>
          </a:p>
          <a:p>
            <a:pPr>
              <a:spcBef>
                <a:spcPts val="35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Praktični krojevi: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Bodići sa preklopom na grudima (na dugmiće)</a:t>
            </a:r>
            <a:r>
              <a:rPr sz="1300" b="0">
                <a:solidFill>
                  <a:srgbClr val="47342E"/>
                </a:solidFill>
                <a:latin typeface="Poppins"/>
              </a:rPr>
              <a:t> koji se ne navlače preko glave idealni su za prve nedelje nege.</a:t>
            </a:r>
          </a:p>
          <a:p>
            <a:pPr>
              <a:spcBef>
                <a:spcPts val="35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Svetli i pastelni tonovi:</a:t>
            </a:r>
            <a:r>
              <a:rPr sz="1300" b="0">
                <a:solidFill>
                  <a:srgbClr val="47342E"/>
                </a:solidFill>
                <a:latin typeface="Poppins"/>
              </a:rPr>
              <a:t> Beli i svetli tonovi omogućavaju </a:t>
            </a:r>
            <a:r>
              <a:rPr sz="1300" b="1">
                <a:solidFill>
                  <a:srgbClr val="47342E"/>
                </a:solidFill>
                <a:latin typeface="Poppins"/>
              </a:rPr>
              <a:t>pranje na visokim temperaturama (60–90°C)</a:t>
            </a:r>
            <a:r>
              <a:rPr sz="1300" b="0">
                <a:solidFill>
                  <a:srgbClr val="47342E"/>
                </a:solidFill>
                <a:latin typeface="Poppins"/>
              </a:rPr>
              <a:t> i brzo uočavanje eventualnih promena na bebi.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715768"/>
            <a:ext cx="64008" cy="1709928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553712"/>
            <a:ext cx="6309360" cy="1709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19456" tIns="164592" bIns="137160"/>
          <a:lstStyle/>
          <a:p>
            <a:pPr algn="ctr">
              <a:defRPr sz="1800" b="1">
                <a:solidFill>
                  <a:srgbClr val="765535"/>
                </a:solidFill>
                <a:latin typeface="Libre Baskerville"/>
              </a:defRPr>
            </a:pPr>
            <a:r>
              <a:t>Pravilo slojevitosti i provera toplote</a:t>
            </a:r>
          </a:p>
          <a:p>
            <a:pPr>
              <a:spcBef>
                <a:spcPts val="400"/>
              </a:spcBef>
              <a:defRPr sz="1400">
                <a:solidFill>
                  <a:srgbClr val="47342E"/>
                </a:solidFill>
                <a:latin typeface="Poppins"/>
              </a:defRPr>
            </a:pPr>
            <a:r>
              <a:t>Slojevito oblačenje omogućava brzu regulaciju temperature u skladu sa promenama u prostoru.</a:t>
            </a:r>
          </a:p>
          <a:p>
            <a:pPr>
              <a:spcBef>
                <a:spcPts val="35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Pravilo jednog sloja više:</a:t>
            </a:r>
            <a:r>
              <a:rPr sz="1300" b="0">
                <a:solidFill>
                  <a:srgbClr val="47342E"/>
                </a:solidFill>
                <a:latin typeface="Poppins"/>
              </a:rPr>
              <a:t> Uobičajeni standard je </a:t>
            </a:r>
            <a:r>
              <a:rPr sz="1300" b="1">
                <a:solidFill>
                  <a:srgbClr val="47342E"/>
                </a:solidFill>
                <a:latin typeface="Poppins"/>
              </a:rPr>
              <a:t>onoliko slojeva koliko ima odrasla osoba plus jedan tanak pamučni sloj</a:t>
            </a:r>
            <a:r>
              <a:rPr sz="1300" b="0">
                <a:solidFill>
                  <a:srgbClr val="47342E"/>
                </a:solidFill>
                <a:latin typeface="Poppins"/>
              </a:rPr>
              <a:t> (bodić + zeka).</a:t>
            </a:r>
          </a:p>
          <a:p>
            <a:pPr>
              <a:spcBef>
                <a:spcPts val="35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Gde se proverava temperatura:</a:t>
            </a:r>
            <a:r>
              <a:rPr sz="1300" b="0">
                <a:solidFill>
                  <a:srgbClr val="47342E"/>
                </a:solidFill>
                <a:latin typeface="Poppins"/>
              </a:rPr>
              <a:t> Pipati </a:t>
            </a:r>
            <a:r>
              <a:rPr sz="1300" b="1">
                <a:solidFill>
                  <a:srgbClr val="47342E"/>
                </a:solidFill>
                <a:latin typeface="Poppins"/>
              </a:rPr>
              <a:t>bebin potiljak, vrat ili grudni koš</a:t>
            </a:r>
            <a:r>
              <a:rPr sz="1300" b="0">
                <a:solidFill>
                  <a:srgbClr val="47342E"/>
                </a:solidFill>
                <a:latin typeface="Poppins"/>
              </a:rPr>
              <a:t>; koža treba da bude topla i suva. Šake i stopala su fiziološki hladniji.</a:t>
            </a:r>
          </a:p>
          <a:p>
            <a:pPr>
              <a:spcBef>
                <a:spcPts val="35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Opasnosti pretopljavanja:</a:t>
            </a:r>
            <a:r>
              <a:rPr sz="1300" b="0">
                <a:solidFill>
                  <a:srgbClr val="47342E"/>
                </a:solidFill>
                <a:latin typeface="Poppins"/>
              </a:rPr>
              <a:t> Vodi u </a:t>
            </a:r>
            <a:r>
              <a:rPr sz="1300" b="1">
                <a:solidFill>
                  <a:srgbClr val="47342E"/>
                </a:solidFill>
                <a:latin typeface="Poppins"/>
              </a:rPr>
              <a:t>dehidraciju, toplotni osip (miliaria), nervozu</a:t>
            </a:r>
            <a:r>
              <a:rPr sz="1300" b="0">
                <a:solidFill>
                  <a:srgbClr val="47342E"/>
                </a:solidFill>
                <a:latin typeface="Poppins"/>
              </a:rPr>
              <a:t> i predstavlja jedan od faktora rizika za </a:t>
            </a:r>
            <a:r>
              <a:rPr sz="1300" b="1">
                <a:solidFill>
                  <a:srgbClr val="47342E"/>
                </a:solidFill>
                <a:latin typeface="Poppins"/>
              </a:rPr>
              <a:t>SIDS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553712"/>
            <a:ext cx="64008" cy="1709928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765535"/>
                </a:solidFill>
                <a:latin typeface="Poppins"/>
              </a:defRPr>
            </a:pPr>
            <a:r>
              <a:t>MODUL 1 • TEMA 7 • MODUL 1: HIGIJENA I NEGA</a:t>
            </a:r>
          </a:p>
        </p:txBody>
      </p:sp>
      <p:pic>
        <p:nvPicPr>
          <p:cNvPr id="4" name="Picture 3" descr="logo_horizonta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765535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9614F"/>
                </a:solidFill>
                <a:latin typeface="Poppins"/>
              </a:defRPr>
            </a:pPr>
            <a:r>
              <a:t>ROYAL NANNY AKADEMIJA • STANDARDI NEGE   |   09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900" b="1">
                <a:solidFill>
                  <a:srgbClr val="47342E"/>
                </a:solidFill>
                <a:latin typeface="Libre Baskerville"/>
              </a:defRPr>
            </a:pPr>
            <a:r>
              <a:t>Položaj pri hranjenju, nošenju i spavanju</a:t>
            </a:r>
          </a:p>
          <a:p>
            <a:pPr>
              <a:spcBef>
                <a:spcPts val="300"/>
              </a:spcBef>
              <a:defRPr sz="1350">
                <a:solidFill>
                  <a:srgbClr val="69614F"/>
                </a:solidFill>
                <a:latin typeface="Poppins"/>
              </a:defRPr>
            </a:pPr>
            <a:r>
              <a:t>Modul 1: Higijena i nega novorođenčeta • Tema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Biomehanika hranjenja, nošenja i podrigivanja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Pravilni položaji rasterećuju digestivni trakt novorođenčeta, smanjuju gutanje vazduha i sprečavaju regurgitaciju.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Ugao pri hranjenju: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Polusedeći položaj pod uglom 30–45°</a:t>
            </a:r>
            <a:r>
              <a:rPr sz="1300" b="0">
                <a:solidFill>
                  <a:srgbClr val="47342E"/>
                </a:solidFill>
                <a:latin typeface="Poppins"/>
              </a:rPr>
              <a:t>; glava u ravni tela, usta i nosić slobodni za nesmetano disanje.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Ergonomsko nošenje:</a:t>
            </a:r>
            <a:r>
              <a:rPr sz="1300" b="0">
                <a:solidFill>
                  <a:srgbClr val="47342E"/>
                </a:solidFill>
                <a:latin typeface="Poppins"/>
              </a:rPr>
              <a:t> Podrška za glavicu i vrat; kičma u prirodnoj </a:t>
            </a:r>
            <a:r>
              <a:rPr sz="1300" b="1">
                <a:solidFill>
                  <a:srgbClr val="47342E"/>
                </a:solidFill>
                <a:latin typeface="Poppins"/>
              </a:rPr>
              <a:t>"C" zakrivljenosti</a:t>
            </a:r>
            <a:r>
              <a:rPr sz="1300" b="0">
                <a:solidFill>
                  <a:srgbClr val="47342E"/>
                </a:solidFill>
                <a:latin typeface="Poppins"/>
              </a:rPr>
              <a:t>, karlica u </a:t>
            </a:r>
            <a:r>
              <a:rPr sz="1300" b="1">
                <a:solidFill>
                  <a:srgbClr val="47342E"/>
                </a:solidFill>
                <a:latin typeface="Poppins"/>
              </a:rPr>
              <a:t>"M" položaju (žabica)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Tehnike podrigivanja:</a:t>
            </a:r>
            <a:r>
              <a:rPr sz="1300" b="0">
                <a:solidFill>
                  <a:srgbClr val="47342E"/>
                </a:solidFill>
                <a:latin typeface="Poppins"/>
              </a:rPr>
              <a:t> Nakon obroka držati bebu </a:t>
            </a:r>
            <a:r>
              <a:rPr sz="1300" b="1">
                <a:solidFill>
                  <a:srgbClr val="47342E"/>
                </a:solidFill>
                <a:latin typeface="Poppins"/>
              </a:rPr>
              <a:t>uspravno preko ramena</a:t>
            </a:r>
            <a:r>
              <a:rPr sz="1300" b="0">
                <a:solidFill>
                  <a:srgbClr val="47342E"/>
                </a:solidFill>
                <a:latin typeface="Poppins"/>
              </a:rPr>
              <a:t>, na krilu sa osloncem pod bradu, ili </a:t>
            </a:r>
            <a:r>
              <a:rPr sz="1300" b="1">
                <a:solidFill>
                  <a:srgbClr val="47342E"/>
                </a:solidFill>
                <a:latin typeface="Poppins"/>
              </a:rPr>
              <a:t>preko kolena uz blago tapkanje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ABC bezbedan san (Prevencija SIDS-a)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Međunarodni pedijatrijski protokol za bezbedno spavanje dramatično redukuje rizik od sindroma iznenadne smrti odojčeta.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Alone (Sama):</a:t>
            </a:r>
            <a:r>
              <a:rPr sz="1300" b="0">
                <a:solidFill>
                  <a:srgbClr val="47342E"/>
                </a:solidFill>
                <a:latin typeface="Poppins"/>
              </a:rPr>
              <a:t> Beba spava u svom krevecu u sobi roditelja/dadilje, </a:t>
            </a:r>
            <a:r>
              <a:rPr sz="1300" b="1">
                <a:solidFill>
                  <a:srgbClr val="47342E"/>
                </a:solidFill>
                <a:latin typeface="Poppins"/>
              </a:rPr>
              <a:t>bez deljenja postelje</a:t>
            </a:r>
            <a:r>
              <a:rPr sz="1300" b="0">
                <a:solidFill>
                  <a:srgbClr val="47342E"/>
                </a:solidFill>
                <a:latin typeface="Poppins"/>
              </a:rPr>
              <a:t> (prevencija pritiskanja i gušenja).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Back (Na leđima):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ISKLJUČIVO na leđima</a:t>
            </a:r>
            <a:r>
              <a:rPr sz="1300" b="0">
                <a:solidFill>
                  <a:srgbClr val="47342E"/>
                </a:solidFill>
                <a:latin typeface="Poppins"/>
              </a:rPr>
              <a:t> na ravnom čvrstom dušeku; spavanje na stomaku ili boku je </a:t>
            </a:r>
            <a:r>
              <a:rPr sz="1300" b="1">
                <a:solidFill>
                  <a:srgbClr val="47342E"/>
                </a:solidFill>
                <a:latin typeface="Poppins"/>
              </a:rPr>
              <a:t>strogo zabranjeno u prvoj godini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Crib (Prazan krevetac):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Nema jastuka, debelih jorgana, plišanih igračaka ili ogradica</a:t>
            </a:r>
            <a:r>
              <a:rPr sz="1300" b="0">
                <a:solidFill>
                  <a:srgbClr val="47342E"/>
                </a:solidFill>
                <a:latin typeface="Poppins"/>
              </a:rPr>
              <a:t> koji mogu izazvati asfiksiju.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Rotacija glavice:</a:t>
            </a:r>
            <a:r>
              <a:rPr sz="1300" b="0">
                <a:solidFill>
                  <a:srgbClr val="47342E"/>
                </a:solidFill>
                <a:latin typeface="Poppins"/>
              </a:rPr>
              <a:t> Okretati bebinu glavu </a:t>
            </a:r>
            <a:r>
              <a:rPr sz="1300" b="1">
                <a:solidFill>
                  <a:srgbClr val="47342E"/>
                </a:solidFill>
                <a:latin typeface="Poppins"/>
              </a:rPr>
              <a:t>naizmenično na levu i desnu stranu</a:t>
            </a:r>
            <a:r>
              <a:rPr sz="1300" b="0">
                <a:solidFill>
                  <a:srgbClr val="47342E"/>
                </a:solidFill>
                <a:latin typeface="Poppins"/>
              </a:rPr>
              <a:t> pri svakom spavanju radi prevencije zaravnjenja potiljka.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30-45°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Ugao pri hranjenju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9976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ABC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Zlatni standard sna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2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Leđa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Jedini položaj sna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765535"/>
                </a:solidFill>
                <a:latin typeface="Poppins"/>
              </a:defRPr>
            </a:pPr>
            <a:r>
              <a:t>MODUL 1 • TEMA 8 • MODUL 1: HIGIJENA I NEGA</a:t>
            </a:r>
          </a:p>
        </p:txBody>
      </p:sp>
      <p:pic>
        <p:nvPicPr>
          <p:cNvPr id="4" name="Picture 3" descr="logo_horizonta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765535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9614F"/>
                </a:solidFill>
                <a:latin typeface="Poppins"/>
              </a:defRPr>
            </a:pPr>
            <a:r>
              <a:t>ROYAL NANNY AKADEMIJA • STANDARDI NEGE   |   10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900" b="1">
                <a:solidFill>
                  <a:srgbClr val="47342E"/>
                </a:solidFill>
                <a:latin typeface="Libre Baskerville"/>
              </a:defRPr>
            </a:pPr>
            <a:r>
              <a:t>Higijena bebine garderobe i bebinog pribora</a:t>
            </a:r>
          </a:p>
          <a:p>
            <a:pPr>
              <a:spcBef>
                <a:spcPts val="300"/>
              </a:spcBef>
              <a:defRPr sz="1350">
                <a:solidFill>
                  <a:srgbClr val="69614F"/>
                </a:solidFill>
                <a:latin typeface="Poppins"/>
              </a:defRPr>
            </a:pPr>
            <a:r>
              <a:t>Modul 1: Higijena i nega novorođenčeta • Tema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Pravilno pranje i nega bebine garderobe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Održavanje higijene tekstila sprečava kontaktne alergije, iritaciju kože i prenošenje patogena iz spoljašnje sredine.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Pranje pre prvog nošenja:</a:t>
            </a:r>
            <a:r>
              <a:rPr sz="1300" b="0">
                <a:solidFill>
                  <a:srgbClr val="47342E"/>
                </a:solidFill>
                <a:latin typeface="Poppins"/>
              </a:rPr>
              <a:t> Svaki novi odevni komad i posteljina </a:t>
            </a:r>
            <a:r>
              <a:rPr sz="1300" b="1">
                <a:solidFill>
                  <a:srgbClr val="47342E"/>
                </a:solidFill>
                <a:latin typeface="Poppins"/>
              </a:rPr>
              <a:t>moraju se oprati i ispeglati pre prvog kontakta sa bebinom kožom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Izbor deterdženta:</a:t>
            </a:r>
            <a:r>
              <a:rPr sz="1300" b="0">
                <a:solidFill>
                  <a:srgbClr val="47342E"/>
                </a:solidFill>
                <a:latin typeface="Poppins"/>
              </a:rPr>
              <a:t> Koristiti isključivo </a:t>
            </a:r>
            <a:r>
              <a:rPr sz="1300" b="1">
                <a:solidFill>
                  <a:srgbClr val="47342E"/>
                </a:solidFill>
                <a:latin typeface="Poppins"/>
              </a:rPr>
              <a:t>dermatološki testirane tečne deterdžente za bebe (sensitive)</a:t>
            </a:r>
            <a:r>
              <a:rPr sz="1300" b="0">
                <a:solidFill>
                  <a:srgbClr val="47342E"/>
                </a:solidFill>
                <a:latin typeface="Poppins"/>
              </a:rPr>
              <a:t>, bez optičkih izbeljivača i fosfata.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Dvostruko ispiranje (Double Rinse):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Obavezno uključiti dodatni ciklus ispiranja</a:t>
            </a:r>
            <a:r>
              <a:rPr sz="1300" b="0">
                <a:solidFill>
                  <a:srgbClr val="47342E"/>
                </a:solidFill>
                <a:latin typeface="Poppins"/>
              </a:rPr>
              <a:t> kako bi se eliminisao i najmanji trag deterdženta iz vlakana.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STROGA ZABRANA OMEKŠIVAČA:</a:t>
            </a:r>
            <a:r>
              <a:rPr sz="1300" b="0">
                <a:solidFill>
                  <a:srgbClr val="47342E"/>
                </a:solidFill>
                <a:latin typeface="Poppins"/>
              </a:rPr>
              <a:t> Omekšivači su </a:t>
            </a:r>
            <a:r>
              <a:rPr sz="1300" b="1">
                <a:solidFill>
                  <a:srgbClr val="47342E"/>
                </a:solidFill>
                <a:latin typeface="Poppins"/>
              </a:rPr>
              <a:t>STROGO ZABRANJENI</a:t>
            </a:r>
            <a:r>
              <a:rPr sz="1300" b="0">
                <a:solidFill>
                  <a:srgbClr val="47342E"/>
                </a:solidFill>
                <a:latin typeface="Poppins"/>
              </a:rPr>
              <a:t> jer ostavljaju hemijski film, izazivaju </a:t>
            </a:r>
            <a:r>
              <a:rPr sz="1300" b="1">
                <a:solidFill>
                  <a:srgbClr val="47342E"/>
                </a:solidFill>
                <a:latin typeface="Poppins"/>
              </a:rPr>
              <a:t>kontaktne alergije</a:t>
            </a:r>
            <a:r>
              <a:rPr sz="1300" b="0">
                <a:solidFill>
                  <a:srgbClr val="47342E"/>
                </a:solidFill>
                <a:latin typeface="Poppins"/>
              </a:rPr>
              <a:t> i uništavaju pamuk.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Peglanje parom i sterilizacija pribora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Termička obrada tekstila i sterilizacija pribora za hranjenje obavezni su standardi u prvim mesecima života.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Peglanje sa parom:</a:t>
            </a:r>
            <a:r>
              <a:rPr sz="1300" b="0">
                <a:solidFill>
                  <a:srgbClr val="47342E"/>
                </a:solidFill>
                <a:latin typeface="Poppins"/>
              </a:rPr>
              <a:t> U prvim mesecima peglati veš </a:t>
            </a:r>
            <a:r>
              <a:rPr sz="1300" b="1">
                <a:solidFill>
                  <a:srgbClr val="47342E"/>
                </a:solidFill>
                <a:latin typeface="Poppins"/>
              </a:rPr>
              <a:t>vrelom parom sa obe strane</a:t>
            </a:r>
            <a:r>
              <a:rPr sz="1300" b="0">
                <a:solidFill>
                  <a:srgbClr val="47342E"/>
                </a:solidFill>
                <a:latin typeface="Poppins"/>
              </a:rPr>
              <a:t> radi uništavanja rezistentnih bakterija i gljivica.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Sterilizacija flašica i cucli: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Kuvanje u ključaloj vodi 5–10 minuta</a:t>
            </a:r>
            <a:r>
              <a:rPr sz="1300" b="0">
                <a:solidFill>
                  <a:srgbClr val="47342E"/>
                </a:solidFill>
                <a:latin typeface="Poppins"/>
              </a:rPr>
              <a:t> ili upotreba </a:t>
            </a:r>
            <a:r>
              <a:rPr sz="1300" b="1">
                <a:solidFill>
                  <a:srgbClr val="47342E"/>
                </a:solidFill>
                <a:latin typeface="Poppins"/>
              </a:rPr>
              <a:t>parnog sterilizatora</a:t>
            </a:r>
            <a:r>
              <a:rPr sz="1300" b="0">
                <a:solidFill>
                  <a:srgbClr val="47342E"/>
                </a:solidFill>
                <a:latin typeface="Poppins"/>
              </a:rPr>
              <a:t> nakon svakog hranjenja.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Održavanje pumpica:</a:t>
            </a:r>
            <a:r>
              <a:rPr sz="1300" b="0">
                <a:solidFill>
                  <a:srgbClr val="47342E"/>
                </a:solidFill>
                <a:latin typeface="Poppins"/>
              </a:rPr>
              <a:t> Rastaviti sve delove, </a:t>
            </a:r>
            <a:r>
              <a:rPr sz="1300" b="1">
                <a:solidFill>
                  <a:srgbClr val="47342E"/>
                </a:solidFill>
                <a:latin typeface="Poppins"/>
              </a:rPr>
              <a:t>oprati toplom vodom i namenskim deterdžentom</a:t>
            </a:r>
            <a:r>
              <a:rPr sz="1300" b="0">
                <a:solidFill>
                  <a:srgbClr val="47342E"/>
                </a:solidFill>
                <a:latin typeface="Poppins"/>
              </a:rPr>
              <a:t>, zatim sterilisati pre sledeće upotrebe.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60-90°C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Temperatura pranja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9976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2x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Ispiranje veša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2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0%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Omekšivača za veš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765535"/>
                </a:solidFill>
                <a:latin typeface="Poppins"/>
              </a:defRPr>
            </a:pPr>
            <a:r>
              <a:t>MODUL 2 • TEMA 9 • MODUL 2: DOJENJE</a:t>
            </a:r>
          </a:p>
        </p:txBody>
      </p:sp>
      <p:pic>
        <p:nvPicPr>
          <p:cNvPr id="4" name="Picture 3" descr="logo_horizonta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765535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9614F"/>
                </a:solidFill>
                <a:latin typeface="Poppins"/>
              </a:defRPr>
            </a:pPr>
            <a:r>
              <a:t>ROYAL NANNY AKADEMIJA • STANDARDI NEGE   |   11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900" b="1">
                <a:solidFill>
                  <a:srgbClr val="47342E"/>
                </a:solidFill>
                <a:latin typeface="Libre Baskerville"/>
              </a:defRPr>
            </a:pPr>
            <a:r>
              <a:t>Prednosti dojenja i biološki značaj mleka</a:t>
            </a:r>
          </a:p>
          <a:p>
            <a:pPr>
              <a:spcBef>
                <a:spcPts val="300"/>
              </a:spcBef>
              <a:defRPr sz="1350">
                <a:solidFill>
                  <a:srgbClr val="69614F"/>
                </a:solidFill>
                <a:latin typeface="Poppins"/>
              </a:defRPr>
            </a:pPr>
            <a:r>
              <a:t>Modul 2: Dojenje • Tema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Biološko savršenstvo majčinog mleka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Majčino mleko je dinamična, živa biološka tečnost čiji se sastav menja u zavisnosti od uzrasta deteta, doba dana, pa čak i tokom jednog podoja.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Kolostrum ("tečno zlato"):</a:t>
            </a:r>
            <a:r>
              <a:rPr sz="1300" b="0">
                <a:solidFill>
                  <a:srgbClr val="47342E"/>
                </a:solidFill>
                <a:latin typeface="Poppins"/>
              </a:rPr>
              <a:t> Prvo gusto žuto mleko bogato </a:t>
            </a:r>
            <a:r>
              <a:rPr sz="1300" b="1">
                <a:solidFill>
                  <a:srgbClr val="47342E"/>
                </a:solidFill>
                <a:latin typeface="Poppins"/>
              </a:rPr>
              <a:t>sekretornim IgA antitelima</a:t>
            </a:r>
            <a:r>
              <a:rPr sz="1300" b="0">
                <a:solidFill>
                  <a:srgbClr val="47342E"/>
                </a:solidFill>
                <a:latin typeface="Poppins"/>
              </a:rPr>
              <a:t>; deluje kao </a:t>
            </a:r>
            <a:r>
              <a:rPr sz="1300" b="1">
                <a:solidFill>
                  <a:srgbClr val="47342E"/>
                </a:solidFill>
                <a:latin typeface="Poppins"/>
              </a:rPr>
              <a:t>prva prirodna vakcina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Zrelo mleko:</a:t>
            </a:r>
            <a:r>
              <a:rPr sz="1300" b="0">
                <a:solidFill>
                  <a:srgbClr val="47342E"/>
                </a:solidFill>
                <a:latin typeface="Poppins"/>
              </a:rPr>
              <a:t> Sadrži idealan odnos </a:t>
            </a:r>
            <a:r>
              <a:rPr sz="1300" b="1">
                <a:solidFill>
                  <a:srgbClr val="47342E"/>
                </a:solidFill>
                <a:latin typeface="Poppins"/>
              </a:rPr>
              <a:t>vode, proteina, laktoze i esencijalnih masti (DHA/ARA)</a:t>
            </a:r>
            <a:r>
              <a:rPr sz="1300" b="0">
                <a:solidFill>
                  <a:srgbClr val="47342E"/>
                </a:solidFill>
                <a:latin typeface="Poppins"/>
              </a:rPr>
              <a:t> neophodnih za razvoj mozga i mrežnjače.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Imunološki štit:</a:t>
            </a:r>
            <a:r>
              <a:rPr sz="1300" b="0">
                <a:solidFill>
                  <a:srgbClr val="47342E"/>
                </a:solidFill>
                <a:latin typeface="Poppins"/>
              </a:rPr>
              <a:t> Dokazano smanjuje rizik od </a:t>
            </a:r>
            <a:r>
              <a:rPr sz="1300" b="1">
                <a:solidFill>
                  <a:srgbClr val="47342E"/>
                </a:solidFill>
                <a:latin typeface="Poppins"/>
              </a:rPr>
              <a:t>respiratornih infekcija, stomačnih virusa, ekcema, dijabetesa i SIDS-a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Zdravstvene i emotivne prednosti za majku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Laktacija pokreće kaskadu neuroendokrinih procesa koji štite zdravlje majke i podržavaju psihički oporavak.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Involucija materice:</a:t>
            </a:r>
            <a:r>
              <a:rPr sz="1300" b="0">
                <a:solidFill>
                  <a:srgbClr val="47342E"/>
                </a:solidFill>
                <a:latin typeface="Poppins"/>
              </a:rPr>
              <a:t> Sisanje stimuliše </a:t>
            </a:r>
            <a:r>
              <a:rPr sz="1300" b="1">
                <a:solidFill>
                  <a:srgbClr val="47342E"/>
                </a:solidFill>
                <a:latin typeface="Poppins"/>
              </a:rPr>
              <a:t>lučenje oksitocina</a:t>
            </a:r>
            <a:r>
              <a:rPr sz="1300" b="0">
                <a:solidFill>
                  <a:srgbClr val="47342E"/>
                </a:solidFill>
                <a:latin typeface="Poppins"/>
              </a:rPr>
              <a:t>, što ubrzava skupljanje materice i smanjuje postporođajno krvarenje.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Onkološka zaštita:</a:t>
            </a:r>
            <a:r>
              <a:rPr sz="1300" b="0">
                <a:solidFill>
                  <a:srgbClr val="47342E"/>
                </a:solidFill>
                <a:latin typeface="Poppins"/>
              </a:rPr>
              <a:t> Dugoročno dojenje dokazano </a:t>
            </a:r>
            <a:r>
              <a:rPr sz="1300" b="1">
                <a:solidFill>
                  <a:srgbClr val="47342E"/>
                </a:solidFill>
                <a:latin typeface="Poppins"/>
              </a:rPr>
              <a:t>smanjuje rizik od karcinoma dojke i jajnika</a:t>
            </a:r>
            <a:r>
              <a:rPr sz="1300" b="0">
                <a:solidFill>
                  <a:srgbClr val="47342E"/>
                </a:solidFill>
                <a:latin typeface="Poppins"/>
              </a:rPr>
              <a:t> kod majke.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Povezivanje i smirenje: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Kontakt koža na kožu</a:t>
            </a:r>
            <a:r>
              <a:rPr sz="1300" b="0">
                <a:solidFill>
                  <a:srgbClr val="47342E"/>
                </a:solidFill>
                <a:latin typeface="Poppins"/>
              </a:rPr>
              <a:t> i dojenje podstiču lučenje endorfina i stvaraju </a:t>
            </a:r>
            <a:r>
              <a:rPr sz="1300" b="1">
                <a:solidFill>
                  <a:srgbClr val="47342E"/>
                </a:solidFill>
                <a:latin typeface="Poppins"/>
              </a:rPr>
              <a:t>neraskidivu emotivnu vezu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IgA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Sekretorna antitela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9976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6 meseci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Ekskluzivno dojenje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2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100%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Prirodna adaptacija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765535"/>
                </a:solidFill>
                <a:latin typeface="Poppins"/>
              </a:defRPr>
            </a:pPr>
            <a:r>
              <a:t>MODUL 2 • TEMA 10 • MODUL 2: DOJENJE</a:t>
            </a:r>
          </a:p>
        </p:txBody>
      </p:sp>
      <p:pic>
        <p:nvPicPr>
          <p:cNvPr id="4" name="Picture 3" descr="logo_horizonta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765535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9614F"/>
                </a:solidFill>
                <a:latin typeface="Poppins"/>
              </a:defRPr>
            </a:pPr>
            <a:r>
              <a:t>ROYAL NANNY AKADEMIJA • STANDARDI NEGE   |   12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47342E"/>
                </a:solidFill>
                <a:latin typeface="Libre Baskerville"/>
              </a:defRPr>
            </a:pPr>
            <a:r>
              <a:t>Higijena i nega dojki tokom laktacije</a:t>
            </a:r>
          </a:p>
          <a:p>
            <a:pPr>
              <a:spcBef>
                <a:spcPts val="300"/>
              </a:spcBef>
              <a:defRPr sz="1350">
                <a:solidFill>
                  <a:srgbClr val="69614F"/>
                </a:solidFill>
                <a:latin typeface="Poppins"/>
              </a:defRPr>
            </a:pPr>
            <a:r>
              <a:t>Modul 2: Dojenje • Tema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Pravilna svakodnevna higijena dojki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Prirodna fiziologija areole obezbeđuje optimalnu zaštitu bez potrebe za agresivnim hemijskim preparatima.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Pranje isključivo mlakom vodom:</a:t>
            </a:r>
            <a:r>
              <a:rPr sz="1300" b="0">
                <a:solidFill>
                  <a:srgbClr val="47342E"/>
                </a:solidFill>
                <a:latin typeface="Poppins"/>
              </a:rPr>
              <a:t> Dojke se peru </a:t>
            </a:r>
            <a:r>
              <a:rPr sz="1300" b="1">
                <a:solidFill>
                  <a:srgbClr val="47342E"/>
                </a:solidFill>
                <a:latin typeface="Poppins"/>
              </a:rPr>
              <a:t>isključivo čistom mlakom vodom jednom dnevno</a:t>
            </a:r>
            <a:r>
              <a:rPr sz="1300" b="0">
                <a:solidFill>
                  <a:srgbClr val="47342E"/>
                </a:solidFill>
                <a:latin typeface="Poppins"/>
              </a:rPr>
              <a:t> tokom redovnog tuširanja.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STROGA ZABRANA SAPUNA I ALKOHOLA:</a:t>
            </a:r>
            <a:r>
              <a:rPr sz="1300" b="0">
                <a:solidFill>
                  <a:srgbClr val="47342E"/>
                </a:solidFill>
                <a:latin typeface="Poppins"/>
              </a:rPr>
              <a:t> Sapun, alkohol i dezinficijensi su </a:t>
            </a:r>
            <a:r>
              <a:rPr sz="1300" b="1">
                <a:solidFill>
                  <a:srgbClr val="47342E"/>
                </a:solidFill>
                <a:latin typeface="Poppins"/>
              </a:rPr>
              <a:t>STROGO ZABRANJENI</a:t>
            </a:r>
            <a:r>
              <a:rPr sz="1300" b="0">
                <a:solidFill>
                  <a:srgbClr val="47342E"/>
                </a:solidFill>
                <a:latin typeface="Poppins"/>
              </a:rPr>
              <a:t> jer skidaju prirodni zaštitni lipidni sloj i izazivaju bolne pukotine.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Prirodni miris areole: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Montgomerijeve žlezde</a:t>
            </a:r>
            <a:r>
              <a:rPr sz="1300" b="0">
                <a:solidFill>
                  <a:srgbClr val="47342E"/>
                </a:solidFill>
                <a:latin typeface="Poppins"/>
              </a:rPr>
              <a:t> luče sekret koji prirodno dezinfikuje areolu i svojim mirisom </a:t>
            </a:r>
            <a:r>
              <a:rPr sz="1300" b="1">
                <a:solidFill>
                  <a:srgbClr val="47342E"/>
                </a:solidFill>
                <a:latin typeface="Poppins"/>
              </a:rPr>
              <a:t>usmerava bebu ka dojci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Nega bradavica i odabir grudnjaka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Pravilna preventivna nega bradavica čuva elastičnost tkiva i sprečava pojavu mikrotrauma.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Zlatne kapi mleka:</a:t>
            </a:r>
            <a:r>
              <a:rPr sz="1300" b="0">
                <a:solidFill>
                  <a:srgbClr val="47342E"/>
                </a:solidFill>
                <a:latin typeface="Poppins"/>
              </a:rPr>
              <a:t> Nakon svakog podoja </a:t>
            </a:r>
            <a:r>
              <a:rPr sz="1300" b="1">
                <a:solidFill>
                  <a:srgbClr val="47342E"/>
                </a:solidFill>
                <a:latin typeface="Poppins"/>
              </a:rPr>
              <a:t>istisnuti kap-dve sopstvenog mleka</a:t>
            </a:r>
            <a:r>
              <a:rPr sz="1300" b="0">
                <a:solidFill>
                  <a:srgbClr val="47342E"/>
                </a:solidFill>
                <a:latin typeface="Poppins"/>
              </a:rPr>
              <a:t> i premazati bradavicu i areolu radi bržeg zarastanja.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Udoban pamučni grudnjak:</a:t>
            </a:r>
            <a:r>
              <a:rPr sz="1300" b="0">
                <a:solidFill>
                  <a:srgbClr val="47342E"/>
                </a:solidFill>
                <a:latin typeface="Poppins"/>
              </a:rPr>
              <a:t> Grudnjaci za dojenje od </a:t>
            </a:r>
            <a:r>
              <a:rPr sz="1300" b="1">
                <a:solidFill>
                  <a:srgbClr val="47342E"/>
                </a:solidFill>
                <a:latin typeface="Poppins"/>
              </a:rPr>
              <a:t>čistog pamuka bez žice</a:t>
            </a:r>
            <a:r>
              <a:rPr sz="1300" b="0">
                <a:solidFill>
                  <a:srgbClr val="47342E"/>
                </a:solidFill>
                <a:latin typeface="Poppins"/>
              </a:rPr>
              <a:t>; ne smeju pritiskati dojke niti izazivati zastoj mleka.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Redovna promena tufera:</a:t>
            </a:r>
            <a:r>
              <a:rPr sz="1300" b="0">
                <a:solidFill>
                  <a:srgbClr val="47342E"/>
                </a:solidFill>
                <a:latin typeface="Poppins"/>
              </a:rPr>
              <a:t> Vlažni tuferi stvaraju toplu i vlažnu sredinu pogodnu za gljivice; </a:t>
            </a:r>
            <a:r>
              <a:rPr sz="1300" b="1">
                <a:solidFill>
                  <a:srgbClr val="47342E"/>
                </a:solidFill>
                <a:latin typeface="Poppins"/>
              </a:rPr>
              <a:t>menjati tufere čim postanu vlažni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Samo voda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Pranje bradavica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9976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0 sapuna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Pre podoja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2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100%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Pamučni tuferi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765535"/>
                </a:solidFill>
                <a:latin typeface="Poppins"/>
              </a:defRPr>
            </a:pPr>
            <a:r>
              <a:t>MODUL 2 • TEMA 11 • MODUL 2: DOJENJE</a:t>
            </a:r>
          </a:p>
        </p:txBody>
      </p:sp>
      <p:pic>
        <p:nvPicPr>
          <p:cNvPr id="4" name="Picture 3" descr="logo_horizonta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765535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9614F"/>
                </a:solidFill>
                <a:latin typeface="Poppins"/>
              </a:defRPr>
            </a:pPr>
            <a:r>
              <a:t>ROYAL NANNY AKADEMIJA • STANDARDI NEGE   |   13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900" b="1">
                <a:solidFill>
                  <a:srgbClr val="47342E"/>
                </a:solidFill>
                <a:latin typeface="Libre Baskerville"/>
              </a:defRPr>
            </a:pPr>
            <a:r>
              <a:t>Priprema dojki za podoj: Let-down protokol</a:t>
            </a:r>
          </a:p>
          <a:p>
            <a:pPr>
              <a:spcBef>
                <a:spcPts val="300"/>
              </a:spcBef>
              <a:defRPr sz="1350">
                <a:solidFill>
                  <a:srgbClr val="69614F"/>
                </a:solidFill>
                <a:latin typeface="Poppins"/>
              </a:defRPr>
            </a:pPr>
            <a:r>
              <a:t>Modul 2: Dojenje • Tema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Termoterapija i stimulacija protoka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Priprema tkiva dojke neposredno pre podoja olakšava izlazak mleka i smanjuje nelagodnost kod prepunjenih dojki.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Topla vlažna obloga:</a:t>
            </a:r>
            <a:r>
              <a:rPr sz="1300" b="0">
                <a:solidFill>
                  <a:srgbClr val="47342E"/>
                </a:solidFill>
                <a:latin typeface="Poppins"/>
              </a:rPr>
              <a:t> Pre podoja staviti </a:t>
            </a:r>
            <a:r>
              <a:rPr sz="1300" b="1">
                <a:solidFill>
                  <a:srgbClr val="47342E"/>
                </a:solidFill>
                <a:latin typeface="Poppins"/>
              </a:rPr>
              <a:t>toplu pelenu 3–5 minuta</a:t>
            </a:r>
            <a:r>
              <a:rPr sz="1300" b="0">
                <a:solidFill>
                  <a:srgbClr val="47342E"/>
                </a:solidFill>
                <a:latin typeface="Poppins"/>
              </a:rPr>
              <a:t> ili se istuširati toplom vodom radi </a:t>
            </a:r>
            <a:r>
              <a:rPr sz="1300" b="1">
                <a:solidFill>
                  <a:srgbClr val="47342E"/>
                </a:solidFill>
                <a:latin typeface="Poppins"/>
              </a:rPr>
              <a:t>širenja mlečnih kanala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Masaža dojki (pokreti maženja):</a:t>
            </a:r>
            <a:r>
              <a:rPr sz="1300" b="0">
                <a:solidFill>
                  <a:srgbClr val="47342E"/>
                </a:solidFill>
                <a:latin typeface="Poppins"/>
              </a:rPr>
              <a:t> Nežni kružni pokreti jagodicama prstiju </a:t>
            </a:r>
            <a:r>
              <a:rPr sz="1300" b="1">
                <a:solidFill>
                  <a:srgbClr val="47342E"/>
                </a:solidFill>
                <a:latin typeface="Poppins"/>
              </a:rPr>
              <a:t>od baze dojke ka bradavici</a:t>
            </a:r>
            <a:r>
              <a:rPr sz="1300" b="0">
                <a:solidFill>
                  <a:srgbClr val="47342E"/>
                </a:solidFill>
                <a:latin typeface="Poppins"/>
              </a:rPr>
              <a:t> stimulišu protok mleka.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Protresanje dojki:</a:t>
            </a:r>
            <a:r>
              <a:rPr sz="1300" b="0">
                <a:solidFill>
                  <a:srgbClr val="47342E"/>
                </a:solidFill>
                <a:latin typeface="Poppins"/>
              </a:rPr>
              <a:t> Blago naginjanje napred i lagano protresanje dojki </a:t>
            </a:r>
            <a:r>
              <a:rPr sz="1300" b="1">
                <a:solidFill>
                  <a:srgbClr val="47342E"/>
                </a:solidFill>
                <a:latin typeface="Poppins"/>
              </a:rPr>
              <a:t>koristi gravitaciju za pokretanje mleka</a:t>
            </a:r>
            <a:r>
              <a:rPr sz="1300" b="0">
                <a:solidFill>
                  <a:srgbClr val="47342E"/>
                </a:solidFill>
                <a:latin typeface="Poppins"/>
              </a:rPr>
              <a:t> ka sinusima.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Psihološko opuštanje i refleks otpuštanja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Refleks otpuštanja mleka (let-down) je primarno neurohumoralni refleks koji direktno zavisi od emocionalnog stanja majke.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Oksitocin – hormon otpuštanja:</a:t>
            </a:r>
            <a:r>
              <a:rPr sz="1300" b="0">
                <a:solidFill>
                  <a:srgbClr val="47342E"/>
                </a:solidFill>
                <a:latin typeface="Poppins"/>
              </a:rPr>
              <a:t> Stres, bol i nervoza blokiraju let-down; </a:t>
            </a:r>
            <a:r>
              <a:rPr sz="1300" b="1">
                <a:solidFill>
                  <a:srgbClr val="47342E"/>
                </a:solidFill>
                <a:latin typeface="Poppins"/>
              </a:rPr>
              <a:t>smirenost majke i podrška dadilje</a:t>
            </a:r>
            <a:r>
              <a:rPr sz="1300" b="0">
                <a:solidFill>
                  <a:srgbClr val="47342E"/>
                </a:solidFill>
                <a:latin typeface="Poppins"/>
              </a:rPr>
              <a:t> direktno pojačavaju mlaz mleka.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Ritual opuštanja: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Čaša tople vode ili čaja pre podoja</a:t>
            </a:r>
            <a:r>
              <a:rPr sz="1300" b="0">
                <a:solidFill>
                  <a:srgbClr val="47342E"/>
                </a:solidFill>
                <a:latin typeface="Poppins"/>
              </a:rPr>
              <a:t>, udoban položaj sa osloncem za leđa i ruke, smiren ambijent bez žurbe.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Senzorna stimulacija: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Gledanje u bebu, mirisanje bebine kapice</a:t>
            </a:r>
            <a:r>
              <a:rPr sz="1300" b="0">
                <a:solidFill>
                  <a:srgbClr val="47342E"/>
                </a:solidFill>
                <a:latin typeface="Poppins"/>
              </a:rPr>
              <a:t> i kontakt koža na kožu trenutno aktiviraju refleks otpuštanja mleka.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Oksitocin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Hormon otpuštanja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9976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3-5 min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Topla termoterapija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2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Omekšavanje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Edem areole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765535"/>
                </a:solidFill>
                <a:latin typeface="Poppins"/>
              </a:defRPr>
            </a:pPr>
            <a:r>
              <a:t>MODUL 2 • TEMA 12 • MODUL 2: DOJENJE</a:t>
            </a:r>
          </a:p>
        </p:txBody>
      </p:sp>
      <p:pic>
        <p:nvPicPr>
          <p:cNvPr id="4" name="Picture 3" descr="logo_horizonta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765535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9614F"/>
                </a:solidFill>
                <a:latin typeface="Poppins"/>
              </a:defRPr>
            </a:pPr>
            <a:r>
              <a:t>ROYAL NANNY AKADEMIJA • STANDARDI NEGE   |   14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900" b="1">
                <a:solidFill>
                  <a:srgbClr val="47342E"/>
                </a:solidFill>
                <a:latin typeface="Libre Baskerville"/>
              </a:defRPr>
            </a:pPr>
            <a:r>
              <a:t>Položaji pri dojenju: Ergonomija za majku i bebu</a:t>
            </a:r>
          </a:p>
          <a:p>
            <a:pPr>
              <a:spcBef>
                <a:spcPts val="300"/>
              </a:spcBef>
              <a:defRPr sz="1350">
                <a:solidFill>
                  <a:srgbClr val="69614F"/>
                </a:solidFill>
                <a:latin typeface="Poppins"/>
              </a:defRPr>
            </a:pPr>
            <a:r>
              <a:t>Modul 2: Dojenje • Tema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Kolevka i unakrsna kolevka (Cradle / Cross-cradle)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Pravilna ergonomija položaja štiti kičmu majke i omogućava bebi nesmetano disanje i gutanje.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Položaj kolevke (Cradle):</a:t>
            </a:r>
            <a:r>
              <a:rPr sz="1300" b="0">
                <a:solidFill>
                  <a:srgbClr val="47342E"/>
                </a:solidFill>
                <a:latin typeface="Poppins"/>
              </a:rPr>
              <a:t> Klasičan položaj; bebin trup je </a:t>
            </a:r>
            <a:r>
              <a:rPr sz="1300" b="1">
                <a:solidFill>
                  <a:srgbClr val="47342E"/>
                </a:solidFill>
                <a:latin typeface="Poppins"/>
              </a:rPr>
              <a:t>okrenut stomak na stomak sa majkom</a:t>
            </a:r>
            <a:r>
              <a:rPr sz="1300" b="0">
                <a:solidFill>
                  <a:srgbClr val="47342E"/>
                </a:solidFill>
                <a:latin typeface="Poppins"/>
              </a:rPr>
              <a:t>, uho, rame i kuk su u istoj ravni.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Unakrsna kolevka (Cross-cradle):</a:t>
            </a:r>
            <a:r>
              <a:rPr sz="1300" b="0">
                <a:solidFill>
                  <a:srgbClr val="47342E"/>
                </a:solidFill>
                <a:latin typeface="Poppins"/>
              </a:rPr>
              <a:t> Suprotna ruka pridržava bebinu bazu glave; </a:t>
            </a:r>
            <a:r>
              <a:rPr sz="1300" b="1">
                <a:solidFill>
                  <a:srgbClr val="47342E"/>
                </a:solidFill>
                <a:latin typeface="Poppins"/>
              </a:rPr>
              <a:t>idealan položaj za učenje i postizanje dubokog hvata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Pravilo nos-bradavica:</a:t>
            </a:r>
            <a:r>
              <a:rPr sz="1300" b="0">
                <a:solidFill>
                  <a:srgbClr val="47342E"/>
                </a:solidFill>
                <a:latin typeface="Poppins"/>
              </a:rPr>
              <a:t> Bebin nosić je </a:t>
            </a:r>
            <a:r>
              <a:rPr sz="1300" b="1">
                <a:solidFill>
                  <a:srgbClr val="47342E"/>
                </a:solidFill>
                <a:latin typeface="Poppins"/>
              </a:rPr>
              <a:t>u visini bradavice pre nego što otvori usta</a:t>
            </a:r>
            <a:r>
              <a:rPr sz="1300" b="0">
                <a:solidFill>
                  <a:srgbClr val="47342E"/>
                </a:solidFill>
                <a:latin typeface="Poppins"/>
              </a:rPr>
              <a:t>, tako da glava ide u blagu ekstenziju unazad.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Fudbalska lopta (Ragbi hvat) i bočni položaj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Alternativni položaji pružaju rasterećenje abdominalnog zida i omogućavaju efikasnije pražnjenje lateralnih delova dojke.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Fudbalska lopta (Ragbi hvat):</a:t>
            </a:r>
            <a:r>
              <a:rPr sz="1300" b="0">
                <a:solidFill>
                  <a:srgbClr val="47342E"/>
                </a:solidFill>
                <a:latin typeface="Poppins"/>
              </a:rPr>
              <a:t> Beba podvučena pod majčin pazuh; </a:t>
            </a:r>
            <a:r>
              <a:rPr sz="1300" b="1">
                <a:solidFill>
                  <a:srgbClr val="47342E"/>
                </a:solidFill>
                <a:latin typeface="Poppins"/>
              </a:rPr>
              <a:t>idealan za mame nakon carskog reza, blizance i prepunjene dojke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Ležeći položaj na boku:</a:t>
            </a:r>
            <a:r>
              <a:rPr sz="1300" b="0">
                <a:solidFill>
                  <a:srgbClr val="47342E"/>
                </a:solidFill>
                <a:latin typeface="Poppins"/>
              </a:rPr>
              <a:t> Majka i beba leže okrenute jedna ka drugoj; </a:t>
            </a:r>
            <a:r>
              <a:rPr sz="1300" b="1">
                <a:solidFill>
                  <a:srgbClr val="47342E"/>
                </a:solidFill>
                <a:latin typeface="Poppins"/>
              </a:rPr>
              <a:t>omogućava odmor majci tokom noćnih podoja</a:t>
            </a:r>
            <a:r>
              <a:rPr sz="1300" b="0">
                <a:solidFill>
                  <a:srgbClr val="47342E"/>
                </a:solidFill>
                <a:latin typeface="Poppins"/>
              </a:rPr>
              <a:t> bez pritiska na ranu.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Uspravan biološki položaj (Laid-back):</a:t>
            </a:r>
            <a:r>
              <a:rPr sz="1300" b="0">
                <a:solidFill>
                  <a:srgbClr val="47342E"/>
                </a:solidFill>
                <a:latin typeface="Poppins"/>
              </a:rPr>
              <a:t> Majka poluleži zavaljena pod uglom od 45°; </a:t>
            </a:r>
            <a:r>
              <a:rPr sz="1300" b="1">
                <a:solidFill>
                  <a:srgbClr val="47342E"/>
                </a:solidFill>
                <a:latin typeface="Poppins"/>
              </a:rPr>
              <a:t>beba leži na njenom telu i koristi urođene reflekse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4 ključna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Osnovna položaja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9976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0 naprezanja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Ergonomija majke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2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Stomak-na-stomak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Orijentacija tela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765535"/>
                </a:solidFill>
                <a:latin typeface="Poppins"/>
              </a:defRPr>
            </a:pPr>
            <a:r>
              <a:t>MODUL 2 • TEMA 13 • MODUL 2: DOJENJE</a:t>
            </a:r>
          </a:p>
        </p:txBody>
      </p:sp>
      <p:pic>
        <p:nvPicPr>
          <p:cNvPr id="4" name="Picture 3" descr="logo_horizonta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765535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9614F"/>
                </a:solidFill>
                <a:latin typeface="Poppins"/>
              </a:defRPr>
            </a:pPr>
            <a:r>
              <a:t>ROYAL NANNY AKADEMIJA • STANDARDI NEGE   |   15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900" b="1">
                <a:solidFill>
                  <a:srgbClr val="47342E"/>
                </a:solidFill>
                <a:latin typeface="Libre Baskerville"/>
              </a:defRPr>
            </a:pPr>
            <a:r>
              <a:t>Pravilno postavljanje bebe na dojku (Asimetrični hvat)</a:t>
            </a:r>
          </a:p>
          <a:p>
            <a:pPr>
              <a:spcBef>
                <a:spcPts val="300"/>
              </a:spcBef>
              <a:defRPr sz="1350">
                <a:solidFill>
                  <a:srgbClr val="69614F"/>
                </a:solidFill>
                <a:latin typeface="Poppins"/>
              </a:defRPr>
            </a:pPr>
            <a:r>
              <a:t>Modul 2: Dojenje • Tema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Biomehanika asimetričnog hvata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Asimetrični hvat omogućava bradavici da uđe duboko u meko nepce gde je zaštićena od pritiska tvrdog nepca i desni.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Asimetrični hvat:</a:t>
            </a:r>
            <a:r>
              <a:rPr sz="1300" b="0">
                <a:solidFill>
                  <a:srgbClr val="47342E"/>
                </a:solidFill>
                <a:latin typeface="Poppins"/>
              </a:rPr>
              <a:t> Bradavica je usmerena </a:t>
            </a:r>
            <a:r>
              <a:rPr sz="1300" b="1">
                <a:solidFill>
                  <a:srgbClr val="47342E"/>
                </a:solidFill>
                <a:latin typeface="Poppins"/>
              </a:rPr>
              <a:t>ka bebinom nosiću</a:t>
            </a:r>
            <a:r>
              <a:rPr sz="1300" b="0">
                <a:solidFill>
                  <a:srgbClr val="47342E"/>
                </a:solidFill>
                <a:latin typeface="Poppins"/>
              </a:rPr>
              <a:t>; beba prvo donjom usnom zahvata </a:t>
            </a:r>
            <a:r>
              <a:rPr sz="1300" b="1">
                <a:solidFill>
                  <a:srgbClr val="47342E"/>
                </a:solidFill>
                <a:latin typeface="Poppins"/>
              </a:rPr>
              <a:t>znatno veći deo areole odozdo</a:t>
            </a:r>
            <a:r>
              <a:rPr sz="1300" b="0">
                <a:solidFill>
                  <a:srgbClr val="47342E"/>
                </a:solidFill>
                <a:latin typeface="Poppins"/>
              </a:rPr>
              <a:t> nego odozgo.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Široko otvorena usta:</a:t>
            </a:r>
            <a:r>
              <a:rPr sz="1300" b="0">
                <a:solidFill>
                  <a:srgbClr val="47342E"/>
                </a:solidFill>
                <a:latin typeface="Poppins"/>
              </a:rPr>
              <a:t> Sačekati da beba otvori usta </a:t>
            </a:r>
            <a:r>
              <a:rPr sz="1300" b="1">
                <a:solidFill>
                  <a:srgbClr val="47342E"/>
                </a:solidFill>
                <a:latin typeface="Poppins"/>
              </a:rPr>
              <a:t>pod uglom većim od 130–140°</a:t>
            </a:r>
            <a:r>
              <a:rPr sz="1300" b="0">
                <a:solidFill>
                  <a:srgbClr val="47342E"/>
                </a:solidFill>
                <a:latin typeface="Poppins"/>
              </a:rPr>
              <a:t> (kao pri zevanju); doticati bebinu gornju usnu bradavicom.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Privlačenje bebe dojci:</a:t>
            </a:r>
            <a:r>
              <a:rPr sz="1300" b="0">
                <a:solidFill>
                  <a:srgbClr val="47342E"/>
                </a:solidFill>
                <a:latin typeface="Poppins"/>
              </a:rPr>
              <a:t> Beba se </a:t>
            </a:r>
            <a:r>
              <a:rPr sz="1300" b="1">
                <a:solidFill>
                  <a:srgbClr val="47342E"/>
                </a:solidFill>
                <a:latin typeface="Poppins"/>
              </a:rPr>
              <a:t>brzim i odlučnim pokretom privlači ka dojci</a:t>
            </a:r>
            <a:r>
              <a:rPr sz="1300" b="0">
                <a:solidFill>
                  <a:srgbClr val="47342E"/>
                </a:solidFill>
                <a:latin typeface="Poppins"/>
              </a:rPr>
              <a:t>, a nikada se dojka ne gura u bebina poluotvorena usta!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Znaci pravilnog i efikasnog podoja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Efikasan podoj se prepoznaje po spoljašnjim vizuelnim znacima i zvučnim potvrdama gutanja mleka.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Riblja usta:</a:t>
            </a:r>
            <a:r>
              <a:rPr sz="1300" b="0">
                <a:solidFill>
                  <a:srgbClr val="47342E"/>
                </a:solidFill>
                <a:latin typeface="Poppins"/>
              </a:rPr>
              <a:t> Donja i gornja usna su </a:t>
            </a:r>
            <a:r>
              <a:rPr sz="1300" b="1">
                <a:solidFill>
                  <a:srgbClr val="47342E"/>
                </a:solidFill>
                <a:latin typeface="Poppins"/>
              </a:rPr>
              <a:t>široko izvrnute ka spolja</a:t>
            </a:r>
            <a:r>
              <a:rPr sz="1300" b="0">
                <a:solidFill>
                  <a:srgbClr val="47342E"/>
                </a:solidFill>
                <a:latin typeface="Poppins"/>
              </a:rPr>
              <a:t>; bradavica i veći deo areole su duboko u bebinim ustima.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Brada uvučena u dojku:</a:t>
            </a:r>
            <a:r>
              <a:rPr sz="1300" b="0">
                <a:solidFill>
                  <a:srgbClr val="47342E"/>
                </a:solidFill>
                <a:latin typeface="Poppins"/>
              </a:rPr>
              <a:t> Bebina brada </a:t>
            </a:r>
            <a:r>
              <a:rPr sz="1300" b="1">
                <a:solidFill>
                  <a:srgbClr val="47342E"/>
                </a:solidFill>
                <a:latin typeface="Poppins"/>
              </a:rPr>
              <a:t>čvrsto dodiruje dojku</a:t>
            </a:r>
            <a:r>
              <a:rPr sz="1300" b="0">
                <a:solidFill>
                  <a:srgbClr val="47342E"/>
                </a:solidFill>
                <a:latin typeface="Poppins"/>
              </a:rPr>
              <a:t>, dok je nosić slobodan za disanje; obrazi su puni i zaobljeni.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Čujno gutanje bez bola:</a:t>
            </a:r>
            <a:r>
              <a:rPr sz="1300" b="0">
                <a:solidFill>
                  <a:srgbClr val="47342E"/>
                </a:solidFill>
                <a:latin typeface="Poppins"/>
              </a:rPr>
              <a:t> Čuje se ritmičan zvuk gutanja ("ka-gut"); </a:t>
            </a:r>
            <a:r>
              <a:rPr sz="1300" b="1">
                <a:solidFill>
                  <a:srgbClr val="47342E"/>
                </a:solidFill>
                <a:latin typeface="Poppins"/>
              </a:rPr>
              <a:t>pravilan podoj je potpuno bezbolan</a:t>
            </a:r>
            <a:r>
              <a:rPr sz="1300" b="0">
                <a:solidFill>
                  <a:srgbClr val="47342E"/>
                </a:solidFill>
                <a:latin typeface="Poppins"/>
              </a:rPr>
              <a:t> nakon prvih par sekundi.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140°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Ugao otvaranja usta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9976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Asimetrija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Donja areola u ustima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2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Bez bola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Glavni indikator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765535"/>
                </a:solidFill>
                <a:latin typeface="Poppins"/>
              </a:defRPr>
            </a:pPr>
            <a:r>
              <a:t>MODUL 2 • TEMA 14 • MODUL 2: DOJENJE</a:t>
            </a:r>
          </a:p>
        </p:txBody>
      </p:sp>
      <p:pic>
        <p:nvPicPr>
          <p:cNvPr id="4" name="Picture 3" descr="logo_horizonta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765535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9614F"/>
                </a:solidFill>
                <a:latin typeface="Poppins"/>
              </a:defRPr>
            </a:pPr>
            <a:r>
              <a:t>ROYAL NANNY AKADEMIJA • STANDARDI NEGE   |   16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900" b="1">
                <a:solidFill>
                  <a:srgbClr val="47342E"/>
                </a:solidFill>
                <a:latin typeface="Libre Baskerville"/>
              </a:defRPr>
            </a:pPr>
            <a:r>
              <a:t>Ispucale bradavice (Ragade): Prevencija i tretman</a:t>
            </a:r>
          </a:p>
          <a:p>
            <a:pPr>
              <a:spcBef>
                <a:spcPts val="300"/>
              </a:spcBef>
              <a:defRPr sz="1350">
                <a:solidFill>
                  <a:srgbClr val="69614F"/>
                </a:solidFill>
                <a:latin typeface="Poppins"/>
              </a:defRPr>
            </a:pPr>
            <a:r>
              <a:t>Modul 2: Dojenje • Tema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Etiologija nastanka i korekcija uzroka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Ragade su mehanička oštećenja kože bradavica koja nastaju usled nepravilne dinamike sisanja.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Uzrok nastanka ragada:</a:t>
            </a:r>
            <a:r>
              <a:rPr sz="1300" b="0">
                <a:solidFill>
                  <a:srgbClr val="47342E"/>
                </a:solidFill>
                <a:latin typeface="Poppins"/>
              </a:rPr>
              <a:t> U 95% slučajeva uzrok je </a:t>
            </a:r>
            <a:r>
              <a:rPr sz="1300" b="1">
                <a:solidFill>
                  <a:srgbClr val="47342E"/>
                </a:solidFill>
                <a:latin typeface="Poppins"/>
              </a:rPr>
              <a:t>nepravilan, plitak hvat</a:t>
            </a:r>
            <a:r>
              <a:rPr sz="1300" b="0">
                <a:solidFill>
                  <a:srgbClr val="47342E"/>
                </a:solidFill>
                <a:latin typeface="Poppins"/>
              </a:rPr>
              <a:t> gde beba desnima stiska samu bradavicu umesto areole.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Korekcija hvata je prioritet:</a:t>
            </a:r>
            <a:r>
              <a:rPr sz="1300" b="0">
                <a:solidFill>
                  <a:srgbClr val="47342E"/>
                </a:solidFill>
                <a:latin typeface="Poppins"/>
              </a:rPr>
              <a:t> Nikakve kreme neće pomoći ako se ne popravi hvat; </a:t>
            </a:r>
            <a:r>
              <a:rPr sz="1300" b="1">
                <a:solidFill>
                  <a:srgbClr val="47342E"/>
                </a:solidFill>
                <a:latin typeface="Poppins"/>
              </a:rPr>
              <a:t>beba mora uhvatiti pun zalogaj areole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Prekid vakuuma bez traume: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NIKADA ne vući bebu sa dojke na silu</a:t>
            </a:r>
            <a:r>
              <a:rPr sz="1300" b="0">
                <a:solidFill>
                  <a:srgbClr val="47342E"/>
                </a:solidFill>
                <a:latin typeface="Poppins"/>
              </a:rPr>
              <a:t>! Prekinuti vakuum guranjem </a:t>
            </a:r>
            <a:r>
              <a:rPr sz="1300" b="1">
                <a:solidFill>
                  <a:srgbClr val="47342E"/>
                </a:solidFill>
                <a:latin typeface="Poppins"/>
              </a:rPr>
              <a:t>čistog malog prsta u ugao bebinih usana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Protokol lokalnog lečenja i regeneracije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Savremeni tretman ragada zasniva se na principu vlažnog zarastanja rane i prevenciji sekundarne bakterijske infekcije.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100% čist medicinski lanolin:</a:t>
            </a:r>
            <a:r>
              <a:rPr sz="1300" b="0">
                <a:solidFill>
                  <a:srgbClr val="47342E"/>
                </a:solidFill>
                <a:latin typeface="Poppins"/>
              </a:rPr>
              <a:t> Naneti </a:t>
            </a:r>
            <a:r>
              <a:rPr sz="1300" b="1">
                <a:solidFill>
                  <a:srgbClr val="47342E"/>
                </a:solidFill>
                <a:latin typeface="Poppins"/>
              </a:rPr>
              <a:t>sloj ultraprečišćenog lanolina nakon svakog podoja</a:t>
            </a:r>
            <a:r>
              <a:rPr sz="1300" b="0">
                <a:solidFill>
                  <a:srgbClr val="47342E"/>
                </a:solidFill>
                <a:latin typeface="Poppins"/>
              </a:rPr>
              <a:t>; deluje po principu vlažnog zarastanja i </a:t>
            </a:r>
            <a:r>
              <a:rPr sz="1300" b="1">
                <a:solidFill>
                  <a:srgbClr val="47342E"/>
                </a:solidFill>
                <a:latin typeface="Poppins"/>
              </a:rPr>
              <a:t>ne ispira se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Vazdušne kupke:</a:t>
            </a:r>
            <a:r>
              <a:rPr sz="1300" b="0">
                <a:solidFill>
                  <a:srgbClr val="47342E"/>
                </a:solidFill>
                <a:latin typeface="Poppins"/>
              </a:rPr>
              <a:t> Ostaviti dojke </a:t>
            </a:r>
            <a:r>
              <a:rPr sz="1300" b="1">
                <a:solidFill>
                  <a:srgbClr val="47342E"/>
                </a:solidFill>
                <a:latin typeface="Poppins"/>
              </a:rPr>
              <a:t>izložene vazduhu 10–15 minuta nakon podoja</a:t>
            </a:r>
            <a:r>
              <a:rPr sz="1300" b="0">
                <a:solidFill>
                  <a:srgbClr val="47342E"/>
                </a:solidFill>
                <a:latin typeface="Poppins"/>
              </a:rPr>
              <a:t> radi brže epitelizacije.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Silikonske bradavice (privremeno rešenje):</a:t>
            </a:r>
            <a:r>
              <a:rPr sz="1300" b="0">
                <a:solidFill>
                  <a:srgbClr val="47342E"/>
                </a:solidFill>
                <a:latin typeface="Poppins"/>
              </a:rPr>
              <a:t> Koristiti samo kao </a:t>
            </a:r>
            <a:r>
              <a:rPr sz="1300" b="1">
                <a:solidFill>
                  <a:srgbClr val="47342E"/>
                </a:solidFill>
                <a:latin typeface="Poppins"/>
              </a:rPr>
              <a:t>kratkotrajni most od 2–3 dana</a:t>
            </a:r>
            <a:r>
              <a:rPr sz="1300" b="0">
                <a:solidFill>
                  <a:srgbClr val="47342E"/>
                </a:solidFill>
                <a:latin typeface="Poppins"/>
              </a:rPr>
              <a:t> kod krvarećih ragada, uz stručni nadzor.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95%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Uzrok plitak hvat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9976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100%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Medicinski lanolin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2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0 sapuna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Prevencija isušivanja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765535"/>
                </a:solidFill>
                <a:latin typeface="Poppins"/>
              </a:defRPr>
            </a:pPr>
            <a:r>
              <a:t>MODUL 2 • TEMA 15 • MODUL 2: DOJENJE</a:t>
            </a:r>
          </a:p>
        </p:txBody>
      </p:sp>
      <p:pic>
        <p:nvPicPr>
          <p:cNvPr id="4" name="Picture 3" descr="logo_horizonta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765535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9614F"/>
                </a:solidFill>
                <a:latin typeface="Poppins"/>
              </a:defRPr>
            </a:pPr>
            <a:r>
              <a:t>ROYAL NANNY AKADEMIJA • STANDARDI NEGE   |   17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47342E"/>
                </a:solidFill>
                <a:latin typeface="Libre Baskerville"/>
              </a:defRPr>
            </a:pPr>
            <a:r>
              <a:t>Upala dojki: Prepunjenost i mastitis</a:t>
            </a:r>
          </a:p>
          <a:p>
            <a:pPr>
              <a:spcBef>
                <a:spcPts val="300"/>
              </a:spcBef>
              <a:defRPr sz="1350">
                <a:solidFill>
                  <a:srgbClr val="69614F"/>
                </a:solidFill>
                <a:latin typeface="Poppins"/>
              </a:defRPr>
            </a:pPr>
            <a:r>
              <a:t>Modul 2: Dojenje • Tema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Razlikovanje prepunjenosti i mastitisa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Diferencijalna dijagnoza između fiziološke prepunjenosti, zastoja mleka i bakterijskog mastitisa ključna je za pravovremenu terapiju.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Prepunjenost (Engorgement):</a:t>
            </a:r>
            <a:r>
              <a:rPr sz="1300" b="0">
                <a:solidFill>
                  <a:srgbClr val="47342E"/>
                </a:solidFill>
                <a:latin typeface="Poppins"/>
              </a:rPr>
              <a:t> Obe dojke su </a:t>
            </a:r>
            <a:r>
              <a:rPr sz="1300" b="1">
                <a:solidFill>
                  <a:srgbClr val="47342E"/>
                </a:solidFill>
                <a:latin typeface="Poppins"/>
              </a:rPr>
              <a:t>tvrde, tople i otečene</a:t>
            </a:r>
            <a:r>
              <a:rPr sz="1300" b="0">
                <a:solidFill>
                  <a:srgbClr val="47342E"/>
                </a:solidFill>
                <a:latin typeface="Poppins"/>
              </a:rPr>
              <a:t> 3–5. dana po porođaju; </a:t>
            </a:r>
            <a:r>
              <a:rPr sz="1300" b="1">
                <a:solidFill>
                  <a:srgbClr val="47342E"/>
                </a:solidFill>
                <a:latin typeface="Poppins"/>
              </a:rPr>
              <a:t>nema visoke temperature</a:t>
            </a:r>
            <a:r>
              <a:rPr sz="1300" b="0">
                <a:solidFill>
                  <a:srgbClr val="47342E"/>
                </a:solidFill>
                <a:latin typeface="Poppins"/>
              </a:rPr>
              <a:t>, rešava se čestim pražnjenjem.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Začepljen mlečni kanal: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Osetljiv, tvrd i bolan čvorić</a:t>
            </a:r>
            <a:r>
              <a:rPr sz="1300" b="0">
                <a:solidFill>
                  <a:srgbClr val="47342E"/>
                </a:solidFill>
                <a:latin typeface="Poppins"/>
              </a:rPr>
              <a:t> na jednoj dojci bez opštih simptoma; bebu postavljati tako da joj je </a:t>
            </a:r>
            <a:r>
              <a:rPr sz="1300" b="1">
                <a:solidFill>
                  <a:srgbClr val="47342E"/>
                </a:solidFill>
                <a:latin typeface="Poppins"/>
              </a:rPr>
              <a:t>brada usmerena ka čvoriću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Mastitis (Upala tkiva dojke):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Crveno, vrelo i bolno polje na jednoj dojci</a:t>
            </a:r>
            <a:r>
              <a:rPr sz="1300" b="0">
                <a:solidFill>
                  <a:srgbClr val="47342E"/>
                </a:solidFill>
                <a:latin typeface="Poppins"/>
              </a:rPr>
              <a:t>, praćeno jezom, drhtavicom i </a:t>
            </a:r>
            <a:r>
              <a:rPr sz="1300" b="1">
                <a:solidFill>
                  <a:srgbClr val="47342E"/>
                </a:solidFill>
                <a:latin typeface="Poppins"/>
              </a:rPr>
              <a:t>visokom temperaturom preko 38.5°C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Klinički protokol termoterapije i masaže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Pravilan redosled primene toplote, masaže i hladnih obloga dovodi do brze rezolucije upalnog procesa.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Dojenje se NIKADA ne prekida:</a:t>
            </a:r>
            <a:r>
              <a:rPr sz="1300" b="0">
                <a:solidFill>
                  <a:srgbClr val="47342E"/>
                </a:solidFill>
                <a:latin typeface="Poppins"/>
              </a:rPr>
              <a:t> Mleko iz upaljene dojke je </a:t>
            </a:r>
            <a:r>
              <a:rPr sz="1300" b="1">
                <a:solidFill>
                  <a:srgbClr val="47342E"/>
                </a:solidFill>
                <a:latin typeface="Poppins"/>
              </a:rPr>
              <a:t>potpuno bezbedno za bebu</a:t>
            </a:r>
            <a:r>
              <a:rPr sz="1300" b="0">
                <a:solidFill>
                  <a:srgbClr val="47342E"/>
                </a:solidFill>
                <a:latin typeface="Poppins"/>
              </a:rPr>
              <a:t>; često pražnjenje je </a:t>
            </a:r>
            <a:r>
              <a:rPr sz="1300" b="1">
                <a:solidFill>
                  <a:srgbClr val="47342E"/>
                </a:solidFill>
                <a:latin typeface="Poppins"/>
              </a:rPr>
              <a:t>osnovni lek za mastitis</a:t>
            </a:r>
            <a:r>
              <a:rPr sz="1300" b="0">
                <a:solidFill>
                  <a:srgbClr val="47342E"/>
                </a:solidFill>
                <a:latin typeface="Poppins"/>
              </a:rPr>
              <a:t>!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Toplo-hladno protokol: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Topla obloga 5 min pre podoja</a:t>
            </a:r>
            <a:r>
              <a:rPr sz="1300" b="0">
                <a:solidFill>
                  <a:srgbClr val="47342E"/>
                </a:solidFill>
                <a:latin typeface="Poppins"/>
              </a:rPr>
              <a:t> za širenje kanala; </a:t>
            </a:r>
            <a:r>
              <a:rPr sz="1300" b="1">
                <a:solidFill>
                  <a:srgbClr val="47342E"/>
                </a:solidFill>
                <a:latin typeface="Poppins"/>
              </a:rPr>
              <a:t>hladna obloga (hladan peškir) nakon podoja</a:t>
            </a:r>
            <a:r>
              <a:rPr sz="1300" b="0">
                <a:solidFill>
                  <a:srgbClr val="47342E"/>
                </a:solidFill>
                <a:latin typeface="Poppins"/>
              </a:rPr>
              <a:t> radi ublažavanja otoka.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Crveni alarm za antibiotike:</a:t>
            </a:r>
            <a:r>
              <a:rPr sz="1300" b="0">
                <a:solidFill>
                  <a:srgbClr val="47342E"/>
                </a:solidFill>
                <a:latin typeface="Poppins"/>
              </a:rPr>
              <a:t> Temperatura </a:t>
            </a:r>
            <a:r>
              <a:rPr sz="1300" b="1">
                <a:solidFill>
                  <a:srgbClr val="47342E"/>
                </a:solidFill>
                <a:latin typeface="Poppins"/>
              </a:rPr>
              <a:t>preko 38.5°C duže od 24 sata</a:t>
            </a:r>
            <a:r>
              <a:rPr sz="1300" b="0">
                <a:solidFill>
                  <a:srgbClr val="47342E"/>
                </a:solidFill>
                <a:latin typeface="Poppins"/>
              </a:rPr>
              <a:t> zahteva hitan pregled ginekologa i </a:t>
            </a:r>
            <a:r>
              <a:rPr sz="1300" b="1">
                <a:solidFill>
                  <a:srgbClr val="47342E"/>
                </a:solidFill>
                <a:latin typeface="Poppins"/>
              </a:rPr>
              <a:t>uvođenje antibiotika bezbednih za dojenje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&gt;38.5°C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Temperatura kod mastitisa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9976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Nastavak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Dojenja obavezan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2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24 sata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Rok za lekara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765535"/>
                </a:solidFill>
                <a:latin typeface="Poppins"/>
              </a:defRPr>
            </a:pPr>
            <a:r>
              <a:t>MODUL 2 • TEMA 16 • MODUL 2: DOJENJE</a:t>
            </a:r>
          </a:p>
        </p:txBody>
      </p:sp>
      <p:pic>
        <p:nvPicPr>
          <p:cNvPr id="4" name="Picture 3" descr="logo_horizonta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765535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9614F"/>
                </a:solidFill>
                <a:latin typeface="Poppins"/>
              </a:defRPr>
            </a:pPr>
            <a:r>
              <a:t>ROYAL NANNY AKADEMIJA • STANDARDI NEGE   |   18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900" b="1">
                <a:solidFill>
                  <a:srgbClr val="47342E"/>
                </a:solidFill>
                <a:latin typeface="Libre Baskerville"/>
              </a:defRPr>
            </a:pPr>
            <a:r>
              <a:t>Izmazanje majčinog mleka: Tehnike i higijena</a:t>
            </a:r>
          </a:p>
          <a:p>
            <a:pPr>
              <a:spcBef>
                <a:spcPts val="300"/>
              </a:spcBef>
              <a:defRPr sz="1350">
                <a:solidFill>
                  <a:srgbClr val="69614F"/>
                </a:solidFill>
                <a:latin typeface="Poppins"/>
              </a:defRPr>
            </a:pPr>
            <a:r>
              <a:t>Modul 2: Dojenje • Tema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Ručno izmazanje po Marmetovoj tehnici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Marmetova tehnika simulira prirodno sisanje bebe i predstavlja najbezbedniji način pražnjenja mlečnih sinusa bez traume tkiva.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Položaj prstiju u obliku slova 'C':</a:t>
            </a:r>
            <a:r>
              <a:rPr sz="1300" b="0">
                <a:solidFill>
                  <a:srgbClr val="47342E"/>
                </a:solidFill>
                <a:latin typeface="Poppins"/>
              </a:rPr>
              <a:t> Postaviti palac i kažiprst </a:t>
            </a:r>
            <a:r>
              <a:rPr sz="1300" b="1">
                <a:solidFill>
                  <a:srgbClr val="47342E"/>
                </a:solidFill>
                <a:latin typeface="Poppins"/>
              </a:rPr>
              <a:t>2.5–3 cm iza baze bradavice</a:t>
            </a:r>
            <a:r>
              <a:rPr sz="1300" b="0">
                <a:solidFill>
                  <a:srgbClr val="47342E"/>
                </a:solidFill>
                <a:latin typeface="Poppins"/>
              </a:rPr>
              <a:t>, naspramno na ivicu areole.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Trostepeni pokret (Pritisni-Spoj-Opusti):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1. Pritisnuti</a:t>
            </a:r>
            <a:r>
              <a:rPr sz="1300" b="0">
                <a:solidFill>
                  <a:srgbClr val="47342E"/>
                </a:solidFill>
                <a:latin typeface="Poppins"/>
              </a:rPr>
              <a:t> ka grudnom košu; </a:t>
            </a:r>
            <a:r>
              <a:rPr sz="1300" b="1">
                <a:solidFill>
                  <a:srgbClr val="47342E"/>
                </a:solidFill>
                <a:latin typeface="Poppins"/>
              </a:rPr>
              <a:t>2. Blago spojiti</a:t>
            </a:r>
            <a:r>
              <a:rPr sz="1300" b="0">
                <a:solidFill>
                  <a:srgbClr val="47342E"/>
                </a:solidFill>
                <a:latin typeface="Poppins"/>
              </a:rPr>
              <a:t> prste; </a:t>
            </a:r>
            <a:r>
              <a:rPr sz="1300" b="1">
                <a:solidFill>
                  <a:srgbClr val="47342E"/>
                </a:solidFill>
                <a:latin typeface="Poppins"/>
              </a:rPr>
              <a:t>3. Opustiti</a:t>
            </a:r>
            <a:r>
              <a:rPr sz="1300" b="0">
                <a:solidFill>
                  <a:srgbClr val="47342E"/>
                </a:solidFill>
                <a:latin typeface="Poppins"/>
              </a:rPr>
              <a:t>. Rotirati prste u krug.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Stroge zabrane: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NIKADA ne stiskati i ne čupati samu bradavicu</a:t>
            </a:r>
            <a:r>
              <a:rPr sz="1300" b="0">
                <a:solidFill>
                  <a:srgbClr val="47342E"/>
                </a:solidFill>
                <a:latin typeface="Poppins"/>
              </a:rPr>
              <a:t>, i nikada ne kliziti prstima preko kože jer to izaziva modrice i oštećenja!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Izdajalice: Mehaničke i električne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Pravilan izbor veličine levka i režima rada izdajalice obezbeđuje maksimalan prinos mleka bez bola.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Odabir odgovarajućeg levka:</a:t>
            </a:r>
            <a:r>
              <a:rPr sz="1300" b="0">
                <a:solidFill>
                  <a:srgbClr val="47342E"/>
                </a:solidFill>
                <a:latin typeface="Poppins"/>
              </a:rPr>
              <a:t> Prečnik tunela levka mora biti </a:t>
            </a:r>
            <a:r>
              <a:rPr sz="1300" b="1">
                <a:solidFill>
                  <a:srgbClr val="47342E"/>
                </a:solidFill>
                <a:latin typeface="Poppins"/>
              </a:rPr>
              <a:t>za 2–4 mm veći od prečnika bradavice</a:t>
            </a:r>
            <a:r>
              <a:rPr sz="1300" b="0">
                <a:solidFill>
                  <a:srgbClr val="47342E"/>
                </a:solidFill>
                <a:latin typeface="Poppins"/>
              </a:rPr>
              <a:t>; bradavica se mora slobodno kretati bez trenja.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Dvofazni režim pumpanja:</a:t>
            </a:r>
            <a:r>
              <a:rPr sz="1300" b="0">
                <a:solidFill>
                  <a:srgbClr val="47342E"/>
                </a:solidFill>
                <a:latin typeface="Poppins"/>
              </a:rPr>
              <a:t> Prvih 2 minuta </a:t>
            </a:r>
            <a:r>
              <a:rPr sz="1300" b="1">
                <a:solidFill>
                  <a:srgbClr val="47342E"/>
                </a:solidFill>
                <a:latin typeface="Poppins"/>
              </a:rPr>
              <a:t>brza i plitka stimulacija (let-down faza)</a:t>
            </a:r>
            <a:r>
              <a:rPr sz="1300" b="0">
                <a:solidFill>
                  <a:srgbClr val="47342E"/>
                </a:solidFill>
                <a:latin typeface="Poppins"/>
              </a:rPr>
              <a:t>, a zatim prelazak na </a:t>
            </a:r>
            <a:r>
              <a:rPr sz="1300" b="1">
                <a:solidFill>
                  <a:srgbClr val="47342E"/>
                </a:solidFill>
                <a:latin typeface="Poppins"/>
              </a:rPr>
              <a:t>sporiji i dublji ritam izmazanja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Higijena i sterilizacija delova:</a:t>
            </a:r>
            <a:r>
              <a:rPr sz="1300" b="0">
                <a:solidFill>
                  <a:srgbClr val="47342E"/>
                </a:solidFill>
                <a:latin typeface="Poppins"/>
              </a:rPr>
              <a:t> Rastaviti sve silikonske ventile i membrane; </a:t>
            </a:r>
            <a:r>
              <a:rPr sz="1300" b="1">
                <a:solidFill>
                  <a:srgbClr val="47342E"/>
                </a:solidFill>
                <a:latin typeface="Poppins"/>
              </a:rPr>
              <a:t>oprati toplom vodom i namenskim deterdžentom, pa sterilisati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Marmet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Ručna tehnika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9976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2-3 cm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Položaj prstiju iza areole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2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Pravilna veličina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Levka pumpice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765535"/>
                </a:solidFill>
                <a:latin typeface="Poppins"/>
              </a:defRPr>
            </a:pPr>
            <a:r>
              <a:t>MODUL 2 • TEMA 17 • MODUL 2: DOJENJE</a:t>
            </a:r>
          </a:p>
        </p:txBody>
      </p:sp>
      <p:pic>
        <p:nvPicPr>
          <p:cNvPr id="4" name="Picture 3" descr="logo_horizonta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765535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9614F"/>
                </a:solidFill>
                <a:latin typeface="Poppins"/>
              </a:defRPr>
            </a:pPr>
            <a:r>
              <a:t>ROYAL NANNY AKADEMIJA • STANDARDI NEGE   |   19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47342E"/>
                </a:solidFill>
                <a:latin typeface="Libre Baskerville"/>
              </a:defRPr>
            </a:pPr>
            <a:r>
              <a:t>Čuvanje i odmrzavanje majčinog mleka</a:t>
            </a:r>
          </a:p>
          <a:p>
            <a:pPr>
              <a:spcBef>
                <a:spcPts val="300"/>
              </a:spcBef>
              <a:defRPr sz="1350">
                <a:solidFill>
                  <a:srgbClr val="69614F"/>
                </a:solidFill>
                <a:latin typeface="Poppins"/>
              </a:defRPr>
            </a:pPr>
            <a:r>
              <a:t>Modul 2: Dojenje • Tema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Zlatno pravilo 4-4-6 skladištenja mleka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Pravilno skladištenje čuva nutritivne i imunološke komponente majčinog mleka i sprečava razvoj bakterija.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Sobna temperatura (do 25°C):</a:t>
            </a:r>
            <a:r>
              <a:rPr sz="1300" b="0">
                <a:solidFill>
                  <a:srgbClr val="47342E"/>
                </a:solidFill>
                <a:latin typeface="Poppins"/>
              </a:rPr>
              <a:t> Sveže izdojeno mleko može stajati </a:t>
            </a:r>
            <a:r>
              <a:rPr sz="1300" b="1">
                <a:solidFill>
                  <a:srgbClr val="47342E"/>
                </a:solidFill>
                <a:latin typeface="Poppins"/>
              </a:rPr>
              <a:t>maksimalno 4 sata</a:t>
            </a:r>
            <a:r>
              <a:rPr sz="1300" b="0">
                <a:solidFill>
                  <a:srgbClr val="47342E"/>
                </a:solidFill>
                <a:latin typeface="Poppins"/>
              </a:rPr>
              <a:t> na sobnoj temperaturi.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Frižider (na polici na 4°C):</a:t>
            </a:r>
            <a:r>
              <a:rPr sz="1300" b="0">
                <a:solidFill>
                  <a:srgbClr val="47342E"/>
                </a:solidFill>
                <a:latin typeface="Poppins"/>
              </a:rPr>
              <a:t> Mleko se čuva </a:t>
            </a:r>
            <a:r>
              <a:rPr sz="1300" b="1">
                <a:solidFill>
                  <a:srgbClr val="47342E"/>
                </a:solidFill>
                <a:latin typeface="Poppins"/>
              </a:rPr>
              <a:t>do 3–4 dana u dubini frižidera</a:t>
            </a:r>
            <a:r>
              <a:rPr sz="1300" b="0">
                <a:solidFill>
                  <a:srgbClr val="47342E"/>
                </a:solidFill>
                <a:latin typeface="Poppins"/>
              </a:rPr>
              <a:t>; </a:t>
            </a:r>
            <a:r>
              <a:rPr sz="1300" b="1">
                <a:solidFill>
                  <a:srgbClr val="47342E"/>
                </a:solidFill>
                <a:latin typeface="Poppins"/>
              </a:rPr>
              <a:t>NIKADA ne držati u vratima</a:t>
            </a:r>
            <a:r>
              <a:rPr sz="1300" b="0">
                <a:solidFill>
                  <a:srgbClr val="47342E"/>
                </a:solidFill>
                <a:latin typeface="Poppins"/>
              </a:rPr>
              <a:t> zbog temperaturnih oscilacija!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Zamrzivač (-18°C do -20°C):</a:t>
            </a:r>
            <a:r>
              <a:rPr sz="1300" b="0">
                <a:solidFill>
                  <a:srgbClr val="47342E"/>
                </a:solidFill>
                <a:latin typeface="Poppins"/>
              </a:rPr>
              <a:t> Mleko se čuva </a:t>
            </a:r>
            <a:r>
              <a:rPr sz="1300" b="1">
                <a:solidFill>
                  <a:srgbClr val="47342E"/>
                </a:solidFill>
                <a:latin typeface="Poppins"/>
              </a:rPr>
              <a:t>do 6 meseci</a:t>
            </a:r>
            <a:r>
              <a:rPr sz="1300" b="0">
                <a:solidFill>
                  <a:srgbClr val="47342E"/>
                </a:solidFill>
                <a:latin typeface="Poppins"/>
              </a:rPr>
              <a:t> u namenskim sterilnim kesicama sa </a:t>
            </a:r>
            <a:r>
              <a:rPr sz="1300" b="1">
                <a:solidFill>
                  <a:srgbClr val="47342E"/>
                </a:solidFill>
                <a:latin typeface="Poppins"/>
              </a:rPr>
              <a:t>označenim tačnim datumom i količinom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Pravilan protokol odmrzavanja i zagrevanja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Termička obrada izdojenog mleka zahteva strogu kontrolu temperature radi očuvanja termolabilnih antitela.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Odmrzavanje u frižideru:</a:t>
            </a:r>
            <a:r>
              <a:rPr sz="1300" b="0">
                <a:solidFill>
                  <a:srgbClr val="47342E"/>
                </a:solidFill>
                <a:latin typeface="Poppins"/>
              </a:rPr>
              <a:t> Mleko premestiti iz zamrzivača u frižider </a:t>
            </a:r>
            <a:r>
              <a:rPr sz="1300" b="1">
                <a:solidFill>
                  <a:srgbClr val="47342E"/>
                </a:solidFill>
                <a:latin typeface="Poppins"/>
              </a:rPr>
              <a:t>12 sati pre upotrebe</a:t>
            </a:r>
            <a:r>
              <a:rPr sz="1300" b="0">
                <a:solidFill>
                  <a:srgbClr val="47342E"/>
                </a:solidFill>
                <a:latin typeface="Poppins"/>
              </a:rPr>
              <a:t>; lagano odmrzavanje čuva sve vitamine i antitela.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Zagrevanje u vodenoj kupki:</a:t>
            </a:r>
            <a:r>
              <a:rPr sz="1300" b="0">
                <a:solidFill>
                  <a:srgbClr val="47342E"/>
                </a:solidFill>
                <a:latin typeface="Poppins"/>
              </a:rPr>
              <a:t> Zagrejati posudu sa vodom </a:t>
            </a:r>
            <a:r>
              <a:rPr sz="1300" b="1">
                <a:solidFill>
                  <a:srgbClr val="47342E"/>
                </a:solidFill>
                <a:latin typeface="Poppins"/>
              </a:rPr>
              <a:t>do maksimalno 40°C</a:t>
            </a:r>
            <a:r>
              <a:rPr sz="1300" b="0">
                <a:solidFill>
                  <a:srgbClr val="47342E"/>
                </a:solidFill>
                <a:latin typeface="Poppins"/>
              </a:rPr>
              <a:t> i u nju uroniti flašicu; </a:t>
            </a:r>
            <a:r>
              <a:rPr sz="1300" b="1">
                <a:solidFill>
                  <a:srgbClr val="47342E"/>
                </a:solidFill>
                <a:latin typeface="Poppins"/>
              </a:rPr>
              <a:t>NIKADA ne prokuvavati mleko</a:t>
            </a:r>
            <a:r>
              <a:rPr sz="1300" b="0">
                <a:solidFill>
                  <a:srgbClr val="47342E"/>
                </a:solidFill>
                <a:latin typeface="Poppins"/>
              </a:rPr>
              <a:t>!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STROGA ZABRANA MIKROTALASNE:</a:t>
            </a:r>
            <a:r>
              <a:rPr sz="1300" b="0">
                <a:solidFill>
                  <a:srgbClr val="47342E"/>
                </a:solidFill>
                <a:latin typeface="Poppins"/>
              </a:rPr>
              <a:t> Mikrotalasna je </a:t>
            </a:r>
            <a:r>
              <a:rPr sz="1300" b="1">
                <a:solidFill>
                  <a:srgbClr val="47342E"/>
                </a:solidFill>
                <a:latin typeface="Poppins"/>
              </a:rPr>
              <a:t>STROGO ZABRANJENA</a:t>
            </a:r>
            <a:r>
              <a:rPr sz="1300" b="0">
                <a:solidFill>
                  <a:srgbClr val="47342E"/>
                </a:solidFill>
                <a:latin typeface="Poppins"/>
              </a:rPr>
              <a:t> jer stvara "vruće tačke" koje izazivaju </a:t>
            </a:r>
            <a:r>
              <a:rPr sz="1300" b="1">
                <a:solidFill>
                  <a:srgbClr val="47342E"/>
                </a:solidFill>
                <a:latin typeface="Poppins"/>
              </a:rPr>
              <a:t>opekotine i uništavaju antitela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Pravilo jednog ciklusa:</a:t>
            </a:r>
            <a:r>
              <a:rPr sz="1300" b="0">
                <a:solidFill>
                  <a:srgbClr val="47342E"/>
                </a:solidFill>
                <a:latin typeface="Poppins"/>
              </a:rPr>
              <a:t> Jednom odmrznuto mleko se </a:t>
            </a:r>
            <a:r>
              <a:rPr sz="1300" b="1">
                <a:solidFill>
                  <a:srgbClr val="47342E"/>
                </a:solidFill>
                <a:latin typeface="Poppins"/>
              </a:rPr>
              <a:t>nikada ponovo ne zamrzava</a:t>
            </a:r>
            <a:r>
              <a:rPr sz="1300" b="0">
                <a:solidFill>
                  <a:srgbClr val="47342E"/>
                </a:solidFill>
                <a:latin typeface="Poppins"/>
              </a:rPr>
              <a:t>; ostatak iz flašice se </a:t>
            </a:r>
            <a:r>
              <a:rPr sz="1300" b="1">
                <a:solidFill>
                  <a:srgbClr val="47342E"/>
                </a:solidFill>
                <a:latin typeface="Poppins"/>
              </a:rPr>
              <a:t>baca nakon 2 sata od početka obroka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4 sata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Sobna temp (&lt;25°C)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9976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4 dana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Frižider (4°C)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2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6 meseci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Zamrzivač (-18°C)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765535"/>
                </a:solidFill>
                <a:latin typeface="Poppins"/>
              </a:defRPr>
            </a:pPr>
            <a:r>
              <a:t>MODUL 2 • TEMA 18 • MODUL 2: DOJENJE</a:t>
            </a:r>
          </a:p>
        </p:txBody>
      </p:sp>
      <p:pic>
        <p:nvPicPr>
          <p:cNvPr id="4" name="Picture 3" descr="logo_horizonta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765535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9614F"/>
                </a:solidFill>
                <a:latin typeface="Poppins"/>
              </a:defRPr>
            </a:pPr>
            <a:r>
              <a:t>ROYAL NANNY AKADEMIJA • STANDARDI NEGE   |   20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900" b="1">
                <a:solidFill>
                  <a:srgbClr val="47342E"/>
                </a:solidFill>
                <a:latin typeface="Libre Baskerville"/>
              </a:defRPr>
            </a:pPr>
            <a:r>
              <a:t>Adaptirana formula: Priprema, higijena i bezbednost</a:t>
            </a:r>
          </a:p>
          <a:p>
            <a:pPr>
              <a:spcBef>
                <a:spcPts val="300"/>
              </a:spcBef>
              <a:defRPr sz="1350">
                <a:solidFill>
                  <a:srgbClr val="69614F"/>
                </a:solidFill>
                <a:latin typeface="Poppins"/>
              </a:defRPr>
            </a:pPr>
            <a:r>
              <a:t>Modul 2: Dojenje • Tema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Egzaktna pravila pripreme formule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Priprema adaptiranog mleka zahteva striktno poštovanje higijenskih standarda i preporučenih temperatura Svetske zdravstvene organizacije.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Prokuvavanje vode na 70°C:</a:t>
            </a:r>
            <a:r>
              <a:rPr sz="1300" b="0">
                <a:solidFill>
                  <a:srgbClr val="47342E"/>
                </a:solidFill>
                <a:latin typeface="Poppins"/>
              </a:rPr>
              <a:t> Voda mora biti prokuvana i ohlađena na </a:t>
            </a:r>
            <a:r>
              <a:rPr sz="1300" b="1">
                <a:solidFill>
                  <a:srgbClr val="47342E"/>
                </a:solidFill>
                <a:latin typeface="Poppins"/>
              </a:rPr>
              <a:t>tačno 70°C pre mešanja</a:t>
            </a:r>
            <a:r>
              <a:rPr sz="1300" b="0">
                <a:solidFill>
                  <a:srgbClr val="47342E"/>
                </a:solidFill>
                <a:latin typeface="Poppins"/>
              </a:rPr>
              <a:t> radi ubijanja opasne bakterije Cronobacter sakazakii.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Prvo voda, pa prah:</a:t>
            </a:r>
            <a:r>
              <a:rPr sz="1300" b="0">
                <a:solidFill>
                  <a:srgbClr val="47342E"/>
                </a:solidFill>
                <a:latin typeface="Poppins"/>
              </a:rPr>
              <a:t> Uvek </a:t>
            </a:r>
            <a:r>
              <a:rPr sz="1300" b="1">
                <a:solidFill>
                  <a:srgbClr val="47342E"/>
                </a:solidFill>
                <a:latin typeface="Poppins"/>
              </a:rPr>
              <a:t>prvo sipati tačnu količinu vode</a:t>
            </a:r>
            <a:r>
              <a:rPr sz="1300" b="0">
                <a:solidFill>
                  <a:srgbClr val="47342E"/>
                </a:solidFill>
                <a:latin typeface="Poppins"/>
              </a:rPr>
              <a:t>, a zatim dodavati </a:t>
            </a:r>
            <a:r>
              <a:rPr sz="1300" b="1">
                <a:solidFill>
                  <a:srgbClr val="47342E"/>
                </a:solidFill>
                <a:latin typeface="Poppins"/>
              </a:rPr>
              <a:t>ravne (ne prepunjene) merice praha</a:t>
            </a:r>
            <a:r>
              <a:rPr sz="1300" b="0">
                <a:solidFill>
                  <a:srgbClr val="47342E"/>
                </a:solidFill>
                <a:latin typeface="Poppins"/>
              </a:rPr>
              <a:t> namenskim nožićem.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Stroga zabrana menjanja razmere: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NIKADA ne dodavati više ili manje vode</a:t>
            </a:r>
            <a:r>
              <a:rPr sz="1300" b="0">
                <a:solidFill>
                  <a:srgbClr val="47342E"/>
                </a:solidFill>
                <a:latin typeface="Poppins"/>
              </a:rPr>
              <a:t>; previše praha opterećuje bubrege, a previše vode dovodi do pothranjenosti!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Bezbednost hranjenja i pravilo 60 minuta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Pripremljena formula je idealna podloga za brzi rast bakterija na sobnoj temperaturi.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Provera temperature (oko 37°C):</a:t>
            </a:r>
            <a:r>
              <a:rPr sz="1300" b="0">
                <a:solidFill>
                  <a:srgbClr val="47342E"/>
                </a:solidFill>
                <a:latin typeface="Poppins"/>
              </a:rPr>
              <a:t> Flašicu ohladiti pod mlazom hladne vode; </a:t>
            </a:r>
            <a:r>
              <a:rPr sz="1300" b="1">
                <a:solidFill>
                  <a:srgbClr val="47342E"/>
                </a:solidFill>
                <a:latin typeface="Poppins"/>
              </a:rPr>
              <a:t>kapnuti nekoliko kapi na unutrašnju stranu podlaktice</a:t>
            </a:r>
            <a:r>
              <a:rPr sz="1300" b="0">
                <a:solidFill>
                  <a:srgbClr val="47342E"/>
                </a:solidFill>
                <a:latin typeface="Poppins"/>
              </a:rPr>
              <a:t> pre davanja bebi.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Pravilo 60 minuta:</a:t>
            </a:r>
            <a:r>
              <a:rPr sz="1300" b="0">
                <a:solidFill>
                  <a:srgbClr val="47342E"/>
                </a:solidFill>
                <a:latin typeface="Poppins"/>
              </a:rPr>
              <a:t> Pripremljena formula se mora </a:t>
            </a:r>
            <a:r>
              <a:rPr sz="1300" b="1">
                <a:solidFill>
                  <a:srgbClr val="47342E"/>
                </a:solidFill>
                <a:latin typeface="Poppins"/>
              </a:rPr>
              <a:t>potrošiti u roku od 1 sata</a:t>
            </a:r>
            <a:r>
              <a:rPr sz="1300" b="0">
                <a:solidFill>
                  <a:srgbClr val="47342E"/>
                </a:solidFill>
                <a:latin typeface="Poppins"/>
              </a:rPr>
              <a:t> na sobnoj temperaturi; </a:t>
            </a:r>
            <a:r>
              <a:rPr sz="1300" b="1">
                <a:solidFill>
                  <a:srgbClr val="47342E"/>
                </a:solidFill>
                <a:latin typeface="Poppins"/>
              </a:rPr>
              <a:t>ostatak se odmah baca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Isključivo novo pakovanje:</a:t>
            </a:r>
            <a:r>
              <a:rPr sz="1300" b="0">
                <a:solidFill>
                  <a:srgbClr val="47342E"/>
                </a:solidFill>
                <a:latin typeface="Poppins"/>
              </a:rPr>
              <a:t> Otvorena limenka formule se čuva na suvom i hladnom mestu i mora se </a:t>
            </a:r>
            <a:r>
              <a:rPr sz="1300" b="1">
                <a:solidFill>
                  <a:srgbClr val="47342E"/>
                </a:solidFill>
                <a:latin typeface="Poppins"/>
              </a:rPr>
              <a:t>potrošiti u roku od 3–4 nedelje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1 merica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Na 30 ml vode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9976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40-50°C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Temperatura vode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2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60 min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Pravilo upotrebe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765535"/>
                </a:solidFill>
                <a:latin typeface="Poppins"/>
              </a:defRPr>
            </a:pPr>
            <a:r>
              <a:t>MODUL 3 • TEMA 19 • MODUL 3: NEGA ODOJČETA</a:t>
            </a:r>
          </a:p>
        </p:txBody>
      </p:sp>
      <p:pic>
        <p:nvPicPr>
          <p:cNvPr id="4" name="Picture 3" descr="logo_horizonta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765535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9614F"/>
                </a:solidFill>
                <a:latin typeface="Poppins"/>
              </a:defRPr>
            </a:pPr>
            <a:r>
              <a:t>ROYAL NANNY AKADEMIJA • STANDARDI NEGE   |   21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900" b="1">
                <a:solidFill>
                  <a:srgbClr val="47342E"/>
                </a:solidFill>
                <a:latin typeface="Libre Baskerville"/>
              </a:defRPr>
            </a:pPr>
            <a:r>
              <a:t>Vakcinacija odojčeta: Kalendar imunizacije i priprema</a:t>
            </a:r>
          </a:p>
          <a:p>
            <a:pPr>
              <a:spcBef>
                <a:spcPts val="300"/>
              </a:spcBef>
              <a:defRPr sz="1350">
                <a:solidFill>
                  <a:srgbClr val="69614F"/>
                </a:solidFill>
                <a:latin typeface="Poppins"/>
              </a:defRPr>
            </a:pPr>
            <a:r>
              <a:t>Modul 3: Nega odojčeta • Tema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Kalendar obavezne imunizacije u RS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Pravovremena vakcinacija pruža specifičan imunološki štit protiv najtežih zaraznih bolesti dečjeg doba.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Vakcine u porodilištu (prvih 24–48h):</a:t>
            </a:r>
            <a:r>
              <a:rPr sz="1300" b="0">
                <a:solidFill>
                  <a:srgbClr val="47342E"/>
                </a:solidFill>
                <a:latin typeface="Poppins"/>
              </a:rPr>
              <a:t> Beba prima </a:t>
            </a:r>
            <a:r>
              <a:rPr sz="1300" b="1">
                <a:solidFill>
                  <a:srgbClr val="47342E"/>
                </a:solidFill>
                <a:latin typeface="Poppins"/>
              </a:rPr>
              <a:t>BCG vakcinu</a:t>
            </a:r>
            <a:r>
              <a:rPr sz="1300" b="0">
                <a:solidFill>
                  <a:srgbClr val="47342E"/>
                </a:solidFill>
                <a:latin typeface="Poppins"/>
              </a:rPr>
              <a:t> u levo rame i </a:t>
            </a:r>
            <a:r>
              <a:rPr sz="1300" b="1">
                <a:solidFill>
                  <a:srgbClr val="47342E"/>
                </a:solidFill>
                <a:latin typeface="Poppins"/>
              </a:rPr>
              <a:t>prvu dozu Hepatitis B vakcine</a:t>
            </a:r>
            <a:r>
              <a:rPr sz="1300" b="0">
                <a:solidFill>
                  <a:srgbClr val="47342E"/>
                </a:solidFill>
                <a:latin typeface="Poppins"/>
              </a:rPr>
              <a:t> u butinu.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Imunizacija sa navršenih 2 meseca:</a:t>
            </a:r>
            <a:r>
              <a:rPr sz="1300" b="0">
                <a:solidFill>
                  <a:srgbClr val="47342E"/>
                </a:solidFill>
                <a:latin typeface="Poppins"/>
              </a:rPr>
              <a:t> Kombinovana petovalentna/šestovalentna vakcina (</a:t>
            </a:r>
            <a:r>
              <a:rPr sz="1300" b="1">
                <a:solidFill>
                  <a:srgbClr val="47342E"/>
                </a:solidFill>
                <a:latin typeface="Poppins"/>
              </a:rPr>
              <a:t>DTaP-IPV-Hib-HepB</a:t>
            </a:r>
            <a:r>
              <a:rPr sz="1300" b="0">
                <a:solidFill>
                  <a:srgbClr val="47342E"/>
                </a:solidFill>
                <a:latin typeface="Poppins"/>
              </a:rPr>
              <a:t>) i </a:t>
            </a:r>
            <a:r>
              <a:rPr sz="1300" b="1">
                <a:solidFill>
                  <a:srgbClr val="47342E"/>
                </a:solidFill>
                <a:latin typeface="Poppins"/>
              </a:rPr>
              <a:t>pneumokokna konjugovana vakcina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Revakcinacije tokom prve godine:</a:t>
            </a:r>
            <a:r>
              <a:rPr sz="1300" b="0">
                <a:solidFill>
                  <a:srgbClr val="47342E"/>
                </a:solidFill>
                <a:latin typeface="Poppins"/>
              </a:rPr>
              <a:t> Davanje druge i treće doze prema kalendaru u razmacima od </a:t>
            </a:r>
            <a:r>
              <a:rPr sz="1300" b="1">
                <a:solidFill>
                  <a:srgbClr val="47342E"/>
                </a:solidFill>
                <a:latin typeface="Poppins"/>
              </a:rPr>
              <a:t>najmanje 4–6 nedelja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Protokol pripreme deteta za vakcinaciju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Priprema deteta pre odlaska u dom zdravlja smanjuje stres i omogućava bezbednu aplikaciju vakcine.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Pregled pedijatra pre vakcine:</a:t>
            </a:r>
            <a:r>
              <a:rPr sz="1300" b="0">
                <a:solidFill>
                  <a:srgbClr val="47342E"/>
                </a:solidFill>
                <a:latin typeface="Poppins"/>
              </a:rPr>
              <a:t> Dete mora biti </a:t>
            </a:r>
            <a:r>
              <a:rPr sz="1300" b="1">
                <a:solidFill>
                  <a:srgbClr val="47342E"/>
                </a:solidFill>
                <a:latin typeface="Poppins"/>
              </a:rPr>
              <a:t>potpuno zdravo, afebrilno i pregledano od strane pedijatra</a:t>
            </a:r>
            <a:r>
              <a:rPr sz="1300" b="0">
                <a:solidFill>
                  <a:srgbClr val="47342E"/>
                </a:solidFill>
                <a:latin typeface="Poppins"/>
              </a:rPr>
              <a:t> neposredno pre aplikacije vakcine.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Odlaganje vakcinacije:</a:t>
            </a:r>
            <a:r>
              <a:rPr sz="1300" b="0">
                <a:solidFill>
                  <a:srgbClr val="47342E"/>
                </a:solidFill>
                <a:latin typeface="Poppins"/>
              </a:rPr>
              <a:t> Akutne febrilne infekcije sa temperaturom </a:t>
            </a:r>
            <a:r>
              <a:rPr sz="1300" b="1">
                <a:solidFill>
                  <a:srgbClr val="47342E"/>
                </a:solidFill>
                <a:latin typeface="Poppins"/>
              </a:rPr>
              <a:t>preko 38°C zahtevaju odlaganje</a:t>
            </a:r>
            <a:r>
              <a:rPr sz="1300" b="0">
                <a:solidFill>
                  <a:srgbClr val="47342E"/>
                </a:solidFill>
                <a:latin typeface="Poppins"/>
              </a:rPr>
              <a:t> do potpunog oporavka; blaga prehlada nije prepreka.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Priprema deteta:</a:t>
            </a:r>
            <a:r>
              <a:rPr sz="1300" b="0">
                <a:solidFill>
                  <a:srgbClr val="47342E"/>
                </a:solidFill>
                <a:latin typeface="Poppins"/>
              </a:rPr>
              <a:t> Beba treba da bude </a:t>
            </a:r>
            <a:r>
              <a:rPr sz="1300" b="1">
                <a:solidFill>
                  <a:srgbClr val="47342E"/>
                </a:solidFill>
                <a:latin typeface="Poppins"/>
              </a:rPr>
              <a:t>nahrana i naspavana</a:t>
            </a:r>
            <a:r>
              <a:rPr sz="1300" b="0">
                <a:solidFill>
                  <a:srgbClr val="47342E"/>
                </a:solidFill>
                <a:latin typeface="Poppins"/>
              </a:rPr>
              <a:t>; dadilja obezbeđuje mirnu atmosferu i nežan kontakt nakon uboda.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BCG &amp; HepB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Na rođenju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9976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3 doze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Petovalentna vakcina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2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12-15 m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MMR vakcina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765535"/>
                </a:solidFill>
                <a:latin typeface="Poppins"/>
              </a:defRPr>
            </a:pPr>
            <a:r>
              <a:t>MODUL 3 • TEMA 20 • MODUL 3: NEGA ODOJČETA</a:t>
            </a:r>
          </a:p>
        </p:txBody>
      </p:sp>
      <p:pic>
        <p:nvPicPr>
          <p:cNvPr id="4" name="Picture 3" descr="logo_horizonta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765535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9614F"/>
                </a:solidFill>
                <a:latin typeface="Poppins"/>
              </a:defRPr>
            </a:pPr>
            <a:r>
              <a:t>ROYAL NANNY AKADEMIJA • STANDARDI NEGE   |   22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47342E"/>
                </a:solidFill>
                <a:latin typeface="Libre Baskerville"/>
              </a:defRPr>
            </a:pPr>
            <a:r>
              <a:t>Šetnja i boravak na svežem vazduhu</a:t>
            </a:r>
          </a:p>
          <a:p>
            <a:pPr>
              <a:spcBef>
                <a:spcPts val="300"/>
              </a:spcBef>
              <a:defRPr sz="1350">
                <a:solidFill>
                  <a:srgbClr val="69614F"/>
                </a:solidFill>
                <a:latin typeface="Poppins"/>
              </a:defRPr>
            </a:pPr>
            <a:r>
              <a:t>Modul 3: Nega odojčeta • Tema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Vreme prvog izlaska i adaptacija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Boravak na svežem vazduhu jača imuni sistem, podstiče sintezu vitamina D i podržava prirodan cirkadijalni ritam.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Prva šetnja nakon rođenja:</a:t>
            </a:r>
            <a:r>
              <a:rPr sz="1300" b="0">
                <a:solidFill>
                  <a:srgbClr val="47342E"/>
                </a:solidFill>
                <a:latin typeface="Poppins"/>
              </a:rPr>
              <a:t> Zdravo novorođenče rođeno u terminu može u prvu kratku šetnju već </a:t>
            </a:r>
            <a:r>
              <a:rPr sz="1300" b="1">
                <a:solidFill>
                  <a:srgbClr val="47342E"/>
                </a:solidFill>
                <a:latin typeface="Poppins"/>
              </a:rPr>
              <a:t>nakon 7–10 dana života</a:t>
            </a:r>
            <a:r>
              <a:rPr sz="1300" b="0">
                <a:solidFill>
                  <a:srgbClr val="47342E"/>
                </a:solidFill>
                <a:latin typeface="Poppins"/>
              </a:rPr>
              <a:t> (15–20 minuta).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Temperaturne granice:</a:t>
            </a:r>
            <a:r>
              <a:rPr sz="1300" b="0">
                <a:solidFill>
                  <a:srgbClr val="47342E"/>
                </a:solidFill>
                <a:latin typeface="Poppins"/>
              </a:rPr>
              <a:t> Izlazak se preporučuje na temperaturama </a:t>
            </a:r>
            <a:r>
              <a:rPr sz="1300" b="1">
                <a:solidFill>
                  <a:srgbClr val="47342E"/>
                </a:solidFill>
                <a:latin typeface="Poppins"/>
              </a:rPr>
              <a:t>od -5°C do +30°C</a:t>
            </a:r>
            <a:r>
              <a:rPr sz="1300" b="0">
                <a:solidFill>
                  <a:srgbClr val="47342E"/>
                </a:solidFill>
                <a:latin typeface="Poppins"/>
              </a:rPr>
              <a:t>; izbegavati dane sa maglom, jakim vetrom, pljuskovima ili smogom.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Najbolje doba dana:</a:t>
            </a:r>
            <a:r>
              <a:rPr sz="1300" b="0">
                <a:solidFill>
                  <a:srgbClr val="47342E"/>
                </a:solidFill>
                <a:latin typeface="Poppins"/>
              </a:rPr>
              <a:t> Leti šetati </a:t>
            </a:r>
            <a:r>
              <a:rPr sz="1300" b="1">
                <a:solidFill>
                  <a:srgbClr val="47342E"/>
                </a:solidFill>
                <a:latin typeface="Poppins"/>
              </a:rPr>
              <a:t>isključivo u ranim jutarnjim (do 10h) i kasnim popodnevnim satima (posle 17h)</a:t>
            </a:r>
            <a:r>
              <a:rPr sz="1300" b="0">
                <a:solidFill>
                  <a:srgbClr val="47342E"/>
                </a:solidFill>
                <a:latin typeface="Poppins"/>
              </a:rPr>
              <a:t>; zimi oko podneva.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Pravila zaštite tokom šetnje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Kolica i beba moraju biti zaštićeni u skladu sa strogim bezbednosnim pedijatrijskim preporukama.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Ravna korpa u prvih 6 meseci:</a:t>
            </a:r>
            <a:r>
              <a:rPr sz="1300" b="0">
                <a:solidFill>
                  <a:srgbClr val="47342E"/>
                </a:solidFill>
                <a:latin typeface="Poppins"/>
              </a:rPr>
              <a:t> Beba se vozi isključivo u </a:t>
            </a:r>
            <a:r>
              <a:rPr sz="1300" b="1">
                <a:solidFill>
                  <a:srgbClr val="47342E"/>
                </a:solidFill>
                <a:latin typeface="Poppins"/>
              </a:rPr>
              <a:t>potpuno ravnoj korpi sa čvrstim dušekom</a:t>
            </a:r>
            <a:r>
              <a:rPr sz="1300" b="0">
                <a:solidFill>
                  <a:srgbClr val="47342E"/>
                </a:solidFill>
                <a:latin typeface="Poppins"/>
              </a:rPr>
              <a:t> radi pravilnog razvoja kičme i disajnih puteva.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STROGA ZABRANA PREKRIVANJA KOLICA PELENOM:</a:t>
            </a:r>
            <a:r>
              <a:rPr sz="1300" b="0">
                <a:solidFill>
                  <a:srgbClr val="47342E"/>
                </a:solidFill>
                <a:latin typeface="Poppins"/>
              </a:rPr>
              <a:t> Prekrivanje kolica tetra pelenom stvara </a:t>
            </a:r>
            <a:r>
              <a:rPr sz="1300" b="1">
                <a:solidFill>
                  <a:srgbClr val="47342E"/>
                </a:solidFill>
                <a:latin typeface="Poppins"/>
              </a:rPr>
              <a:t>smrtonosni efekat staklene bašte</a:t>
            </a:r>
            <a:r>
              <a:rPr sz="1300" b="0">
                <a:solidFill>
                  <a:srgbClr val="47342E"/>
                </a:solidFill>
                <a:latin typeface="Poppins"/>
              </a:rPr>
              <a:t> (temperatura raste za 4–7°C za 15 minuta)!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Zaštita od sunca:</a:t>
            </a:r>
            <a:r>
              <a:rPr sz="1300" b="0">
                <a:solidFill>
                  <a:srgbClr val="47342E"/>
                </a:solidFill>
                <a:latin typeface="Poppins"/>
              </a:rPr>
              <a:t> Do 6 meseci </a:t>
            </a:r>
            <a:r>
              <a:rPr sz="1300" b="1">
                <a:solidFill>
                  <a:srgbClr val="47342E"/>
                </a:solidFill>
                <a:latin typeface="Poppins"/>
              </a:rPr>
              <a:t>ne koristiti hemijske kreme sa UV faktorom</a:t>
            </a:r>
            <a:r>
              <a:rPr sz="1300" b="0">
                <a:solidFill>
                  <a:srgbClr val="47342E"/>
                </a:solidFill>
                <a:latin typeface="Poppins"/>
              </a:rPr>
              <a:t>; zaštita se postiže hladovinom, suncobranom i šeširićem.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2-3. nedelja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Prvi izlazak bebe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9976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-5 do +30°C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Bezbedan raspon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2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Pre 10h / Posle 17h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Letnji raspored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765535"/>
                </a:solidFill>
                <a:latin typeface="Poppins"/>
              </a:defRPr>
            </a:pPr>
            <a:r>
              <a:t>MODUL 3 • TEMA 21 • MODUL 3: NEGA ODOJČETA</a:t>
            </a:r>
          </a:p>
        </p:txBody>
      </p:sp>
      <p:pic>
        <p:nvPicPr>
          <p:cNvPr id="4" name="Picture 3" descr="logo_horizonta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765535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9614F"/>
                </a:solidFill>
                <a:latin typeface="Poppins"/>
              </a:defRPr>
            </a:pPr>
            <a:r>
              <a:t>ROYAL NANNY AKADEMIJA • STANDARDI NEGE   |   23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900" b="1">
                <a:solidFill>
                  <a:srgbClr val="47342E"/>
                </a:solidFill>
                <a:latin typeface="Libre Baskerville"/>
              </a:defRPr>
            </a:pPr>
            <a:r>
              <a:t>Uvođenje čvrste hrane (Nemlečna dohrana)</a:t>
            </a:r>
          </a:p>
          <a:p>
            <a:pPr>
              <a:spcBef>
                <a:spcPts val="300"/>
              </a:spcBef>
              <a:defRPr sz="1350">
                <a:solidFill>
                  <a:srgbClr val="69614F"/>
                </a:solidFill>
                <a:latin typeface="Poppins"/>
              </a:defRPr>
            </a:pPr>
            <a:r>
              <a:t>Modul 3: Nega odojčeta • Tema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Znaci zrelosti i redosled namirnica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Uvođenje nemlečne ishrane predstavlja tranziciju koja zahteva strpljenje i postepeno privikavanje probavnog trakta.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Optimalan uzrast za početak:</a:t>
            </a:r>
            <a:r>
              <a:rPr sz="1300" b="0">
                <a:solidFill>
                  <a:srgbClr val="47342E"/>
                </a:solidFill>
                <a:latin typeface="Poppins"/>
              </a:rPr>
              <a:t> Između </a:t>
            </a:r>
            <a:r>
              <a:rPr sz="1300" b="1">
                <a:solidFill>
                  <a:srgbClr val="47342E"/>
                </a:solidFill>
                <a:latin typeface="Poppins"/>
              </a:rPr>
              <a:t>navršenih 4 i 6 meseci</a:t>
            </a:r>
            <a:r>
              <a:rPr sz="1300" b="0">
                <a:solidFill>
                  <a:srgbClr val="47342E"/>
                </a:solidFill>
                <a:latin typeface="Poppins"/>
              </a:rPr>
              <a:t> (nikada pre 17. nedelje, niti posle 26. nedelje života).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Znaci spremnosti deteta:</a:t>
            </a:r>
            <a:r>
              <a:rPr sz="1300" b="0">
                <a:solidFill>
                  <a:srgbClr val="47342E"/>
                </a:solidFill>
                <a:latin typeface="Poppins"/>
              </a:rPr>
              <a:t> Dete </a:t>
            </a:r>
            <a:r>
              <a:rPr sz="1300" b="1">
                <a:solidFill>
                  <a:srgbClr val="47342E"/>
                </a:solidFill>
                <a:latin typeface="Poppins"/>
              </a:rPr>
              <a:t>samostalno drži glavicu i stabilno sedi uz podršku</a:t>
            </a:r>
            <a:r>
              <a:rPr sz="1300" b="0">
                <a:solidFill>
                  <a:srgbClr val="47342E"/>
                </a:solidFill>
                <a:latin typeface="Poppins"/>
              </a:rPr>
              <a:t>, pokazuje interesovanje za hranu, </a:t>
            </a:r>
            <a:r>
              <a:rPr sz="1300" b="1">
                <a:solidFill>
                  <a:srgbClr val="47342E"/>
                </a:solidFill>
                <a:latin typeface="Poppins"/>
              </a:rPr>
              <a:t>nestao je refleks guranja hrane jezikom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Pravilo 3 dana:</a:t>
            </a:r>
            <a:r>
              <a:rPr sz="1300" b="0">
                <a:solidFill>
                  <a:srgbClr val="47342E"/>
                </a:solidFill>
                <a:latin typeface="Poppins"/>
              </a:rPr>
              <a:t> Svaka nova namirnica uvodi se </a:t>
            </a:r>
            <a:r>
              <a:rPr sz="1300" b="1">
                <a:solidFill>
                  <a:srgbClr val="47342E"/>
                </a:solidFill>
                <a:latin typeface="Poppins"/>
              </a:rPr>
              <a:t>pojedinačno tokom 3 uzastopna dana</a:t>
            </a:r>
            <a:r>
              <a:rPr sz="1300" b="0">
                <a:solidFill>
                  <a:srgbClr val="47342E"/>
                </a:solidFill>
                <a:latin typeface="Poppins"/>
              </a:rPr>
              <a:t>, u prepodnevnim satima, radi uočavanja alergija.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Redosled uvođenja:</a:t>
            </a:r>
            <a:r>
              <a:rPr sz="1300" b="0">
                <a:solidFill>
                  <a:srgbClr val="47342E"/>
                </a:solidFill>
                <a:latin typeface="Poppins"/>
              </a:rPr>
              <a:t> Prvo </a:t>
            </a:r>
            <a:r>
              <a:rPr sz="1300" b="1">
                <a:solidFill>
                  <a:srgbClr val="47342E"/>
                </a:solidFill>
                <a:latin typeface="Poppins"/>
              </a:rPr>
              <a:t>blago povrće</a:t>
            </a:r>
            <a:r>
              <a:rPr sz="1300" b="0">
                <a:solidFill>
                  <a:srgbClr val="47342E"/>
                </a:solidFill>
                <a:latin typeface="Poppins"/>
              </a:rPr>
              <a:t> (tikvica, šargarepa, krompir), zatim </a:t>
            </a:r>
            <a:r>
              <a:rPr sz="1300" b="1">
                <a:solidFill>
                  <a:srgbClr val="47342E"/>
                </a:solidFill>
                <a:latin typeface="Poppins"/>
              </a:rPr>
              <a:t>žitarice bez glutena</a:t>
            </a:r>
            <a:r>
              <a:rPr sz="1300" b="0">
                <a:solidFill>
                  <a:srgbClr val="47342E"/>
                </a:solidFill>
                <a:latin typeface="Poppins"/>
              </a:rPr>
              <a:t> (pirinač, proso), pa </a:t>
            </a:r>
            <a:r>
              <a:rPr sz="1300" b="1">
                <a:solidFill>
                  <a:srgbClr val="47342E"/>
                </a:solidFill>
                <a:latin typeface="Poppins"/>
              </a:rPr>
              <a:t>voće</a:t>
            </a:r>
            <a:r>
              <a:rPr sz="1300" b="0">
                <a:solidFill>
                  <a:srgbClr val="47342E"/>
                </a:solidFill>
                <a:latin typeface="Poppins"/>
              </a:rPr>
              <a:t> (jabuka, kruška).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Stroge zabrane i bezbednost u prvoj godini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Nezreo probavni trakt i bubrezi odojčeta ne mogu da prerade određene namirnice koje mogu biti toksične.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STROGA ZABRANA SOLI I ŠEĆERA:</a:t>
            </a:r>
            <a:r>
              <a:rPr sz="1300" b="0">
                <a:solidFill>
                  <a:srgbClr val="47342E"/>
                </a:solidFill>
                <a:latin typeface="Poppins"/>
              </a:rPr>
              <a:t> Hrana za bebe se </a:t>
            </a:r>
            <a:r>
              <a:rPr sz="1300" b="1">
                <a:solidFill>
                  <a:srgbClr val="47342E"/>
                </a:solidFill>
                <a:latin typeface="Poppins"/>
              </a:rPr>
              <a:t>nikada ne soli i ne zaslađuje</a:t>
            </a:r>
            <a:r>
              <a:rPr sz="1300" b="0">
                <a:solidFill>
                  <a:srgbClr val="47342E"/>
                </a:solidFill>
                <a:latin typeface="Poppins"/>
              </a:rPr>
              <a:t>; so opterećuje nezrele bubrege deteta!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ZABRANJEN MED U PRVOJ GODINI:</a:t>
            </a:r>
            <a:r>
              <a:rPr sz="1300" b="0">
                <a:solidFill>
                  <a:srgbClr val="47342E"/>
                </a:solidFill>
                <a:latin typeface="Poppins"/>
              </a:rPr>
              <a:t> Med je </a:t>
            </a:r>
            <a:r>
              <a:rPr sz="1300" b="1">
                <a:solidFill>
                  <a:srgbClr val="47342E"/>
                </a:solidFill>
                <a:latin typeface="Poppins"/>
              </a:rPr>
              <a:t>STROGO ZABRANJEN pre 12 meseci</a:t>
            </a:r>
            <a:r>
              <a:rPr sz="1300" b="0">
                <a:solidFill>
                  <a:srgbClr val="47342E"/>
                </a:solidFill>
                <a:latin typeface="Poppins"/>
              </a:rPr>
              <a:t> zbog smrtonosnog rizika od </a:t>
            </a:r>
            <a:r>
              <a:rPr sz="1300" b="1">
                <a:solidFill>
                  <a:srgbClr val="47342E"/>
                </a:solidFill>
                <a:latin typeface="Poppins"/>
              </a:rPr>
              <a:t>dečjeg botulizma</a:t>
            </a:r>
            <a:r>
              <a:rPr sz="1300" b="0">
                <a:solidFill>
                  <a:srgbClr val="47342E"/>
                </a:solidFill>
                <a:latin typeface="Poppins"/>
              </a:rPr>
              <a:t>!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Zabrana svežeg kravljeg mleka:</a:t>
            </a:r>
            <a:r>
              <a:rPr sz="1300" b="0">
                <a:solidFill>
                  <a:srgbClr val="47342E"/>
                </a:solidFill>
                <a:latin typeface="Poppins"/>
              </a:rPr>
              <a:t> Kravlje mleko kao napitak je </a:t>
            </a:r>
            <a:r>
              <a:rPr sz="1300" b="1">
                <a:solidFill>
                  <a:srgbClr val="47342E"/>
                </a:solidFill>
                <a:latin typeface="Poppins"/>
              </a:rPr>
              <a:t>zabranjeno pre 1. godine</a:t>
            </a:r>
            <a:r>
              <a:rPr sz="1300" b="0">
                <a:solidFill>
                  <a:srgbClr val="47342E"/>
                </a:solidFill>
                <a:latin typeface="Poppins"/>
              </a:rPr>
              <a:t> zbog rizika od mikroskopskih krvarenja u crevima i anemije.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4-6 meseci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Uzrast za početak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9976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3 dana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Testiranje namirnice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2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0 soli / šećera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Do 1. godine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765535"/>
                </a:solidFill>
                <a:latin typeface="Poppins"/>
              </a:defRPr>
            </a:pPr>
            <a:r>
              <a:t>MODUL 3 • TEMA 22 • MODUL 3: NEGA ODOJČETA</a:t>
            </a:r>
          </a:p>
        </p:txBody>
      </p:sp>
      <p:pic>
        <p:nvPicPr>
          <p:cNvPr id="4" name="Picture 3" descr="logo_horizonta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765535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9614F"/>
                </a:solidFill>
                <a:latin typeface="Poppins"/>
              </a:defRPr>
            </a:pPr>
            <a:r>
              <a:t>ROYAL NANNY AKADEMIJA • STANDARDI NEGE   |   24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47342E"/>
                </a:solidFill>
                <a:latin typeface="Libre Baskerville"/>
              </a:defRPr>
            </a:pPr>
            <a:r>
              <a:t>Zdrave životne navike i motorni razvoj</a:t>
            </a:r>
          </a:p>
          <a:p>
            <a:pPr>
              <a:spcBef>
                <a:spcPts val="300"/>
              </a:spcBef>
              <a:defRPr sz="1350">
                <a:solidFill>
                  <a:srgbClr val="69614F"/>
                </a:solidFill>
                <a:latin typeface="Poppins"/>
              </a:defRPr>
            </a:pPr>
            <a:r>
              <a:t>Modul 3: Nega odojčeta • Tema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Uspostavljanje ritma i fizičke higijene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Zdrave životne navike formiraju se od prvih meseci života kroz predvidivu i smirujuću dnevnu rutinu.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Tummy time (Boravak na stomaku):</a:t>
            </a:r>
            <a:r>
              <a:rPr sz="1300" b="0">
                <a:solidFill>
                  <a:srgbClr val="47342E"/>
                </a:solidFill>
                <a:latin typeface="Poppins"/>
              </a:rPr>
              <a:t> Praktikovati </a:t>
            </a:r>
            <a:r>
              <a:rPr sz="1300" b="1">
                <a:solidFill>
                  <a:srgbClr val="47342E"/>
                </a:solidFill>
                <a:latin typeface="Poppins"/>
              </a:rPr>
              <a:t>od prvih dana života dok je beba budna i pod nadzorom</a:t>
            </a:r>
            <a:r>
              <a:rPr sz="1300" b="0">
                <a:solidFill>
                  <a:srgbClr val="47342E"/>
                </a:solidFill>
                <a:latin typeface="Poppins"/>
              </a:rPr>
              <a:t>; jača vratne mišiće i sprečava zaravnjenje glave.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Dnevno-noćni ritam:</a:t>
            </a:r>
            <a:r>
              <a:rPr sz="1300" b="0">
                <a:solidFill>
                  <a:srgbClr val="47342E"/>
                </a:solidFill>
                <a:latin typeface="Poppins"/>
              </a:rPr>
              <a:t> Danju održavati </a:t>
            </a:r>
            <a:r>
              <a:rPr sz="1300" b="1">
                <a:solidFill>
                  <a:srgbClr val="47342E"/>
                </a:solidFill>
                <a:latin typeface="Poppins"/>
              </a:rPr>
              <a:t>normalnu dnevnu svetlost i kućne zvuke</a:t>
            </a:r>
            <a:r>
              <a:rPr sz="1300" b="0">
                <a:solidFill>
                  <a:srgbClr val="47342E"/>
                </a:solidFill>
                <a:latin typeface="Poppins"/>
              </a:rPr>
              <a:t>; noću sobu zamračiti i hraniti bebu u tišini bez razgovora.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Ritual pred spavanje:</a:t>
            </a:r>
            <a:r>
              <a:rPr sz="1300" b="0">
                <a:solidFill>
                  <a:srgbClr val="47342E"/>
                </a:solidFill>
                <a:latin typeface="Poppins"/>
              </a:rPr>
              <a:t> Ponavljati </a:t>
            </a:r>
            <a:r>
              <a:rPr sz="1300" b="1">
                <a:solidFill>
                  <a:srgbClr val="47342E"/>
                </a:solidFill>
                <a:latin typeface="Poppins"/>
              </a:rPr>
              <a:t>isti redosled svako veče</a:t>
            </a:r>
            <a:r>
              <a:rPr sz="1300" b="0">
                <a:solidFill>
                  <a:srgbClr val="47342E"/>
                </a:solidFill>
                <a:latin typeface="Poppins"/>
              </a:rPr>
              <a:t> (kupanje, masaža, oblačenje pidžame, podoj, uspavljivanje u krevecu).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Podsticanje motorike i standardi igre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Razvoj krupne motorike zahteva slobodu pokreta bez upotrebe pasivizirajućih i opasnih rekvizita.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Prirodan motorni razvoj: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Ne forsirati bebu u prevremeno sedenje i stajanje</a:t>
            </a:r>
            <a:r>
              <a:rPr sz="1300" b="0">
                <a:solidFill>
                  <a:srgbClr val="47342E"/>
                </a:solidFill>
                <a:latin typeface="Poppins"/>
              </a:rPr>
              <a:t>; detetu omogućiti bezbedan prostor na podu na čvrstoj podlozi.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STROGA ZABRANA HODALICA (DUBKA):</a:t>
            </a:r>
            <a:r>
              <a:rPr sz="1300" b="0">
                <a:solidFill>
                  <a:srgbClr val="47342E"/>
                </a:solidFill>
                <a:latin typeface="Poppins"/>
              </a:rPr>
              <a:t> Dubak je </a:t>
            </a:r>
            <a:r>
              <a:rPr sz="1300" b="1">
                <a:solidFill>
                  <a:srgbClr val="47342E"/>
                </a:solidFill>
                <a:latin typeface="Poppins"/>
              </a:rPr>
              <a:t>zvanično zabranjen od strane pedijatara</a:t>
            </a:r>
            <a:r>
              <a:rPr sz="1300" b="0">
                <a:solidFill>
                  <a:srgbClr val="47342E"/>
                </a:solidFill>
                <a:latin typeface="Poppins"/>
              </a:rPr>
              <a:t> jer izaziva deformitete stopala i kičme i nosi ogroman rizik od prevrtanja!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Ekrani zabranjeni do 2. godine: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Nema gledanja televizije, telefona ili tableta</a:t>
            </a:r>
            <a:r>
              <a:rPr sz="1300" b="0">
                <a:solidFill>
                  <a:srgbClr val="47342E"/>
                </a:solidFill>
                <a:latin typeface="Poppins"/>
              </a:rPr>
              <a:t> pre navršene 2. godine života radi zdravog razvoja mozga i pažnje.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Tummy Time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Svakodnevno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9976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0 ekrana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Pre 2. godine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2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Cirkadijalni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Ritam dan / noć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765535"/>
                </a:solidFill>
                <a:latin typeface="Poppins"/>
              </a:defRPr>
            </a:pPr>
            <a:r>
              <a:t>MODUL 3 • TEMA 23 • MODUL 3: NEGA ODOJČETA</a:t>
            </a:r>
          </a:p>
        </p:txBody>
      </p:sp>
      <p:pic>
        <p:nvPicPr>
          <p:cNvPr id="4" name="Picture 3" descr="logo_horizonta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765535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9614F"/>
                </a:solidFill>
                <a:latin typeface="Poppins"/>
              </a:defRPr>
            </a:pPr>
            <a:r>
              <a:t>ROYAL NANNY AKADEMIJA • STANDARDI NEGE   |   25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900" b="1">
                <a:solidFill>
                  <a:srgbClr val="47342E"/>
                </a:solidFill>
                <a:latin typeface="Libre Baskerville"/>
              </a:defRPr>
            </a:pPr>
            <a:r>
              <a:t>Denticija (Nicanje zubića) i oralna higijena</a:t>
            </a:r>
          </a:p>
          <a:p>
            <a:pPr>
              <a:spcBef>
                <a:spcPts val="300"/>
              </a:spcBef>
              <a:defRPr sz="1350">
                <a:solidFill>
                  <a:srgbClr val="69614F"/>
                </a:solidFill>
                <a:latin typeface="Poppins"/>
              </a:defRPr>
            </a:pPr>
            <a:r>
              <a:t>Modul 3: Nega odojčeta • Tema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Simptomi denticije i olakšavanje tegoba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Nicanje zubića je fiziološki proces koji kod većine odojčadi izaziva lokalnu nelagodnost, svrab i pojačanu salivaciju.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Vreme i redosled nicanja:</a:t>
            </a:r>
            <a:r>
              <a:rPr sz="1300" b="0">
                <a:solidFill>
                  <a:srgbClr val="47342E"/>
                </a:solidFill>
                <a:latin typeface="Poppins"/>
              </a:rPr>
              <a:t> Najčešće počinje između </a:t>
            </a:r>
            <a:r>
              <a:rPr sz="1300" b="1">
                <a:solidFill>
                  <a:srgbClr val="47342E"/>
                </a:solidFill>
                <a:latin typeface="Poppins"/>
              </a:rPr>
              <a:t>5. i 8. meseca</a:t>
            </a:r>
            <a:r>
              <a:rPr sz="1300" b="0">
                <a:solidFill>
                  <a:srgbClr val="47342E"/>
                </a:solidFill>
                <a:latin typeface="Poppins"/>
              </a:rPr>
              <a:t>, prvo donji centralni sekutići; praćeno </a:t>
            </a:r>
            <a:r>
              <a:rPr sz="1300" b="1">
                <a:solidFill>
                  <a:srgbClr val="47342E"/>
                </a:solidFill>
                <a:latin typeface="Poppins"/>
              </a:rPr>
              <a:t>pojačanim lučenjem pljuvačke i guranjem predmeta u usta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Rashlađene gumene glodalice:</a:t>
            </a:r>
            <a:r>
              <a:rPr sz="1300" b="0">
                <a:solidFill>
                  <a:srgbClr val="47342E"/>
                </a:solidFill>
                <a:latin typeface="Poppins"/>
              </a:rPr>
              <a:t> Glodalice rashlađene u frižideru (</a:t>
            </a:r>
            <a:r>
              <a:rPr sz="1300" b="1">
                <a:solidFill>
                  <a:srgbClr val="47342E"/>
                </a:solidFill>
                <a:latin typeface="Poppins"/>
              </a:rPr>
              <a:t>nikada u zamrzivaču!</a:t>
            </a:r>
            <a:r>
              <a:rPr sz="1300" b="0">
                <a:solidFill>
                  <a:srgbClr val="47342E"/>
                </a:solidFill>
                <a:latin typeface="Poppins"/>
              </a:rPr>
              <a:t>) smanjuju upalu i ublažavaju bol u desnima.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Masaža desni:</a:t>
            </a:r>
            <a:r>
              <a:rPr sz="1300" b="0">
                <a:solidFill>
                  <a:srgbClr val="47342E"/>
                </a:solidFill>
                <a:latin typeface="Poppins"/>
              </a:rPr>
              <a:t> Nežna masaža desni </a:t>
            </a:r>
            <a:r>
              <a:rPr sz="1300" b="1">
                <a:solidFill>
                  <a:srgbClr val="47342E"/>
                </a:solidFill>
                <a:latin typeface="Poppins"/>
              </a:rPr>
              <a:t>čistim silikonskim naprstkom ili vlažnom sterilnom gazicom</a:t>
            </a:r>
            <a:r>
              <a:rPr sz="1300" b="0">
                <a:solidFill>
                  <a:srgbClr val="47342E"/>
                </a:solidFill>
                <a:latin typeface="Poppins"/>
              </a:rPr>
              <a:t> pre spavanja.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Mit o visokoj temperaturi:</a:t>
            </a:r>
            <a:r>
              <a:rPr sz="1300" b="0">
                <a:solidFill>
                  <a:srgbClr val="47342E"/>
                </a:solidFill>
                <a:latin typeface="Poppins"/>
              </a:rPr>
              <a:t> Nicanje zuba može dati samo subfebrilnu temperaturu (</a:t>
            </a:r>
            <a:r>
              <a:rPr sz="1300" b="1">
                <a:solidFill>
                  <a:srgbClr val="47342E"/>
                </a:solidFill>
                <a:latin typeface="Poppins"/>
              </a:rPr>
              <a:t>do 37.5°C</a:t>
            </a:r>
            <a:r>
              <a:rPr sz="1300" b="0">
                <a:solidFill>
                  <a:srgbClr val="47342E"/>
                </a:solidFill>
                <a:latin typeface="Poppins"/>
              </a:rPr>
              <a:t>); temperatura </a:t>
            </a:r>
            <a:r>
              <a:rPr sz="1300" b="1">
                <a:solidFill>
                  <a:srgbClr val="47342E"/>
                </a:solidFill>
                <a:latin typeface="Poppins"/>
              </a:rPr>
              <a:t>preko 38°C NIKADA nije od zuba</a:t>
            </a:r>
            <a:r>
              <a:rPr sz="1300" b="0">
                <a:solidFill>
                  <a:srgbClr val="47342E"/>
                </a:solidFill>
                <a:latin typeface="Poppins"/>
              </a:rPr>
              <a:t> već od infekcije!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Pravilna higijena usne duplje i zubića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Oralna higijena započinje pre nicanja prvog zuba radi uklanjanja naslaga mleka i prevencije ranog karijesa.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Oralna toaleta pre zuba:</a:t>
            </a:r>
            <a:r>
              <a:rPr sz="1300" b="0">
                <a:solidFill>
                  <a:srgbClr val="47342E"/>
                </a:solidFill>
                <a:latin typeface="Poppins"/>
              </a:rPr>
              <a:t> Pre nicanja prvog zuba prebrisati desni </a:t>
            </a:r>
            <a:r>
              <a:rPr sz="1300" b="1">
                <a:solidFill>
                  <a:srgbClr val="47342E"/>
                </a:solidFill>
                <a:latin typeface="Poppins"/>
              </a:rPr>
              <a:t>sterilnom gazicom natopljenom prokuvanom vodom</a:t>
            </a:r>
            <a:r>
              <a:rPr sz="1300" b="0">
                <a:solidFill>
                  <a:srgbClr val="47342E"/>
                </a:solidFill>
                <a:latin typeface="Poppins"/>
              </a:rPr>
              <a:t> jednom dnevno.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Nega prvog zubića:</a:t>
            </a:r>
            <a:r>
              <a:rPr sz="1300" b="0">
                <a:solidFill>
                  <a:srgbClr val="47342E"/>
                </a:solidFill>
                <a:latin typeface="Poppins"/>
              </a:rPr>
              <a:t> Čim zub nikne, počinje pranje </a:t>
            </a:r>
            <a:r>
              <a:rPr sz="1300" b="1">
                <a:solidFill>
                  <a:srgbClr val="47342E"/>
                </a:solidFill>
                <a:latin typeface="Poppins"/>
              </a:rPr>
              <a:t>dečjom četkicom sa mekim vlaknima</a:t>
            </a:r>
            <a:r>
              <a:rPr sz="1300" b="0">
                <a:solidFill>
                  <a:srgbClr val="47342E"/>
                </a:solidFill>
                <a:latin typeface="Poppins"/>
              </a:rPr>
              <a:t> dva puta dnevno (veličina paste kao zrno pirinča bez fluora).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4-7 meseci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Prvi sekutići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9976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0 lidokaina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Gelovi za desni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2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Od 1. zubića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Pranje četkicom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765535"/>
                </a:solidFill>
                <a:latin typeface="Poppins"/>
              </a:defRPr>
            </a:pPr>
            <a:r>
              <a:t>MODUL 3 • TEMA 24 • MODUL 3: NEGA ODOJČETA</a:t>
            </a:r>
          </a:p>
        </p:txBody>
      </p:sp>
      <p:pic>
        <p:nvPicPr>
          <p:cNvPr id="4" name="Picture 3" descr="logo_horizonta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765535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9614F"/>
                </a:solidFill>
                <a:latin typeface="Poppins"/>
              </a:defRPr>
            </a:pPr>
            <a:r>
              <a:t>ROYAL NANNY AKADEMIJA • STANDARDI NEGE   |   26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676656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900" b="1">
                <a:solidFill>
                  <a:srgbClr val="47342E"/>
                </a:solidFill>
                <a:latin typeface="Libre Baskerville"/>
              </a:defRPr>
            </a:pPr>
            <a:r>
              <a:t>Putovanje sa odojčetom: Vožnja i adaptacija</a:t>
            </a:r>
          </a:p>
          <a:p>
            <a:pPr>
              <a:spcBef>
                <a:spcPts val="300"/>
              </a:spcBef>
              <a:defRPr sz="1350">
                <a:solidFill>
                  <a:srgbClr val="69614F"/>
                </a:solidFill>
                <a:latin typeface="Poppins"/>
              </a:defRPr>
            </a:pPr>
            <a:r>
              <a:t>Modul 3: Nega odojčeta • Tema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051560"/>
            <a:ext cx="443484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26_infant_car_sea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022" y="1078992"/>
            <a:ext cx="3823411" cy="51206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1691640"/>
            <a:ext cx="2017776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bIns="73152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Rear-Facing</a:t>
            </a:r>
          </a:p>
          <a:p>
            <a:pPr>
              <a:spcBef>
                <a:spcPts val="200"/>
              </a:spcBef>
              <a:defRPr sz="1000">
                <a:solidFill>
                  <a:srgbClr val="69614F"/>
                </a:solidFill>
                <a:latin typeface="Poppins"/>
              </a:defRPr>
            </a:pPr>
            <a:r>
              <a:t>Suprotan smer vožnje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691640"/>
            <a:ext cx="54864" cy="89611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77312" y="1691640"/>
            <a:ext cx="2017776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bIns="73152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2 sata</a:t>
            </a:r>
          </a:p>
          <a:p>
            <a:pPr>
              <a:spcBef>
                <a:spcPts val="200"/>
              </a:spcBef>
              <a:defRPr sz="1000">
                <a:solidFill>
                  <a:srgbClr val="69614F"/>
                </a:solidFill>
                <a:latin typeface="Poppins"/>
              </a:defRPr>
            </a:pPr>
            <a:r>
              <a:t>Maksimalno u auto-sedištu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77312" y="1691640"/>
            <a:ext cx="54864" cy="89611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3104" y="1691640"/>
            <a:ext cx="2017776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bIns="73152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Max 5-6°C</a:t>
            </a:r>
          </a:p>
          <a:p>
            <a:pPr>
              <a:spcBef>
                <a:spcPts val="200"/>
              </a:spcBef>
              <a:defRPr sz="1000">
                <a:solidFill>
                  <a:srgbClr val="69614F"/>
                </a:solidFill>
                <a:latin typeface="Poppins"/>
              </a:defRPr>
            </a:pPr>
            <a:r>
              <a:t>Razlika klime i spolja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3104" y="1691640"/>
            <a:ext cx="54864" cy="89611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2715768"/>
            <a:ext cx="6309360" cy="1709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19456" tIns="164592" bIns="137160"/>
          <a:lstStyle/>
          <a:p>
            <a:pPr algn="ctr">
              <a:defRPr sz="1800" b="1">
                <a:solidFill>
                  <a:srgbClr val="765535"/>
                </a:solidFill>
                <a:latin typeface="Libre Baskerville"/>
              </a:defRPr>
            </a:pPr>
            <a:r>
              <a:t>Bezbednost u automobilu (Zlatni standard)</a:t>
            </a:r>
          </a:p>
          <a:p>
            <a:pPr>
              <a:spcBef>
                <a:spcPts val="400"/>
              </a:spcBef>
              <a:defRPr sz="1400">
                <a:solidFill>
                  <a:srgbClr val="47342E"/>
                </a:solidFill>
                <a:latin typeface="Poppins"/>
              </a:defRPr>
            </a:pPr>
            <a:r>
              <a:t>Pravilna upotreba homologovanog auto-sedišta je zakonska i medicinska obaveza; nikakvo držanje deteta u naručju ne može zameniti sedište.</a:t>
            </a:r>
          </a:p>
          <a:p>
            <a:pPr>
              <a:spcBef>
                <a:spcPts val="35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Rear-facing položaj (u suprotnom smeru):</a:t>
            </a:r>
            <a:r>
              <a:rPr sz="1300" b="0">
                <a:solidFill>
                  <a:srgbClr val="47342E"/>
                </a:solidFill>
                <a:latin typeface="Poppins"/>
              </a:rPr>
              <a:t> Auto-sedište grupe 0+ ("jaje") </a:t>
            </a:r>
            <a:r>
              <a:rPr sz="1300" b="1">
                <a:solidFill>
                  <a:srgbClr val="47342E"/>
                </a:solidFill>
                <a:latin typeface="Poppins"/>
              </a:rPr>
              <a:t>mora biti okrenuto suprotno od smera vožnje</a:t>
            </a:r>
            <a:r>
              <a:rPr sz="1300" b="0">
                <a:solidFill>
                  <a:srgbClr val="47342E"/>
                </a:solidFill>
                <a:latin typeface="Poppins"/>
              </a:rPr>
              <a:t>; pruža </a:t>
            </a:r>
            <a:r>
              <a:rPr sz="1300" b="1">
                <a:solidFill>
                  <a:srgbClr val="47342E"/>
                </a:solidFill>
                <a:latin typeface="Poppins"/>
              </a:rPr>
              <a:t>5 puta veću zaštitu</a:t>
            </a:r>
            <a:r>
              <a:rPr sz="1300" b="0">
                <a:solidFill>
                  <a:srgbClr val="47342E"/>
                </a:solidFill>
                <a:latin typeface="Poppins"/>
              </a:rPr>
              <a:t> za bebin vrat i kičmu.</a:t>
            </a:r>
          </a:p>
          <a:p>
            <a:pPr>
              <a:spcBef>
                <a:spcPts val="35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Zatezanje pojasa (Test štipaljke):</a:t>
            </a:r>
            <a:r>
              <a:rPr sz="1300" b="0">
                <a:solidFill>
                  <a:srgbClr val="47342E"/>
                </a:solidFill>
                <a:latin typeface="Poppins"/>
              </a:rPr>
              <a:t> Sigurnosni pojas mora biti zategnut tako da </a:t>
            </a:r>
            <a:r>
              <a:rPr sz="1300" b="1">
                <a:solidFill>
                  <a:srgbClr val="47342E"/>
                </a:solidFill>
                <a:latin typeface="Poppins"/>
              </a:rPr>
              <a:t>između pojasa i bebinog tela stane samo jedan prst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35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Pravilo dva sata (Two-hour rule):</a:t>
            </a:r>
            <a:r>
              <a:rPr sz="1300" b="0">
                <a:solidFill>
                  <a:srgbClr val="47342E"/>
                </a:solidFill>
                <a:latin typeface="Poppins"/>
              </a:rPr>
              <a:t> Beba ne sme neprekidno provesti </a:t>
            </a:r>
            <a:r>
              <a:rPr sz="1300" b="1">
                <a:solidFill>
                  <a:srgbClr val="47342E"/>
                </a:solidFill>
                <a:latin typeface="Poppins"/>
              </a:rPr>
              <a:t>više od 2 sata u auto-sedištu</a:t>
            </a:r>
            <a:r>
              <a:rPr sz="1300" b="0">
                <a:solidFill>
                  <a:srgbClr val="47342E"/>
                </a:solidFill>
                <a:latin typeface="Poppins"/>
              </a:rPr>
              <a:t>; obavezne pauze sa vađenjem bebe i polaganjem na ravnu podlogu.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715768"/>
            <a:ext cx="64008" cy="1709928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553712"/>
            <a:ext cx="6309360" cy="1709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19456" tIns="164592" bIns="137160"/>
          <a:lstStyle/>
          <a:p>
            <a:pPr algn="ctr">
              <a:defRPr sz="1800" b="1">
                <a:solidFill>
                  <a:srgbClr val="765535"/>
                </a:solidFill>
                <a:latin typeface="Libre Baskerville"/>
              </a:defRPr>
            </a:pPr>
            <a:r>
              <a:t>Klimatizacija, avion i priručna oprema</a:t>
            </a:r>
          </a:p>
          <a:p>
            <a:pPr>
              <a:spcBef>
                <a:spcPts val="400"/>
              </a:spcBef>
              <a:defRPr sz="1400">
                <a:solidFill>
                  <a:srgbClr val="47342E"/>
                </a:solidFill>
                <a:latin typeface="Poppins"/>
              </a:defRPr>
            </a:pPr>
            <a:r>
              <a:t>Putovanje sa odojčetom zahteva posebne mere zaštite od dehidracije, temperaturnih razlika i promena pritiska.</a:t>
            </a:r>
          </a:p>
          <a:p>
            <a:pPr>
              <a:spcBef>
                <a:spcPts val="35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Klimatizacija u vozilu:</a:t>
            </a:r>
            <a:r>
              <a:rPr sz="1300" b="0">
                <a:solidFill>
                  <a:srgbClr val="47342E"/>
                </a:solidFill>
                <a:latin typeface="Poppins"/>
              </a:rPr>
              <a:t> Razlika između spoljašnje temperature i klime u automobilu </a:t>
            </a:r>
            <a:r>
              <a:rPr sz="1300" b="1">
                <a:solidFill>
                  <a:srgbClr val="47342E"/>
                </a:solidFill>
                <a:latin typeface="Poppins"/>
              </a:rPr>
              <a:t>ne sme prelaziti 5–6°C</a:t>
            </a:r>
            <a:r>
              <a:rPr sz="1300" b="0">
                <a:solidFill>
                  <a:srgbClr val="47342E"/>
                </a:solidFill>
                <a:latin typeface="Poppins"/>
              </a:rPr>
              <a:t>; usmeriti ventilaciju dalje od bebinog lica.</a:t>
            </a:r>
          </a:p>
          <a:p>
            <a:pPr>
              <a:spcBef>
                <a:spcPts val="35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Putovanje avionom:</a:t>
            </a:r>
            <a:r>
              <a:rPr sz="1300" b="0">
                <a:solidFill>
                  <a:srgbClr val="47342E"/>
                </a:solidFill>
                <a:latin typeface="Poppins"/>
              </a:rPr>
              <a:t> Tokom poletanja i sletanja </a:t>
            </a:r>
            <a:r>
              <a:rPr sz="1300" b="1">
                <a:solidFill>
                  <a:srgbClr val="47342E"/>
                </a:solidFill>
                <a:latin typeface="Poppins"/>
              </a:rPr>
              <a:t>ponuditi podoj, flašicu ili cuclu</a:t>
            </a:r>
            <a:r>
              <a:rPr sz="1300" b="0">
                <a:solidFill>
                  <a:srgbClr val="47342E"/>
                </a:solidFill>
                <a:latin typeface="Poppins"/>
              </a:rPr>
              <a:t>; gutanje izjednačava pritisak u srednjem uhu i sprečava jak bol.</a:t>
            </a:r>
          </a:p>
          <a:p>
            <a:pPr>
              <a:spcBef>
                <a:spcPts val="35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Priručna torba za hitne potrebe:</a:t>
            </a:r>
            <a:r>
              <a:rPr sz="1300" b="0">
                <a:solidFill>
                  <a:srgbClr val="47342E"/>
                </a:solidFill>
                <a:latin typeface="Poppins"/>
              </a:rPr>
              <a:t> Rezervna odeća, pelene, vlažne maramice, </a:t>
            </a:r>
            <a:r>
              <a:rPr sz="1300" b="1">
                <a:solidFill>
                  <a:srgbClr val="47342E"/>
                </a:solidFill>
                <a:latin typeface="Poppins"/>
              </a:rPr>
              <a:t>rehidracioni rastvor, paracetamol sirup i omiljena igračka/tešilica</a:t>
            </a:r>
            <a:r>
              <a:rPr sz="1300" b="0">
                <a:solidFill>
                  <a:srgbClr val="47342E"/>
                </a:solidFill>
                <a:latin typeface="Poppins"/>
              </a:rPr>
              <a:t> uvek pri ruci.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553712"/>
            <a:ext cx="64008" cy="1709928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765535"/>
                </a:solidFill>
                <a:latin typeface="Poppins"/>
              </a:defRPr>
            </a:pPr>
            <a:r>
              <a:t>MODUL 4 • TEMA 25 • MODUL 4: NEGA BOLESNOG DETETA</a:t>
            </a:r>
          </a:p>
        </p:txBody>
      </p:sp>
      <p:pic>
        <p:nvPicPr>
          <p:cNvPr id="4" name="Picture 3" descr="logo_horizonta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765535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9614F"/>
                </a:solidFill>
                <a:latin typeface="Poppins"/>
              </a:defRPr>
            </a:pPr>
            <a:r>
              <a:t>ROYAL NANNY AKADEMIJA • STANDARDI NEGE   |   27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676656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900" b="1">
                <a:solidFill>
                  <a:srgbClr val="47342E"/>
                </a:solidFill>
                <a:latin typeface="Libre Baskerville"/>
              </a:defRPr>
            </a:pPr>
            <a:r>
              <a:t>Grčevi kod beba (Infantilne kolike): Smirivanje i nega</a:t>
            </a:r>
          </a:p>
          <a:p>
            <a:pPr>
              <a:spcBef>
                <a:spcPts val="300"/>
              </a:spcBef>
              <a:defRPr sz="1350">
                <a:solidFill>
                  <a:srgbClr val="69614F"/>
                </a:solidFill>
                <a:latin typeface="Poppins"/>
              </a:defRPr>
            </a:pPr>
            <a:r>
              <a:t>Modul 4: Nega bolesnog deteta • Tema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051560"/>
            <a:ext cx="443484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20_baby_colic_car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022" y="1078992"/>
            <a:ext cx="3823411" cy="51206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1691640"/>
            <a:ext cx="2017776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bIns="73152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Pravilo 3</a:t>
            </a:r>
          </a:p>
          <a:p>
            <a:pPr>
              <a:spcBef>
                <a:spcPts val="200"/>
              </a:spcBef>
              <a:defRPr sz="1000">
                <a:solidFill>
                  <a:srgbClr val="69614F"/>
                </a:solidFill>
                <a:latin typeface="Poppins"/>
              </a:defRPr>
            </a:pPr>
            <a:r>
              <a:t>Vesselovi kriterijumi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691640"/>
            <a:ext cx="54864" cy="89611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77312" y="1691640"/>
            <a:ext cx="2017776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bIns="73152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3-4. mesec</a:t>
            </a:r>
          </a:p>
          <a:p>
            <a:pPr>
              <a:spcBef>
                <a:spcPts val="200"/>
              </a:spcBef>
              <a:defRPr sz="1000">
                <a:solidFill>
                  <a:srgbClr val="69614F"/>
                </a:solidFill>
                <a:latin typeface="Poppins"/>
              </a:defRPr>
            </a:pPr>
            <a:r>
              <a:t>Spontano povlačenje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77312" y="1691640"/>
            <a:ext cx="54864" cy="89611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3104" y="1691640"/>
            <a:ext cx="2017776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bIns="73152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Tigar na drvetu</a:t>
            </a:r>
          </a:p>
          <a:p>
            <a:pPr>
              <a:spcBef>
                <a:spcPts val="200"/>
              </a:spcBef>
              <a:defRPr sz="1000">
                <a:solidFill>
                  <a:srgbClr val="69614F"/>
                </a:solidFill>
                <a:latin typeface="Poppins"/>
              </a:defRPr>
            </a:pPr>
            <a:r>
              <a:t>Položaj olakšanja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3104" y="1691640"/>
            <a:ext cx="54864" cy="89611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2715768"/>
            <a:ext cx="6309360" cy="1709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19456" tIns="164592" bIns="137160"/>
          <a:lstStyle/>
          <a:p>
            <a:pPr algn="ctr">
              <a:defRPr sz="1800" b="1">
                <a:solidFill>
                  <a:srgbClr val="765535"/>
                </a:solidFill>
                <a:latin typeface="Libre Baskerville"/>
              </a:defRPr>
            </a:pPr>
            <a:r>
              <a:t>Klinička slika i Vesselovo pravilo trojke</a:t>
            </a:r>
          </a:p>
          <a:p>
            <a:pPr>
              <a:spcBef>
                <a:spcPts val="400"/>
              </a:spcBef>
              <a:defRPr sz="1400">
                <a:solidFill>
                  <a:srgbClr val="47342E"/>
                </a:solidFill>
                <a:latin typeface="Poppins"/>
              </a:defRPr>
            </a:pPr>
            <a:r>
              <a:t>Infantilne kolike su prolazni fiziološki fenomen nezrelosti digestivnog i nervnog sistema koji se javlja kod potpuno zdrave dece.</a:t>
            </a:r>
          </a:p>
          <a:p>
            <a:pPr>
              <a:spcBef>
                <a:spcPts val="35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Vreme javljanja:</a:t>
            </a:r>
            <a:r>
              <a:rPr sz="1300" b="0">
                <a:solidFill>
                  <a:srgbClr val="47342E"/>
                </a:solidFill>
                <a:latin typeface="Poppins"/>
              </a:rPr>
              <a:t> Počinju oko </a:t>
            </a:r>
            <a:r>
              <a:rPr sz="1300" b="1">
                <a:solidFill>
                  <a:srgbClr val="47342E"/>
                </a:solidFill>
                <a:latin typeface="Poppins"/>
              </a:rPr>
              <a:t>2–3. nedelje života</a:t>
            </a:r>
            <a:r>
              <a:rPr sz="1300" b="0">
                <a:solidFill>
                  <a:srgbClr val="47342E"/>
                </a:solidFill>
                <a:latin typeface="Poppins"/>
              </a:rPr>
              <a:t>, dostižu vrhunac oko 6. nedelje, a spontano prestaju oko 3–4. meseca; najčešće </a:t>
            </a:r>
            <a:r>
              <a:rPr sz="1300" b="1">
                <a:solidFill>
                  <a:srgbClr val="47342E"/>
                </a:solidFill>
                <a:latin typeface="Poppins"/>
              </a:rPr>
              <a:t>kasno popodne i uveče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35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Vesselovo pravilo trojke:</a:t>
            </a:r>
            <a:r>
              <a:rPr sz="1300" b="0">
                <a:solidFill>
                  <a:srgbClr val="47342E"/>
                </a:solidFill>
                <a:latin typeface="Poppins"/>
              </a:rPr>
              <a:t> Plač duže od </a:t>
            </a:r>
            <a:r>
              <a:rPr sz="1300" b="1">
                <a:solidFill>
                  <a:srgbClr val="47342E"/>
                </a:solidFill>
                <a:latin typeface="Poppins"/>
              </a:rPr>
              <a:t>3 sata dnevno</a:t>
            </a:r>
            <a:r>
              <a:rPr sz="1300" b="0">
                <a:solidFill>
                  <a:srgbClr val="47342E"/>
                </a:solidFill>
                <a:latin typeface="Poppins"/>
              </a:rPr>
              <a:t>, više od </a:t>
            </a:r>
            <a:r>
              <a:rPr sz="1300" b="1">
                <a:solidFill>
                  <a:srgbClr val="47342E"/>
                </a:solidFill>
                <a:latin typeface="Poppins"/>
              </a:rPr>
              <a:t>3 dana u nedelji</a:t>
            </a:r>
            <a:r>
              <a:rPr sz="1300" b="0">
                <a:solidFill>
                  <a:srgbClr val="47342E"/>
                </a:solidFill>
                <a:latin typeface="Poppins"/>
              </a:rPr>
              <a:t>, tokom najmanje </a:t>
            </a:r>
            <a:r>
              <a:rPr sz="1300" b="1">
                <a:solidFill>
                  <a:srgbClr val="47342E"/>
                </a:solidFill>
                <a:latin typeface="Poppins"/>
              </a:rPr>
              <a:t>3 uzastopne nedelje</a:t>
            </a:r>
            <a:r>
              <a:rPr sz="1300" b="0">
                <a:solidFill>
                  <a:srgbClr val="47342E"/>
                </a:solidFill>
                <a:latin typeface="Poppins"/>
              </a:rPr>
              <a:t> kod zdrave bebe koja lepo napreduje.</a:t>
            </a:r>
          </a:p>
          <a:p>
            <a:pPr>
              <a:spcBef>
                <a:spcPts val="35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Klasičan izgled napada:</a:t>
            </a:r>
            <a:r>
              <a:rPr sz="1300" b="0">
                <a:solidFill>
                  <a:srgbClr val="47342E"/>
                </a:solidFill>
                <a:latin typeface="Poppins"/>
              </a:rPr>
              <a:t> Beba pocrveni u licu, </a:t>
            </a:r>
            <a:r>
              <a:rPr sz="1300" b="1">
                <a:solidFill>
                  <a:srgbClr val="47342E"/>
                </a:solidFill>
                <a:latin typeface="Poppins"/>
              </a:rPr>
              <a:t>grčevito privlači nožice ka stomaku</a:t>
            </a:r>
            <a:r>
              <a:rPr sz="1300" b="0">
                <a:solidFill>
                  <a:srgbClr val="47342E"/>
                </a:solidFill>
                <a:latin typeface="Poppins"/>
              </a:rPr>
              <a:t>, pesnice su stisnute, a stomak je napet i tvrd na dodir.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715768"/>
            <a:ext cx="64008" cy="1709928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553712"/>
            <a:ext cx="6309360" cy="1709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19456" tIns="164592" bIns="137160"/>
          <a:lstStyle/>
          <a:p>
            <a:pPr algn="ctr">
              <a:defRPr sz="1800" b="1">
                <a:solidFill>
                  <a:srgbClr val="765535"/>
                </a:solidFill>
                <a:latin typeface="Libre Baskerville"/>
              </a:defRPr>
            </a:pPr>
            <a:r>
              <a:t>Efikasne tehnike olakšavanja tegoba</a:t>
            </a:r>
          </a:p>
          <a:p>
            <a:pPr>
              <a:spcBef>
                <a:spcPts val="400"/>
              </a:spcBef>
              <a:defRPr sz="1400">
                <a:solidFill>
                  <a:srgbClr val="47342E"/>
                </a:solidFill>
                <a:latin typeface="Poppins"/>
              </a:defRPr>
            </a:pPr>
            <a:r>
              <a:t>Kombinacija posturalnih manevara, blage toplote i zvučne stimulacije donosi značajno olakšanje.</a:t>
            </a:r>
          </a:p>
          <a:p>
            <a:pPr>
              <a:spcBef>
                <a:spcPts val="35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Položaj "Tigar na grani":</a:t>
            </a:r>
            <a:r>
              <a:rPr sz="1300" b="0">
                <a:solidFill>
                  <a:srgbClr val="47342E"/>
                </a:solidFill>
                <a:latin typeface="Poppins"/>
              </a:rPr>
              <a:t> Postaviti bebu </a:t>
            </a:r>
            <a:r>
              <a:rPr sz="1300" b="1">
                <a:solidFill>
                  <a:srgbClr val="47342E"/>
                </a:solidFill>
                <a:latin typeface="Poppins"/>
              </a:rPr>
              <a:t>potrbuške duž svoje podlaktice</a:t>
            </a:r>
            <a:r>
              <a:rPr sz="1300" b="0">
                <a:solidFill>
                  <a:srgbClr val="47342E"/>
                </a:solidFill>
                <a:latin typeface="Poppins"/>
              </a:rPr>
              <a:t> sa glavicom u pregibu lakta; blagi pritisak na stomak olakšava izbacivanje gasova.</a:t>
            </a:r>
          </a:p>
          <a:p>
            <a:pPr>
              <a:spcBef>
                <a:spcPts val="35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Toplota na stomačić: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Topla pamučna pelena ili termofor sa košticama trešnje</a:t>
            </a:r>
            <a:r>
              <a:rPr sz="1300" b="0">
                <a:solidFill>
                  <a:srgbClr val="47342E"/>
                </a:solidFill>
                <a:latin typeface="Poppins"/>
              </a:rPr>
              <a:t> postavljen preko benkice ublažava grčeve creva.</a:t>
            </a:r>
          </a:p>
          <a:p>
            <a:pPr>
              <a:spcBef>
                <a:spcPts val="35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Masaža stomaka:</a:t>
            </a:r>
            <a:r>
              <a:rPr sz="1300" b="0">
                <a:solidFill>
                  <a:srgbClr val="47342E"/>
                </a:solidFill>
                <a:latin typeface="Poppins"/>
              </a:rPr>
              <a:t> Blagi kružni pokreti dlanom </a:t>
            </a:r>
            <a:r>
              <a:rPr sz="1300" b="1">
                <a:solidFill>
                  <a:srgbClr val="47342E"/>
                </a:solidFill>
                <a:latin typeface="Poppins"/>
              </a:rPr>
              <a:t>u smeru kretanja kazaljke na satu</a:t>
            </a:r>
            <a:r>
              <a:rPr sz="1300" b="0">
                <a:solidFill>
                  <a:srgbClr val="47342E"/>
                </a:solidFill>
                <a:latin typeface="Poppins"/>
              </a:rPr>
              <a:t>, uz savijanje bebenih nožica ka stomačiću.</a:t>
            </a:r>
          </a:p>
          <a:p>
            <a:pPr>
              <a:spcBef>
                <a:spcPts val="35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Bela buka i smirenje:</a:t>
            </a:r>
            <a:r>
              <a:rPr sz="1300" b="0">
                <a:solidFill>
                  <a:srgbClr val="47342E"/>
                </a:solidFill>
                <a:latin typeface="Poppins"/>
              </a:rPr>
              <a:t> Zvuk fena, usisivača ili tiha jednolična melodija pomaže </a:t>
            </a:r>
            <a:r>
              <a:rPr sz="1300" b="1">
                <a:solidFill>
                  <a:srgbClr val="47342E"/>
                </a:solidFill>
                <a:latin typeface="Poppins"/>
              </a:rPr>
              <a:t>reprogramiranju prenadraženog bebinog nervnog sistema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553712"/>
            <a:ext cx="64008" cy="1709928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765535"/>
                </a:solidFill>
                <a:latin typeface="Poppins"/>
              </a:defRPr>
            </a:pPr>
            <a:r>
              <a:t>MODUL 4 • TEMA 26 • MODUL 4: NEGA BOLESNOG DETETA</a:t>
            </a:r>
          </a:p>
        </p:txBody>
      </p:sp>
      <p:pic>
        <p:nvPicPr>
          <p:cNvPr id="4" name="Picture 3" descr="logo_horizonta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765535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9614F"/>
                </a:solidFill>
                <a:latin typeface="Poppins"/>
              </a:defRPr>
            </a:pPr>
            <a:r>
              <a:t>ROYAL NANNY AKADEMIJA • STANDARDI NEGE   |   28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900" b="1">
                <a:solidFill>
                  <a:srgbClr val="47342E"/>
                </a:solidFill>
                <a:latin typeface="Libre Baskerville"/>
              </a:defRPr>
            </a:pPr>
            <a:r>
              <a:t>Osip po telu, pelenski osip i promene na koži</a:t>
            </a:r>
          </a:p>
          <a:p>
            <a:pPr>
              <a:spcBef>
                <a:spcPts val="300"/>
              </a:spcBef>
              <a:defRPr sz="1350">
                <a:solidFill>
                  <a:srgbClr val="69614F"/>
                </a:solidFill>
                <a:latin typeface="Poppins"/>
              </a:defRPr>
            </a:pPr>
            <a:r>
              <a:t>Modul 4: Nega bolesnog deteta • Tema 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Diferencijacija osipa i pelenski dermatitis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Prepoznavanje karaktera promena na koži omogućava primenu tačne terapije i sprečava širenje sekundarne infekcije.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Pelenski dermatitis (ABCDE protokol):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Air (Vazduh):</a:t>
            </a:r>
            <a:r>
              <a:rPr sz="1300" b="0">
                <a:solidFill>
                  <a:srgbClr val="47342E"/>
                </a:solidFill>
                <a:latin typeface="Poppins"/>
              </a:rPr>
              <a:t> što više bez pelene; </a:t>
            </a:r>
            <a:r>
              <a:rPr sz="1300" b="1">
                <a:solidFill>
                  <a:srgbClr val="47342E"/>
                </a:solidFill>
                <a:latin typeface="Poppins"/>
              </a:rPr>
              <a:t>Barrier:</a:t>
            </a:r>
            <a:r>
              <a:rPr sz="1300" b="0">
                <a:solidFill>
                  <a:srgbClr val="47342E"/>
                </a:solidFill>
                <a:latin typeface="Poppins"/>
              </a:rPr>
              <a:t> mast sa </a:t>
            </a:r>
            <a:r>
              <a:rPr sz="1300" b="1">
                <a:solidFill>
                  <a:srgbClr val="47342E"/>
                </a:solidFill>
                <a:latin typeface="Poppins"/>
              </a:rPr>
              <a:t>cink-oksidom</a:t>
            </a:r>
            <a:r>
              <a:rPr sz="1300" b="0">
                <a:solidFill>
                  <a:srgbClr val="47342E"/>
                </a:solidFill>
                <a:latin typeface="Poppins"/>
              </a:rPr>
              <a:t>; </a:t>
            </a:r>
            <a:r>
              <a:rPr sz="1300" b="1">
                <a:solidFill>
                  <a:srgbClr val="47342E"/>
                </a:solidFill>
                <a:latin typeface="Poppins"/>
              </a:rPr>
              <a:t>Clean:</a:t>
            </a:r>
            <a:r>
              <a:rPr sz="1300" b="0">
                <a:solidFill>
                  <a:srgbClr val="47342E"/>
                </a:solidFill>
                <a:latin typeface="Poppins"/>
              </a:rPr>
              <a:t> pranje vodom bez maramica; </a:t>
            </a:r>
            <a:r>
              <a:rPr sz="1300" b="1">
                <a:solidFill>
                  <a:srgbClr val="47342E"/>
                </a:solidFill>
                <a:latin typeface="Poppins"/>
              </a:rPr>
              <a:t>Diaper:</a:t>
            </a:r>
            <a:r>
              <a:rPr sz="1300" b="0">
                <a:solidFill>
                  <a:srgbClr val="47342E"/>
                </a:solidFill>
                <a:latin typeface="Poppins"/>
              </a:rPr>
              <a:t> česta promena.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Kandidijaza pelenske regije: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Jarkocrveni osip sa "satelitskim" tačkicama u prevojima</a:t>
            </a:r>
            <a:r>
              <a:rPr sz="1300" b="0">
                <a:solidFill>
                  <a:srgbClr val="47342E"/>
                </a:solidFill>
                <a:latin typeface="Poppins"/>
              </a:rPr>
              <a:t>; zahteva </a:t>
            </a:r>
            <a:r>
              <a:rPr sz="1300" b="1">
                <a:solidFill>
                  <a:srgbClr val="47342E"/>
                </a:solidFill>
                <a:latin typeface="Poppins"/>
              </a:rPr>
              <a:t>antigljivičnu kremu po nalogu lekara</a:t>
            </a:r>
            <a:r>
              <a:rPr sz="1300" b="0">
                <a:solidFill>
                  <a:srgbClr val="47342E"/>
                </a:solidFill>
                <a:latin typeface="Poppins"/>
              </a:rPr>
              <a:t> (ne prolazi na običnu kremu).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Temenjača (Cradle cap):</a:t>
            </a:r>
            <a:r>
              <a:rPr sz="1300" b="0">
                <a:solidFill>
                  <a:srgbClr val="47342E"/>
                </a:solidFill>
                <a:latin typeface="Poppins"/>
              </a:rPr>
              <a:t> Žućkaste masne ljuspice na temenu; omekšati </a:t>
            </a:r>
            <a:r>
              <a:rPr sz="1300" b="1">
                <a:solidFill>
                  <a:srgbClr val="47342E"/>
                </a:solidFill>
                <a:latin typeface="Poppins"/>
              </a:rPr>
              <a:t>bademovim uljem 30 min pre kupanja</a:t>
            </a:r>
            <a:r>
              <a:rPr sz="1300" b="0">
                <a:solidFill>
                  <a:srgbClr val="47342E"/>
                </a:solidFill>
                <a:latin typeface="Poppins"/>
              </a:rPr>
              <a:t>, zatim nežno iščešljati </a:t>
            </a:r>
            <a:r>
              <a:rPr sz="1300" b="1">
                <a:solidFill>
                  <a:srgbClr val="47342E"/>
                </a:solidFill>
                <a:latin typeface="Poppins"/>
              </a:rPr>
              <a:t>mekom četkom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Toplotni osip (Miliaria):</a:t>
            </a:r>
            <a:r>
              <a:rPr sz="1300" b="0">
                <a:solidFill>
                  <a:srgbClr val="47342E"/>
                </a:solidFill>
                <a:latin typeface="Poppins"/>
              </a:rPr>
              <a:t> Sitne crvene tačkice usled pretopljavanja; rešava se </a:t>
            </a:r>
            <a:r>
              <a:rPr sz="1300" b="1">
                <a:solidFill>
                  <a:srgbClr val="47342E"/>
                </a:solidFill>
                <a:latin typeface="Poppins"/>
              </a:rPr>
              <a:t>raskomoćivanjem bebe i boravkom u provetrenoj sobi (20–22°C)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CRVENI ALARM: Test staklenom čašom (Tumbler Test)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Zlatni pedijatrijski test za brzo razlikovanje benignih osipa od po život opasnih meningokoknih petehija.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Tehnika izvođenja testa:</a:t>
            </a:r>
            <a:r>
              <a:rPr sz="1300" b="0">
                <a:solidFill>
                  <a:srgbClr val="47342E"/>
                </a:solidFill>
                <a:latin typeface="Poppins"/>
              </a:rPr>
              <a:t> Pritisnuti </a:t>
            </a:r>
            <a:r>
              <a:rPr sz="1300" b="1">
                <a:solidFill>
                  <a:srgbClr val="47342E"/>
                </a:solidFill>
                <a:latin typeface="Poppins"/>
              </a:rPr>
              <a:t>čistu providnu staklenu čašu čvrsto preko osipa</a:t>
            </a:r>
            <a:r>
              <a:rPr sz="1300" b="0">
                <a:solidFill>
                  <a:srgbClr val="47342E"/>
                </a:solidFill>
                <a:latin typeface="Poppins"/>
              </a:rPr>
              <a:t> na koži deteta i posmatrati kroz dno čaše.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Benigni osip (prolazi test):</a:t>
            </a:r>
            <a:r>
              <a:rPr sz="1300" b="0">
                <a:solidFill>
                  <a:srgbClr val="47342E"/>
                </a:solidFill>
                <a:latin typeface="Poppins"/>
              </a:rPr>
              <a:t> Crvenilo </a:t>
            </a:r>
            <a:r>
              <a:rPr sz="1300" b="1">
                <a:solidFill>
                  <a:srgbClr val="47342E"/>
                </a:solidFill>
                <a:latin typeface="Poppins"/>
              </a:rPr>
              <a:t>privremeno bledi ili potpuno nestaje</a:t>
            </a:r>
            <a:r>
              <a:rPr sz="1300" b="0">
                <a:solidFill>
                  <a:srgbClr val="47342E"/>
                </a:solidFill>
                <a:latin typeface="Poppins"/>
              </a:rPr>
              <a:t> pod pritiskom stakla (znak uobičajene virusne reakcije).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CRVENI ALARM (Petehije):</a:t>
            </a:r>
            <a:r>
              <a:rPr sz="1300" b="0">
                <a:solidFill>
                  <a:srgbClr val="47342E"/>
                </a:solidFill>
                <a:latin typeface="Poppins"/>
              </a:rPr>
              <a:t> Ako tačkice </a:t>
            </a:r>
            <a:r>
              <a:rPr sz="1300" b="1">
                <a:solidFill>
                  <a:srgbClr val="47342E"/>
                </a:solidFill>
                <a:latin typeface="Poppins"/>
              </a:rPr>
              <a:t>NE IZBLEDE pod pritiskom čaše</a:t>
            </a:r>
            <a:r>
              <a:rPr sz="1300" b="0">
                <a:solidFill>
                  <a:srgbClr val="47342E"/>
                </a:solidFill>
                <a:latin typeface="Poppins"/>
              </a:rPr>
              <a:t>, to ukazuje na potkožno krvarenje; </a:t>
            </a:r>
            <a:r>
              <a:rPr sz="1300" b="1">
                <a:solidFill>
                  <a:srgbClr val="47342E"/>
                </a:solidFill>
                <a:latin typeface="Poppins"/>
              </a:rPr>
              <a:t>ODMAH POZVATI HITNU POMOĆ (194)</a:t>
            </a:r>
            <a:r>
              <a:rPr sz="1300" b="0">
                <a:solidFill>
                  <a:srgbClr val="47342E"/>
                </a:solidFill>
                <a:latin typeface="Poppins"/>
              </a:rPr>
              <a:t>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Tumbler Test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Test staklenom čašom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9976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Cink-oksid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Barijera za vlagu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2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15-20 min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Vazdušno kupanje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765535"/>
                </a:solidFill>
                <a:latin typeface="Poppins"/>
              </a:defRPr>
            </a:pPr>
            <a:r>
              <a:t>MODUL 4 • TEMA 27 • MODUL 4: NEGA BOLESNOG DETETA</a:t>
            </a:r>
          </a:p>
        </p:txBody>
      </p:sp>
      <p:pic>
        <p:nvPicPr>
          <p:cNvPr id="4" name="Picture 3" descr="logo_horizonta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765535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9614F"/>
                </a:solidFill>
                <a:latin typeface="Poppins"/>
              </a:defRPr>
            </a:pPr>
            <a:r>
              <a:t>ROYAL NANNY AKADEMIJA • STANDARDI NEGE   |   29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900" b="1">
                <a:solidFill>
                  <a:srgbClr val="47342E"/>
                </a:solidFill>
                <a:latin typeface="Libre Baskerville"/>
              </a:defRPr>
            </a:pPr>
            <a:r>
              <a:t>Infekcija oka kod odojčadi (Konjunktivitis)</a:t>
            </a:r>
          </a:p>
          <a:p>
            <a:pPr>
              <a:spcBef>
                <a:spcPts val="300"/>
              </a:spcBef>
              <a:defRPr sz="1350">
                <a:solidFill>
                  <a:srgbClr val="69614F"/>
                </a:solidFill>
                <a:latin typeface="Poppins"/>
              </a:defRPr>
            </a:pPr>
            <a:r>
              <a:t>Modul 4: Nega bolesnog deteta • Tema 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Etiologija: Infekcija vs Stenoza suznog kanala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Pravilno razlikovanje bakterijske infekcije od anatomske neprohodnosti suznog kanala sprečava nepotrebnu upotrebu antibiotika.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Razlikovanje infekcije od suznog kanala:</a:t>
            </a:r>
            <a:r>
              <a:rPr sz="1300" b="0">
                <a:solidFill>
                  <a:srgbClr val="47342E"/>
                </a:solidFill>
                <a:latin typeface="Poppins"/>
              </a:rPr>
              <a:t> Bakterijski konjunktivitis zahvata </a:t>
            </a:r>
            <a:r>
              <a:rPr sz="1300" b="1">
                <a:solidFill>
                  <a:srgbClr val="47342E"/>
                </a:solidFill>
                <a:latin typeface="Poppins"/>
              </a:rPr>
              <a:t>beonjaču koja je crvena</a:t>
            </a:r>
            <a:r>
              <a:rPr sz="1300" b="0">
                <a:solidFill>
                  <a:srgbClr val="47342E"/>
                </a:solidFill>
                <a:latin typeface="Poppins"/>
              </a:rPr>
              <a:t>; stenoza suznog kanala daje </a:t>
            </a:r>
            <a:r>
              <a:rPr sz="1300" b="1">
                <a:solidFill>
                  <a:srgbClr val="47342E"/>
                </a:solidFill>
                <a:latin typeface="Poppins"/>
              </a:rPr>
              <a:t>sekret i suzenje bez crvenila beonjače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Simptomi konjunktivitisa:</a:t>
            </a:r>
            <a:r>
              <a:rPr sz="1300" b="0">
                <a:solidFill>
                  <a:srgbClr val="47342E"/>
                </a:solidFill>
                <a:latin typeface="Poppins"/>
              </a:rPr>
              <a:t> Obilan </a:t>
            </a:r>
            <a:r>
              <a:rPr sz="1300" b="1">
                <a:solidFill>
                  <a:srgbClr val="47342E"/>
                </a:solidFill>
                <a:latin typeface="Poppins"/>
              </a:rPr>
              <a:t>žućkast ili zelenkast sekret</a:t>
            </a:r>
            <a:r>
              <a:rPr sz="1300" b="0">
                <a:solidFill>
                  <a:srgbClr val="47342E"/>
                </a:solidFill>
                <a:latin typeface="Poppins"/>
              </a:rPr>
              <a:t> koji slepljuje trepavice nakon buđenja, otok kapaka i crvenilo oka.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Protokol sterilne toalete i masaže kanala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Higijenski protokol toalete oka i primene kapi zahteva besprekornu sterilnost.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Sterilna toaleta oka:</a:t>
            </a:r>
            <a:r>
              <a:rPr sz="1300" b="0">
                <a:solidFill>
                  <a:srgbClr val="47342E"/>
                </a:solidFill>
                <a:latin typeface="Poppins"/>
              </a:rPr>
              <a:t> Brisati </a:t>
            </a:r>
            <a:r>
              <a:rPr sz="1300" b="1">
                <a:solidFill>
                  <a:srgbClr val="47342E"/>
                </a:solidFill>
                <a:latin typeface="Poppins"/>
              </a:rPr>
              <a:t>sterilnom gazom natopljenom fiziološkim rastvorom (0.9% NaCl)</a:t>
            </a:r>
            <a:r>
              <a:rPr sz="1300" b="0">
                <a:solidFill>
                  <a:srgbClr val="47342E"/>
                </a:solidFill>
                <a:latin typeface="Poppins"/>
              </a:rPr>
              <a:t> od spoljašnjeg ugla oka ka nosu; </a:t>
            </a:r>
            <a:r>
              <a:rPr sz="1300" b="1">
                <a:solidFill>
                  <a:srgbClr val="47342E"/>
                </a:solidFill>
                <a:latin typeface="Poppins"/>
              </a:rPr>
              <a:t>za svaki potez nova gaza</a:t>
            </a:r>
            <a:r>
              <a:rPr sz="1300" b="0">
                <a:solidFill>
                  <a:srgbClr val="47342E"/>
                </a:solidFill>
                <a:latin typeface="Poppins"/>
              </a:rPr>
              <a:t>!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Masaža suznog kanala:</a:t>
            </a:r>
            <a:r>
              <a:rPr sz="1300" b="0">
                <a:solidFill>
                  <a:srgbClr val="47342E"/>
                </a:solidFill>
                <a:latin typeface="Poppins"/>
              </a:rPr>
              <a:t> Kod stenoze kanala nežno masirati </a:t>
            </a:r>
            <a:r>
              <a:rPr sz="1300" b="1">
                <a:solidFill>
                  <a:srgbClr val="47342E"/>
                </a:solidFill>
                <a:latin typeface="Poppins"/>
              </a:rPr>
              <a:t>čistim malim prstom od unutrašnjeg ugla oka naniže duž nosića</a:t>
            </a:r>
            <a:r>
              <a:rPr sz="1300" b="0">
                <a:solidFill>
                  <a:srgbClr val="47342E"/>
                </a:solidFill>
                <a:latin typeface="Poppins"/>
              </a:rPr>
              <a:t> 3–4 puta dnevno.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Kapi i masti po nalogu lekara: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Antibiotske kapi primenjivati isključivo po preporuci lekara</a:t>
            </a:r>
            <a:r>
              <a:rPr sz="1300" b="0">
                <a:solidFill>
                  <a:srgbClr val="47342E"/>
                </a:solidFill>
                <a:latin typeface="Poppins"/>
              </a:rPr>
              <a:t>; vrh bočice </a:t>
            </a:r>
            <a:r>
              <a:rPr sz="1300" b="1">
                <a:solidFill>
                  <a:srgbClr val="47342E"/>
                </a:solidFill>
                <a:latin typeface="Poppins"/>
              </a:rPr>
              <a:t>nikada ne sme dodirnuti oko</a:t>
            </a:r>
            <a:r>
              <a:rPr sz="1300" b="0">
                <a:solidFill>
                  <a:srgbClr val="47342E"/>
                </a:solidFill>
                <a:latin typeface="Poppins"/>
              </a:rPr>
              <a:t> radi očuvanja sterilnosti.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STROGA ZABRANA KAMILICE I MLEKA: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NIKADA ne ispirati oko čajem od kamilice ili majčinim mlekom</a:t>
            </a:r>
            <a:r>
              <a:rPr sz="1300" b="0">
                <a:solidFill>
                  <a:srgbClr val="47342E"/>
                </a:solidFill>
                <a:latin typeface="Poppins"/>
              </a:rPr>
              <a:t> jer to drastično pogoršava infekciju!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Spolja ka unutra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Smer brisanja oka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9976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0 kamilice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Apsolutna zabrana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2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Recept lekara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Antibiotske kapi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765535"/>
                </a:solidFill>
                <a:latin typeface="Poppins"/>
              </a:defRPr>
            </a:pPr>
            <a:r>
              <a:t>MODUL 4 • TEMA 28 • MODUL 4: NEGA BOLESNOG DETETA</a:t>
            </a:r>
          </a:p>
        </p:txBody>
      </p:sp>
      <p:pic>
        <p:nvPicPr>
          <p:cNvPr id="4" name="Picture 3" descr="logo_horizonta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765535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9614F"/>
                </a:solidFill>
                <a:latin typeface="Poppins"/>
              </a:defRPr>
            </a:pPr>
            <a:r>
              <a:t>ROYAL NANNY AKADEMIJA • STANDARDI NEGE   |   30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900" b="1">
                <a:solidFill>
                  <a:srgbClr val="47342E"/>
                </a:solidFill>
                <a:latin typeface="Libre Baskerville"/>
              </a:defRPr>
            </a:pPr>
            <a:r>
              <a:t>Zapušen nos kod odojčeta (Rinitis i toaleta)</a:t>
            </a:r>
          </a:p>
          <a:p>
            <a:pPr>
              <a:spcBef>
                <a:spcPts val="300"/>
              </a:spcBef>
              <a:defRPr sz="1350">
                <a:solidFill>
                  <a:srgbClr val="69614F"/>
                </a:solidFill>
                <a:latin typeface="Poppins"/>
              </a:defRPr>
            </a:pPr>
            <a:r>
              <a:t>Modul 4: Nega bolesnog deteta • Tema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Zašto je zapušen nos kritičan kod odojčeta?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Anatomske specifičnosti disajnih puteva odojčeta čine i najblažu opstrukciju nosa klinički značajnom.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Odojčad dišu isključivo na nos:</a:t>
            </a:r>
            <a:r>
              <a:rPr sz="1300" b="0">
                <a:solidFill>
                  <a:srgbClr val="47342E"/>
                </a:solidFill>
                <a:latin typeface="Poppins"/>
              </a:rPr>
              <a:t> U prvih 6 meseci bebe </a:t>
            </a:r>
            <a:r>
              <a:rPr sz="1300" b="1">
                <a:solidFill>
                  <a:srgbClr val="47342E"/>
                </a:solidFill>
                <a:latin typeface="Poppins"/>
              </a:rPr>
              <a:t>fiziološki ne umeju da dišu na usta</a:t>
            </a:r>
            <a:r>
              <a:rPr sz="1300" b="0">
                <a:solidFill>
                  <a:srgbClr val="47342E"/>
                </a:solidFill>
                <a:latin typeface="Poppins"/>
              </a:rPr>
              <a:t>; zapušen nos direktno </a:t>
            </a:r>
            <a:r>
              <a:rPr sz="1300" b="1">
                <a:solidFill>
                  <a:srgbClr val="47342E"/>
                </a:solidFill>
                <a:latin typeface="Poppins"/>
              </a:rPr>
              <a:t>onemogućava sisanje i remeti san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Rizik od upale uha (Otitis media):</a:t>
            </a:r>
            <a:r>
              <a:rPr sz="1300" b="0">
                <a:solidFill>
                  <a:srgbClr val="47342E"/>
                </a:solidFill>
                <a:latin typeface="Poppins"/>
              </a:rPr>
              <a:t> Sekret iz nosa preko </a:t>
            </a:r>
            <a:r>
              <a:rPr sz="1300" b="1">
                <a:solidFill>
                  <a:srgbClr val="47342E"/>
                </a:solidFill>
                <a:latin typeface="Poppins"/>
              </a:rPr>
              <a:t>kratke i široke Eustahijeve tube</a:t>
            </a:r>
            <a:r>
              <a:rPr sz="1300" b="0">
                <a:solidFill>
                  <a:srgbClr val="47342E"/>
                </a:solidFill>
                <a:latin typeface="Poppins"/>
              </a:rPr>
              <a:t> brzo prelazi u srednje uvo i izaziva bolne infekcije.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Klinički protokol toalete i aspiracije nosa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Pravilna primena fiziološkog rastvora i aspiratora razmekšava sekret i olakšava disanje bez traume sluzokože.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Protokol toalete fiziološkim rastvorom:</a:t>
            </a:r>
            <a:r>
              <a:rPr sz="1300" b="0">
                <a:solidFill>
                  <a:srgbClr val="47342E"/>
                </a:solidFill>
                <a:latin typeface="Poppins"/>
              </a:rPr>
              <a:t> Beba leži na boku; nakapati </a:t>
            </a:r>
            <a:r>
              <a:rPr sz="1300" b="1">
                <a:solidFill>
                  <a:srgbClr val="47342E"/>
                </a:solidFill>
                <a:latin typeface="Poppins"/>
              </a:rPr>
              <a:t>1–2 kapi sterilnog 0.9% NaCl u gornju nozdrvu</a:t>
            </a:r>
            <a:r>
              <a:rPr sz="1300" b="0">
                <a:solidFill>
                  <a:srgbClr val="47342E"/>
                </a:solidFill>
                <a:latin typeface="Poppins"/>
              </a:rPr>
              <a:t>; sačekati par sekundi pa ponoviti na drugom boku.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Tehnika aspiracije nosa:</a:t>
            </a:r>
            <a:r>
              <a:rPr sz="1300" b="0">
                <a:solidFill>
                  <a:srgbClr val="47342E"/>
                </a:solidFill>
                <a:latin typeface="Poppins"/>
              </a:rPr>
              <a:t> Koristiti nosni aspirator </a:t>
            </a:r>
            <a:r>
              <a:rPr sz="1300" b="1">
                <a:solidFill>
                  <a:srgbClr val="47342E"/>
                </a:solidFill>
                <a:latin typeface="Poppins"/>
              </a:rPr>
              <a:t>isključivo pre obroka i pre spavanja</a:t>
            </a:r>
            <a:r>
              <a:rPr sz="1300" b="0">
                <a:solidFill>
                  <a:srgbClr val="47342E"/>
                </a:solidFill>
                <a:latin typeface="Poppins"/>
              </a:rPr>
              <a:t> (maksimalno 2–3 puta dnevno) kako se ne bi oštetila sluzokoža.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Vlaženje vazduha:</a:t>
            </a:r>
            <a:r>
              <a:rPr sz="1300" b="0">
                <a:solidFill>
                  <a:srgbClr val="47342E"/>
                </a:solidFill>
                <a:latin typeface="Poppins"/>
              </a:rPr>
              <a:t> Održavati </a:t>
            </a:r>
            <a:r>
              <a:rPr sz="1300" b="1">
                <a:solidFill>
                  <a:srgbClr val="47342E"/>
                </a:solidFill>
                <a:latin typeface="Poppins"/>
              </a:rPr>
              <a:t>vlažnost vazduha u sobi na 50–60%</a:t>
            </a:r>
            <a:r>
              <a:rPr sz="1300" b="0">
                <a:solidFill>
                  <a:srgbClr val="47342E"/>
                </a:solidFill>
                <a:latin typeface="Poppins"/>
              </a:rPr>
              <a:t>; suv vazduh dodatno zgušnjava sekret i otežava disanje.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STROGA ZABRANA DEKONGESTIVA ZA ODRASLE:</a:t>
            </a:r>
            <a:r>
              <a:rPr sz="1300" b="0">
                <a:solidFill>
                  <a:srgbClr val="47342E"/>
                </a:solidFill>
                <a:latin typeface="Poppins"/>
              </a:rPr>
              <a:t> Klasične kapi za nos za odrasle su </a:t>
            </a:r>
            <a:r>
              <a:rPr sz="1300" b="1">
                <a:solidFill>
                  <a:srgbClr val="47342E"/>
                </a:solidFill>
                <a:latin typeface="Poppins"/>
              </a:rPr>
              <a:t>STROGO ZABRANJENE kod beba</a:t>
            </a:r>
            <a:r>
              <a:rPr sz="1300" b="0">
                <a:solidFill>
                  <a:srgbClr val="47342E"/>
                </a:solidFill>
                <a:latin typeface="Poppins"/>
              </a:rPr>
              <a:t> zbog rizika od sistemskog trovanja i usporavanja rada srca!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Obavezno disanje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Samo na nos do 6 meseci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9976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Pre podoja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Vreme za aspiraciju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2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30°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Podići uzglavlje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765535"/>
                </a:solidFill>
                <a:latin typeface="Poppins"/>
              </a:defRPr>
            </a:pPr>
            <a:r>
              <a:t>MODUL 4 • TEMA 29 • MODUL 4: NEGA BOLESNOG DETETA</a:t>
            </a:r>
          </a:p>
        </p:txBody>
      </p:sp>
      <p:pic>
        <p:nvPicPr>
          <p:cNvPr id="4" name="Picture 3" descr="logo_horizonta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765535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9614F"/>
                </a:solidFill>
                <a:latin typeface="Poppins"/>
              </a:defRPr>
            </a:pPr>
            <a:r>
              <a:t>ROYAL NANNY AKADEMIJA • STANDARDI NEGE   |   31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900" b="1">
                <a:solidFill>
                  <a:srgbClr val="47342E"/>
                </a:solidFill>
                <a:latin typeface="Libre Baskerville"/>
              </a:defRPr>
            </a:pPr>
            <a:r>
              <a:t>Vakcinacija: Postvakcinalne reakcije i nega deteta</a:t>
            </a:r>
          </a:p>
          <a:p>
            <a:pPr>
              <a:spcBef>
                <a:spcPts val="300"/>
              </a:spcBef>
              <a:defRPr sz="1350">
                <a:solidFill>
                  <a:srgbClr val="69614F"/>
                </a:solidFill>
                <a:latin typeface="Poppins"/>
              </a:defRPr>
            </a:pPr>
            <a:r>
              <a:t>Modul 4: Nega bolesnog deteta • Tema 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Očekivane blage reakcije i kućna nega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Reakcija na vakcinu je normalan imunološki odgovor organizma koji stvara zaštitna antitela.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Očekivane lokalne reakcije:</a:t>
            </a:r>
            <a:r>
              <a:rPr sz="1300" b="0">
                <a:solidFill>
                  <a:srgbClr val="47342E"/>
                </a:solidFill>
                <a:latin typeface="Poppins"/>
              </a:rPr>
              <a:t> Blag otok, crvenilo i bol na mestu uboda; </a:t>
            </a:r>
            <a:r>
              <a:rPr sz="1300" b="1">
                <a:solidFill>
                  <a:srgbClr val="47342E"/>
                </a:solidFill>
                <a:latin typeface="Poppins"/>
              </a:rPr>
              <a:t>stavljati hladne obloge od čiste gaze navlažene hladnom vodom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Očekivana febrilnost:</a:t>
            </a:r>
            <a:r>
              <a:rPr sz="1300" b="0">
                <a:solidFill>
                  <a:srgbClr val="47342E"/>
                </a:solidFill>
                <a:latin typeface="Poppins"/>
              </a:rPr>
              <a:t> Temperatura obično raste </a:t>
            </a:r>
            <a:r>
              <a:rPr sz="1300" b="1">
                <a:solidFill>
                  <a:srgbClr val="47342E"/>
                </a:solidFill>
                <a:latin typeface="Poppins"/>
              </a:rPr>
              <a:t>unutar 24–48 sati nakon vakcinacije</a:t>
            </a:r>
            <a:r>
              <a:rPr sz="1300" b="0">
                <a:solidFill>
                  <a:srgbClr val="47342E"/>
                </a:solidFill>
                <a:latin typeface="Poppins"/>
              </a:rPr>
              <a:t>; ako pređe </a:t>
            </a:r>
            <a:r>
              <a:rPr sz="1300" b="1">
                <a:solidFill>
                  <a:srgbClr val="47342E"/>
                </a:solidFill>
                <a:latin typeface="Poppins"/>
              </a:rPr>
              <a:t>38.5°C rektalno</a:t>
            </a:r>
            <a:r>
              <a:rPr sz="1300" b="0">
                <a:solidFill>
                  <a:srgbClr val="47342E"/>
                </a:solidFill>
                <a:latin typeface="Poppins"/>
              </a:rPr>
              <a:t>, dati paracetamol sirup po težini.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BCG reakcija na ramenu:</a:t>
            </a:r>
            <a:r>
              <a:rPr sz="1300" b="0">
                <a:solidFill>
                  <a:srgbClr val="47342E"/>
                </a:solidFill>
                <a:latin typeface="Poppins"/>
              </a:rPr>
              <a:t> Između </a:t>
            </a:r>
            <a:r>
              <a:rPr sz="1300" b="1">
                <a:solidFill>
                  <a:srgbClr val="47342E"/>
                </a:solidFill>
                <a:latin typeface="Poppins"/>
              </a:rPr>
              <a:t>4. i 6. nedelje javlja se crvena kvržica ili gnojanica</a:t>
            </a:r>
            <a:r>
              <a:rPr sz="1300" b="0">
                <a:solidFill>
                  <a:srgbClr val="47342E"/>
                </a:solidFill>
                <a:latin typeface="Poppins"/>
              </a:rPr>
              <a:t>; normalna reakcija; </a:t>
            </a:r>
            <a:r>
              <a:rPr sz="1300" b="1">
                <a:solidFill>
                  <a:srgbClr val="47342E"/>
                </a:solidFill>
                <a:latin typeface="Poppins"/>
              </a:rPr>
              <a:t>ne istiskivati, ne mazati alkoholom, samo suva nega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Uteha i hidracija:</a:t>
            </a:r>
            <a:r>
              <a:rPr sz="1300" b="0">
                <a:solidFill>
                  <a:srgbClr val="47342E"/>
                </a:solidFill>
                <a:latin typeface="Poppins"/>
              </a:rPr>
              <a:t> Ponuditi </a:t>
            </a:r>
            <a:r>
              <a:rPr sz="1300" b="1">
                <a:solidFill>
                  <a:srgbClr val="47342E"/>
                </a:solidFill>
                <a:latin typeface="Poppins"/>
              </a:rPr>
              <a:t>češće podoje i vodu</a:t>
            </a:r>
            <a:r>
              <a:rPr sz="1300" b="0">
                <a:solidFill>
                  <a:srgbClr val="47342E"/>
                </a:solidFill>
                <a:latin typeface="Poppins"/>
              </a:rPr>
              <a:t>; dete može biti pospanije ili razdražljivije 1–2 dana nakon vakcinacije.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Kada zvati pedijatra (Crveni alarmi)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Retke, ali ozbiljne reakcije zahtevaju hitnu pedijatrijsku evaluaciju bez čekanja.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Visoka febrilnost:</a:t>
            </a:r>
            <a:r>
              <a:rPr sz="1300" b="0">
                <a:solidFill>
                  <a:srgbClr val="47342E"/>
                </a:solidFill>
                <a:latin typeface="Poppins"/>
              </a:rPr>
              <a:t> Telesna temperatura </a:t>
            </a:r>
            <a:r>
              <a:rPr sz="1300" b="1">
                <a:solidFill>
                  <a:srgbClr val="47342E"/>
                </a:solidFill>
                <a:latin typeface="Poppins"/>
              </a:rPr>
              <a:t>preko 39.5°C koja ne reaguje na primenu antipiretika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Encefalitični plač: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Neutješan, visokotonski prodoran plač koji traje duže od 3 sata u kontinuitetu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Neuroloski simptomi: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Pojava konvulzija (frasa), ekstremna mlitavost ili gubitak svesti</a:t>
            </a:r>
            <a:r>
              <a:rPr sz="1300" b="0">
                <a:solidFill>
                  <a:srgbClr val="47342E"/>
                </a:solidFill>
                <a:latin typeface="Poppins"/>
              </a:rPr>
              <a:t> – zahtevaju </a:t>
            </a:r>
            <a:r>
              <a:rPr sz="1300" b="1">
                <a:solidFill>
                  <a:srgbClr val="47342E"/>
                </a:solidFill>
                <a:latin typeface="Poppins"/>
              </a:rPr>
              <a:t>hitan poziv hitnoj pomoći (194)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24-48h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Očekivane blage reakcije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9976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3-6 nedelja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Razvoj BCG ožiljka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2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&gt;39°C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Alarm za lekara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765535"/>
                </a:solidFill>
                <a:latin typeface="Poppins"/>
              </a:defRPr>
            </a:pPr>
            <a:r>
              <a:t>MODUL 4 • TEMA 30 • MODUL 4: NEGA BOLESNOG DETETA</a:t>
            </a:r>
          </a:p>
        </p:txBody>
      </p:sp>
      <p:pic>
        <p:nvPicPr>
          <p:cNvPr id="4" name="Picture 3" descr="logo_horizonta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765535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9614F"/>
                </a:solidFill>
                <a:latin typeface="Poppins"/>
              </a:defRPr>
            </a:pPr>
            <a:r>
              <a:t>ROYAL NANNY AKADEMIJA • STANDARDI NEGE   |   32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900" b="1">
                <a:solidFill>
                  <a:srgbClr val="47342E"/>
                </a:solidFill>
                <a:latin typeface="Libre Baskerville"/>
              </a:defRPr>
            </a:pPr>
            <a:r>
              <a:t>Digestivni poremećaji: Opstipacija i dijareja</a:t>
            </a:r>
          </a:p>
          <a:p>
            <a:pPr>
              <a:spcBef>
                <a:spcPts val="300"/>
              </a:spcBef>
              <a:defRPr sz="1350">
                <a:solidFill>
                  <a:srgbClr val="69614F"/>
                </a:solidFill>
                <a:latin typeface="Poppins"/>
              </a:defRPr>
            </a:pPr>
            <a:r>
              <a:t>Modul 4: Nega bolesnog deteta • Tema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Opstipacija kod odojčeta: Fiziologija i zablude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Razumevanje fiziologije varenja novorođenčeta sprečava nepotrebne i invazivne intervencije.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Fiziologija stolice kod dojene bebe:</a:t>
            </a:r>
            <a:r>
              <a:rPr sz="1300" b="0">
                <a:solidFill>
                  <a:srgbClr val="47342E"/>
                </a:solidFill>
                <a:latin typeface="Poppins"/>
              </a:rPr>
              <a:t> Dojena beba može imati stolicu </a:t>
            </a:r>
            <a:r>
              <a:rPr sz="1300" b="1">
                <a:solidFill>
                  <a:srgbClr val="47342E"/>
                </a:solidFill>
                <a:latin typeface="Poppins"/>
              </a:rPr>
              <a:t>posle svakog podoja, ali i jednom u 7–10 dana</a:t>
            </a:r>
            <a:r>
              <a:rPr sz="1300" b="0">
                <a:solidFill>
                  <a:srgbClr val="47342E"/>
                </a:solidFill>
                <a:latin typeface="Poppins"/>
              </a:rPr>
              <a:t> ako je meka i beba lepo napreduje.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Definicija prave opstipacije: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Tvrda, suva, kugličasta stolica</a:t>
            </a:r>
            <a:r>
              <a:rPr sz="1300" b="0">
                <a:solidFill>
                  <a:srgbClr val="47342E"/>
                </a:solidFill>
                <a:latin typeface="Poppins"/>
              </a:rPr>
              <a:t> (kao kod koze) koja izaziva bol, napinjanje i plač pri defekaciji.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Masaža i vežbice:</a:t>
            </a:r>
            <a:r>
              <a:rPr sz="1300" b="0">
                <a:solidFill>
                  <a:srgbClr val="47342E"/>
                </a:solidFill>
                <a:latin typeface="Poppins"/>
              </a:rPr>
              <a:t> Kružna masaža stomaka u smeru kazaljke na satu i </a:t>
            </a:r>
            <a:r>
              <a:rPr sz="1300" b="1">
                <a:solidFill>
                  <a:srgbClr val="47342E"/>
                </a:solidFill>
                <a:latin typeface="Poppins"/>
              </a:rPr>
              <a:t>savijanje kolena ka grudima ("vožnja bicikla")</a:t>
            </a:r>
            <a:r>
              <a:rPr sz="1300" b="0">
                <a:solidFill>
                  <a:srgbClr val="47342E"/>
                </a:solidFill>
                <a:latin typeface="Poppins"/>
              </a:rPr>
              <a:t> stimulišu rad creva.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STROGA ZABRANA TOPLOMERA U ANUS: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ZABRANJENO JE izazivati stolicu guranjem toplomera, štapića ili sapuna u anus</a:t>
            </a:r>
            <a:r>
              <a:rPr sz="1300" b="0">
                <a:solidFill>
                  <a:srgbClr val="47342E"/>
                </a:solidFill>
                <a:latin typeface="Poppins"/>
              </a:rPr>
              <a:t> jer to trajno oštećuje refleks pražnjenja!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Dijareja i sprečavanje opasne dehidracije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Dijareja kod beba brzo dovodi do gubitka vode i elektrolita, što predstavlja urgentno stanje.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Znakovi opasne dehidracije: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Uvučena velika fontanela, plač bez suza, suva usta, manje od 4 mokre pelene u 24h</a:t>
            </a:r>
            <a:r>
              <a:rPr sz="1300" b="0">
                <a:solidFill>
                  <a:srgbClr val="47342E"/>
                </a:solidFill>
                <a:latin typeface="Poppins"/>
              </a:rPr>
              <a:t>, ekstremna pospanost.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Oralna rehidracija (ORS):</a:t>
            </a:r>
            <a:r>
              <a:rPr sz="1300" b="0">
                <a:solidFill>
                  <a:srgbClr val="47342E"/>
                </a:solidFill>
                <a:latin typeface="Poppins"/>
              </a:rPr>
              <a:t> Kod dijareje i povraćanja davati </a:t>
            </a:r>
            <a:r>
              <a:rPr sz="1300" b="1">
                <a:solidFill>
                  <a:srgbClr val="47342E"/>
                </a:solidFill>
                <a:latin typeface="Poppins"/>
              </a:rPr>
              <a:t>rastvor za oralnu rehidraciju kašičicom ili špricem, po 5 ml svakih 5–10 minuta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Nastavak dojenja: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Dojenje se nikada ne prekida tokom dijareje</a:t>
            </a:r>
            <a:r>
              <a:rPr sz="1300" b="0">
                <a:solidFill>
                  <a:srgbClr val="47342E"/>
                </a:solidFill>
                <a:latin typeface="Poppins"/>
              </a:rPr>
              <a:t>; majčino mleko ubrzava regeneraciju crevne sluzokože.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ORS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Oralna rehidracija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9976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Fontanela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Pokazatelj hidriranosti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2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Nastavak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Dojenja bez prekida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765535"/>
                </a:solidFill>
                <a:latin typeface="Poppins"/>
              </a:defRPr>
            </a:pPr>
            <a:r>
              <a:t>MODUL 4 • TEMA 31 • MODUL 4: NEGA BOLESNOG DETETA</a:t>
            </a:r>
          </a:p>
        </p:txBody>
      </p:sp>
      <p:pic>
        <p:nvPicPr>
          <p:cNvPr id="4" name="Picture 3" descr="logo_horizonta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765535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9614F"/>
                </a:solidFill>
                <a:latin typeface="Poppins"/>
              </a:defRPr>
            </a:pPr>
            <a:r>
              <a:t>ROYAL NANNY AKADEMIJA • STANDARDI NEGE   |   33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900" b="1">
                <a:solidFill>
                  <a:srgbClr val="47342E"/>
                </a:solidFill>
                <a:latin typeface="Libre Baskerville"/>
              </a:defRPr>
            </a:pPr>
            <a:r>
              <a:t>Visoka temperatura: Granične vrednosti i fizikalne mere</a:t>
            </a:r>
          </a:p>
          <a:p>
            <a:pPr>
              <a:spcBef>
                <a:spcPts val="300"/>
              </a:spcBef>
              <a:defRPr sz="1350">
                <a:solidFill>
                  <a:srgbClr val="69614F"/>
                </a:solidFill>
                <a:latin typeface="Poppins"/>
              </a:defRPr>
            </a:pPr>
            <a:r>
              <a:t>Modul 4: Nega bolesnog deteta • Tema 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Merenje i kliničke granične vrednosti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Povišena temperatura je prirodni odbrambeni mehanizam tela u borbi protiv virusa i bakterija, a ne neprijatelj koga treba panično suzbijati na 37.5°C.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Zlatni standard merenja:</a:t>
            </a:r>
            <a:r>
              <a:rPr sz="1300" b="0">
                <a:solidFill>
                  <a:srgbClr val="47342E"/>
                </a:solidFill>
                <a:latin typeface="Poppins"/>
              </a:rPr>
              <a:t> Digitalni toplomer sa savitljivim vrhom </a:t>
            </a:r>
            <a:r>
              <a:rPr sz="1300" b="1">
                <a:solidFill>
                  <a:srgbClr val="47342E"/>
                </a:solidFill>
                <a:latin typeface="Poppins"/>
              </a:rPr>
              <a:t>rektalno kod beba do 1 godine</a:t>
            </a:r>
            <a:r>
              <a:rPr sz="1300" b="0">
                <a:solidFill>
                  <a:srgbClr val="47342E"/>
                </a:solidFill>
                <a:latin typeface="Poppins"/>
              </a:rPr>
              <a:t>; rektalna temperatura je za </a:t>
            </a:r>
            <a:r>
              <a:rPr sz="1300" b="1">
                <a:solidFill>
                  <a:srgbClr val="47342E"/>
                </a:solidFill>
                <a:latin typeface="Poppins"/>
              </a:rPr>
              <a:t>tačno 0.5°C viša</a:t>
            </a:r>
            <a:r>
              <a:rPr sz="1300" b="0">
                <a:solidFill>
                  <a:srgbClr val="47342E"/>
                </a:solidFill>
                <a:latin typeface="Poppins"/>
              </a:rPr>
              <a:t> od aksilarne.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Fiziološke granice (rektalno):</a:t>
            </a:r>
            <a:r>
              <a:rPr sz="1300" b="0">
                <a:solidFill>
                  <a:srgbClr val="47342E"/>
                </a:solidFill>
                <a:latin typeface="Poppins"/>
              </a:rPr>
              <a:t> Normalna: </a:t>
            </a:r>
            <a:r>
              <a:rPr sz="1300" b="1">
                <a:solidFill>
                  <a:srgbClr val="47342E"/>
                </a:solidFill>
                <a:latin typeface="Poppins"/>
              </a:rPr>
              <a:t>36.5–37.5°C</a:t>
            </a:r>
            <a:r>
              <a:rPr sz="1300" b="0">
                <a:solidFill>
                  <a:srgbClr val="47342E"/>
                </a:solidFill>
                <a:latin typeface="Poppins"/>
              </a:rPr>
              <a:t>; Subfebrilna: </a:t>
            </a:r>
            <a:r>
              <a:rPr sz="1300" b="1">
                <a:solidFill>
                  <a:srgbClr val="47342E"/>
                </a:solidFill>
                <a:latin typeface="Poppins"/>
              </a:rPr>
              <a:t>37.6–38.4°C</a:t>
            </a:r>
            <a:r>
              <a:rPr sz="1300" b="0">
                <a:solidFill>
                  <a:srgbClr val="47342E"/>
                </a:solidFill>
                <a:latin typeface="Poppins"/>
              </a:rPr>
              <a:t> (ne daju se lekovi); Febrilna: </a:t>
            </a:r>
            <a:r>
              <a:rPr sz="1300" b="1">
                <a:solidFill>
                  <a:srgbClr val="47342E"/>
                </a:solidFill>
                <a:latin typeface="Poppins"/>
              </a:rPr>
              <a:t>preko 38.5°C</a:t>
            </a:r>
            <a:r>
              <a:rPr sz="1300" b="0">
                <a:solidFill>
                  <a:srgbClr val="47342E"/>
                </a:solidFill>
                <a:latin typeface="Poppins"/>
              </a:rPr>
              <a:t> (zahteva snižavanje).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Procena opšteg stanja deteta:</a:t>
            </a:r>
            <a:r>
              <a:rPr sz="1300" b="0">
                <a:solidFill>
                  <a:srgbClr val="47342E"/>
                </a:solidFill>
                <a:latin typeface="Poppins"/>
              </a:rPr>
              <a:t> Ponašanje deteta je </a:t>
            </a:r>
            <a:r>
              <a:rPr sz="1300" b="1">
                <a:solidFill>
                  <a:srgbClr val="47342E"/>
                </a:solidFill>
                <a:latin typeface="Poppins"/>
              </a:rPr>
              <a:t>važnije od same brojke na toplomeru</a:t>
            </a:r>
            <a:r>
              <a:rPr sz="1300" b="0">
                <a:solidFill>
                  <a:srgbClr val="47342E"/>
                </a:solidFill>
                <a:latin typeface="Poppins"/>
              </a:rPr>
              <a:t> – da li pije tečnost, uspostavlja kontakt očima i reaguje na okolinu.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Fizikalne mere i stroge zabrane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Fizikalne mere rashlađivanja moraju se sprovoditi nežno i bez izazivanja drhtavice.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Raskomoćivanje i provetravanje:</a:t>
            </a:r>
            <a:r>
              <a:rPr sz="1300" b="0">
                <a:solidFill>
                  <a:srgbClr val="47342E"/>
                </a:solidFill>
                <a:latin typeface="Poppins"/>
              </a:rPr>
              <a:t> Skinuti višak odeće, ostaviti </a:t>
            </a:r>
            <a:r>
              <a:rPr sz="1300" b="1">
                <a:solidFill>
                  <a:srgbClr val="47342E"/>
                </a:solidFill>
                <a:latin typeface="Poppins"/>
              </a:rPr>
              <a:t>samo pamučni bodić; sobna temperatura 20–21°C</a:t>
            </a:r>
            <a:r>
              <a:rPr sz="1300" b="0">
                <a:solidFill>
                  <a:srgbClr val="47342E"/>
                </a:solidFill>
                <a:latin typeface="Poppins"/>
              </a:rPr>
              <a:t>; nuditi tečnost često u manjim količinama.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Tuširanje mlakom vodom (36–37°C):</a:t>
            </a:r>
            <a:r>
              <a:rPr sz="1300" b="0">
                <a:solidFill>
                  <a:srgbClr val="47342E"/>
                </a:solidFill>
                <a:latin typeface="Poppins"/>
              </a:rPr>
              <a:t> Tuširati dete </a:t>
            </a:r>
            <a:r>
              <a:rPr sz="1300" b="1">
                <a:solidFill>
                  <a:srgbClr val="47342E"/>
                </a:solidFill>
                <a:latin typeface="Poppins"/>
              </a:rPr>
              <a:t>prijatno mlakom vodom 10–15 minuta</a:t>
            </a:r>
            <a:r>
              <a:rPr sz="1300" b="0">
                <a:solidFill>
                  <a:srgbClr val="47342E"/>
                </a:solidFill>
                <a:latin typeface="Poppins"/>
              </a:rPr>
              <a:t>; </a:t>
            </a:r>
            <a:r>
              <a:rPr sz="1300" b="1">
                <a:solidFill>
                  <a:srgbClr val="47342E"/>
                </a:solidFill>
                <a:latin typeface="Poppins"/>
              </a:rPr>
              <a:t>NIKADA hladnom vodom</a:t>
            </a:r>
            <a:r>
              <a:rPr sz="1300" b="0">
                <a:solidFill>
                  <a:srgbClr val="47342E"/>
                </a:solidFill>
                <a:latin typeface="Poppins"/>
              </a:rPr>
              <a:t> (hladna voda izaziva drhtavicu i skok unutrašnje temperature!).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STROGA ZABRANA ALKOHOLA I SIRĆETA:</a:t>
            </a:r>
            <a:r>
              <a:rPr sz="1300" b="0">
                <a:solidFill>
                  <a:srgbClr val="47342E"/>
                </a:solidFill>
                <a:latin typeface="Poppins"/>
              </a:rPr>
              <a:t> Masiranje deteta alkoholom ili sirćetom je </a:t>
            </a:r>
            <a:r>
              <a:rPr sz="1300" b="1">
                <a:solidFill>
                  <a:srgbClr val="47342E"/>
                </a:solidFill>
                <a:latin typeface="Poppins"/>
              </a:rPr>
              <a:t>STROGO ZABRANJENO</a:t>
            </a:r>
            <a:r>
              <a:rPr sz="1300" b="0">
                <a:solidFill>
                  <a:srgbClr val="47342E"/>
                </a:solidFill>
                <a:latin typeface="Poppins"/>
              </a:rPr>
              <a:t> jer se alkohol apsorbuje kroz kožu i izaziva </a:t>
            </a:r>
            <a:r>
              <a:rPr sz="1300" b="1">
                <a:solidFill>
                  <a:srgbClr val="47342E"/>
                </a:solidFill>
                <a:latin typeface="Poppins"/>
              </a:rPr>
              <a:t>teško trovanje i komu</a:t>
            </a:r>
            <a:r>
              <a:rPr sz="1300" b="0">
                <a:solidFill>
                  <a:srgbClr val="47342E"/>
                </a:solidFill>
                <a:latin typeface="Poppins"/>
              </a:rPr>
              <a:t>!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Medikamenti po KILOGRAMIMA: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Paracetamol (10–15 mg/kg) ili ibuprofen (5–10 mg/kg)</a:t>
            </a:r>
            <a:r>
              <a:rPr sz="1300" b="0">
                <a:solidFill>
                  <a:srgbClr val="47342E"/>
                </a:solidFill>
                <a:latin typeface="Poppins"/>
              </a:rPr>
              <a:t> isključivo po TEŽINI deteta; </a:t>
            </a:r>
            <a:r>
              <a:rPr sz="1300" b="1">
                <a:solidFill>
                  <a:srgbClr val="47342E"/>
                </a:solidFill>
                <a:latin typeface="Poppins"/>
              </a:rPr>
              <a:t>ASPIRIN JE ZABRANJEN pre 16. godine</a:t>
            </a:r>
            <a:r>
              <a:rPr sz="1300" b="0">
                <a:solidFill>
                  <a:srgbClr val="47342E"/>
                </a:solidFill>
                <a:latin typeface="Poppins"/>
              </a:rPr>
              <a:t> (Reyeov sindrom).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&gt;38.5°C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Rektalno febrilno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9976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36-37°C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Mlaka voda za tuširanje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2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0 alkohola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Stroga zabrana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765535"/>
                </a:solidFill>
                <a:latin typeface="Poppins"/>
              </a:defRPr>
            </a:pPr>
            <a:r>
              <a:t>MODUL 4 • TEMA 32 • MODUL 4: NEGA BOLESNOG DETETA</a:t>
            </a:r>
          </a:p>
        </p:txBody>
      </p:sp>
      <p:pic>
        <p:nvPicPr>
          <p:cNvPr id="4" name="Picture 3" descr="logo_horizonta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765535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9614F"/>
                </a:solidFill>
                <a:latin typeface="Poppins"/>
              </a:defRPr>
            </a:pPr>
            <a:r>
              <a:t>ROYAL NANNY AKADEMIJA • STANDARDI NEGE   |   34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900" b="1">
                <a:solidFill>
                  <a:srgbClr val="47342E"/>
                </a:solidFill>
                <a:latin typeface="Libre Baskerville"/>
              </a:defRPr>
            </a:pPr>
            <a:r>
              <a:t>Povrede i nezgode: Padovi, opekotine i gušenje</a:t>
            </a:r>
          </a:p>
          <a:p>
            <a:pPr>
              <a:spcBef>
                <a:spcPts val="300"/>
              </a:spcBef>
              <a:defRPr sz="1350">
                <a:solidFill>
                  <a:srgbClr val="69614F"/>
                </a:solidFill>
                <a:latin typeface="Poppins"/>
              </a:defRPr>
            </a:pPr>
            <a:r>
              <a:t>Modul 4: Nega bolesnog deteta • Tema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Protokol kod padova i traume glave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Pravovremena i smirena prva pomoć spasava život u prvim kritičnim minutima nakon nezgode.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Imobilizacija i smirenje:</a:t>
            </a:r>
            <a:r>
              <a:rPr sz="1300" b="0">
                <a:solidFill>
                  <a:srgbClr val="47342E"/>
                </a:solidFill>
                <a:latin typeface="Poppins"/>
              </a:rPr>
              <a:t> Nakon pada ne pomerati naglo dete ako postoji sumnja na povredu vrata; pregledati zenice i pokretljivost ekstremiteta.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Praćenje u narednih 24–48h:</a:t>
            </a:r>
            <a:r>
              <a:rPr sz="1300" b="0">
                <a:solidFill>
                  <a:srgbClr val="47342E"/>
                </a:solidFill>
                <a:latin typeface="Poppins"/>
              </a:rPr>
              <a:t> Pratiti stanje svesti; </a:t>
            </a:r>
            <a:r>
              <a:rPr sz="1300" b="1">
                <a:solidFill>
                  <a:srgbClr val="47342E"/>
                </a:solidFill>
                <a:latin typeface="Poppins"/>
              </a:rPr>
              <a:t>crveni alarmi: gubitak svesti, povraćanje u mlazu, neuobičajena pospanost, curenje bistre tečnosti iz nosa ili uha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Prva pomoć: Opekotine i gušenje stranim telom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Striktno poštovanje sekvence manevara prve pomoći kod gušenja i opekotina sprečava trajne posledice.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Gušenje – Protokol za odojčad (do 1 godine):</a:t>
            </a:r>
            <a:r>
              <a:rPr sz="1300" b="0">
                <a:solidFill>
                  <a:srgbClr val="47342E"/>
                </a:solidFill>
                <a:latin typeface="Poppins"/>
              </a:rPr>
              <a:t> Postaviti bebu </a:t>
            </a:r>
            <a:r>
              <a:rPr sz="1300" b="1">
                <a:solidFill>
                  <a:srgbClr val="47342E"/>
                </a:solidFill>
                <a:latin typeface="Poppins"/>
              </a:rPr>
              <a:t>potrbuške duž svoje podlaktice sa glavom naniže</a:t>
            </a:r>
            <a:r>
              <a:rPr sz="1300" b="0">
                <a:solidFill>
                  <a:srgbClr val="47342E"/>
                </a:solidFill>
                <a:latin typeface="Poppins"/>
              </a:rPr>
              <a:t>; zadati </a:t>
            </a:r>
            <a:r>
              <a:rPr sz="1300" b="1">
                <a:solidFill>
                  <a:srgbClr val="47342E"/>
                </a:solidFill>
                <a:latin typeface="Poppins"/>
              </a:rPr>
              <a:t>5 energičnih udaraca korenom dlana između lopatica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Pritisak na grudnu kost:</a:t>
            </a:r>
            <a:r>
              <a:rPr sz="1300" b="0">
                <a:solidFill>
                  <a:srgbClr val="47342E"/>
                </a:solidFill>
                <a:latin typeface="Poppins"/>
              </a:rPr>
              <a:t> Ako strano telo ne izleti, okrenuti bebu na leđa i primeniti </a:t>
            </a:r>
            <a:r>
              <a:rPr sz="1300" b="1">
                <a:solidFill>
                  <a:srgbClr val="47342E"/>
                </a:solidFill>
                <a:latin typeface="Poppins"/>
              </a:rPr>
              <a:t>5 pritisaka sa dva prsta na sredinu grudne kosti</a:t>
            </a:r>
            <a:r>
              <a:rPr sz="1300" b="0">
                <a:solidFill>
                  <a:srgbClr val="47342E"/>
                </a:solidFill>
                <a:latin typeface="Poppins"/>
              </a:rPr>
              <a:t>; ponavljati ciklus i </a:t>
            </a:r>
            <a:r>
              <a:rPr sz="1300" b="1">
                <a:solidFill>
                  <a:srgbClr val="47342E"/>
                </a:solidFill>
                <a:latin typeface="Poppins"/>
              </a:rPr>
              <a:t>odmah pozvati 194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STROGA ZABRANA GURANJA PRSTIJU: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NIKADA ne gurati prste na slepo u grlo deteta</a:t>
            </a:r>
            <a:r>
              <a:rPr sz="1300" b="0">
                <a:solidFill>
                  <a:srgbClr val="47342E"/>
                </a:solidFill>
                <a:latin typeface="Poppins"/>
              </a:rPr>
              <a:t> jer to gura strano telo dublje i potpuno zatvara disajni put!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Opekotine – Protokol prve pomoći:</a:t>
            </a:r>
            <a:r>
              <a:rPr sz="1300" b="0">
                <a:solidFill>
                  <a:srgbClr val="47342E"/>
                </a:solidFill>
                <a:latin typeface="Poppins"/>
              </a:rPr>
              <a:t> Opečeno mesto odmah hladiti </a:t>
            </a:r>
            <a:r>
              <a:rPr sz="1300" b="1">
                <a:solidFill>
                  <a:srgbClr val="47342E"/>
                </a:solidFill>
                <a:latin typeface="Poppins"/>
              </a:rPr>
              <a:t>pod mlazom hladne tekuće vode punih 10–15 minuta</a:t>
            </a:r>
            <a:r>
              <a:rPr sz="1300" b="0">
                <a:solidFill>
                  <a:srgbClr val="47342E"/>
                </a:solidFill>
                <a:latin typeface="Poppins"/>
              </a:rPr>
              <a:t>; </a:t>
            </a:r>
            <a:r>
              <a:rPr sz="1300" b="1">
                <a:solidFill>
                  <a:srgbClr val="47342E"/>
                </a:solidFill>
                <a:latin typeface="Poppins"/>
              </a:rPr>
              <a:t>NIKADA ne mazati ulje, mast ili pastu za zube</a:t>
            </a:r>
            <a:r>
              <a:rPr sz="1300" b="0">
                <a:solidFill>
                  <a:srgbClr val="47342E"/>
                </a:solidFill>
                <a:latin typeface="Poppins"/>
              </a:rPr>
              <a:t>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48 sati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Praćenje nakon pada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9976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15-20 min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Hlađenje opekotine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2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5 udaraca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Između lopatica (gušenje)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765535"/>
                </a:solidFill>
                <a:latin typeface="Poppins"/>
              </a:defRPr>
            </a:pPr>
            <a:r>
              <a:t>MODUL 4 • TEMA 33 • MODUL 4: NEGA BOLESNOG DETETA</a:t>
            </a:r>
          </a:p>
        </p:txBody>
      </p:sp>
      <p:pic>
        <p:nvPicPr>
          <p:cNvPr id="4" name="Picture 3" descr="logo_horizonta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765535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9614F"/>
                </a:solidFill>
                <a:latin typeface="Poppins"/>
              </a:defRPr>
            </a:pPr>
            <a:r>
              <a:t>ROYAL NANNY AKADEMIJA • STANDARDI NEGE   |   35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47342E"/>
                </a:solidFill>
                <a:latin typeface="Libre Baskerville"/>
              </a:defRPr>
            </a:pPr>
            <a:r>
              <a:t>Zarazne bolesti dečjeg uzrasta</a:t>
            </a:r>
          </a:p>
          <a:p>
            <a:pPr>
              <a:spcBef>
                <a:spcPts val="300"/>
              </a:spcBef>
              <a:defRPr sz="1350">
                <a:solidFill>
                  <a:srgbClr val="69614F"/>
                </a:solidFill>
                <a:latin typeface="Poppins"/>
              </a:defRPr>
            </a:pPr>
            <a:r>
              <a:t>Modul 4: Nega bolesnog deteta • Tema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Varičela (Ovčije boginje) i kritična pravila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Varičela je visoko zarazna virusna bolest čija nega zahteva striktno poznavanje farmakoloških zabrana.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Varičele (Ovčije boginje):</a:t>
            </a:r>
            <a:r>
              <a:rPr sz="1300" b="0">
                <a:solidFill>
                  <a:srgbClr val="47342E"/>
                </a:solidFill>
                <a:latin typeface="Poppins"/>
              </a:rPr>
              <a:t> Izbijanje vezikula (mehurića punih tečnosti) u talasima praćeno svrabom; </a:t>
            </a:r>
            <a:r>
              <a:rPr sz="1300" b="1">
                <a:solidFill>
                  <a:srgbClr val="47342E"/>
                </a:solidFill>
                <a:latin typeface="Poppins"/>
              </a:rPr>
              <a:t>dete je zarazno 2 dana pre osipa i dok se svi mehurići ne sasuše u kraste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STROGA ZABRANA IBUPROFENA KOD VARIČELA: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Kod varičela je STROGO ZABRANJEN ibuprofen (Brufen)</a:t>
            </a:r>
            <a:r>
              <a:rPr sz="1300" b="0">
                <a:solidFill>
                  <a:srgbClr val="47342E"/>
                </a:solidFill>
                <a:latin typeface="Poppins"/>
              </a:rPr>
              <a:t> zbog rizika od smrtonosnih bakterijskih infekcija mekih tkiva; </a:t>
            </a:r>
            <a:r>
              <a:rPr sz="1300" b="1">
                <a:solidFill>
                  <a:srgbClr val="47342E"/>
                </a:solidFill>
                <a:latin typeface="Poppins"/>
              </a:rPr>
              <a:t>koristiti isključivo paracetamol</a:t>
            </a:r>
            <a:r>
              <a:rPr sz="1300" b="0">
                <a:solidFill>
                  <a:srgbClr val="47342E"/>
                </a:solidFill>
                <a:latin typeface="Poppins"/>
              </a:rPr>
              <a:t>!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Nega kože kod varičela:</a:t>
            </a:r>
            <a:r>
              <a:rPr sz="1300" b="0">
                <a:solidFill>
                  <a:srgbClr val="47342E"/>
                </a:solidFill>
                <a:latin typeface="Poppins"/>
              </a:rPr>
              <a:t> Skratiti nokte detetu da se spreči češanje; tuširati blagim sindetom i </a:t>
            </a:r>
            <a:r>
              <a:rPr sz="1300" b="1">
                <a:solidFill>
                  <a:srgbClr val="47342E"/>
                </a:solidFill>
                <a:latin typeface="Poppins"/>
              </a:rPr>
              <a:t>nanositi penu sa nanomaterijalima koji hlade i smanjuju svrab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Šarlah, šesta bolest i BRNU sindrom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Klinička diferencijacija uobičajenih febrilnih egzantema dečjeg uzrasta.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Šarlah (Bakterijska infekcija):</a:t>
            </a:r>
            <a:r>
              <a:rPr sz="1300" b="0">
                <a:solidFill>
                  <a:srgbClr val="47342E"/>
                </a:solidFill>
                <a:latin typeface="Poppins"/>
              </a:rPr>
              <a:t> Crveno grlo "kao plamen", </a:t>
            </a:r>
            <a:r>
              <a:rPr sz="1300" b="1">
                <a:solidFill>
                  <a:srgbClr val="47342E"/>
                </a:solidFill>
                <a:latin typeface="Poppins"/>
              </a:rPr>
              <a:t>"malinast" jezik</a:t>
            </a:r>
            <a:r>
              <a:rPr sz="1300" b="0">
                <a:solidFill>
                  <a:srgbClr val="47342E"/>
                </a:solidFill>
                <a:latin typeface="Poppins"/>
              </a:rPr>
              <a:t> i sitan tačkast osip koji se ljušti; </a:t>
            </a:r>
            <a:r>
              <a:rPr sz="1300" b="1">
                <a:solidFill>
                  <a:srgbClr val="47342E"/>
                </a:solidFill>
                <a:latin typeface="Poppins"/>
              </a:rPr>
              <a:t>zahteva antibiotsku terapiju penicilinom punih 10 dana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Šesta bolest (Roseola):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3 dana visoke temperature bez drugih simptoma</a:t>
            </a:r>
            <a:r>
              <a:rPr sz="1300" b="0">
                <a:solidFill>
                  <a:srgbClr val="47342E"/>
                </a:solidFill>
                <a:latin typeface="Poppins"/>
              </a:rPr>
              <a:t>, a četvrtog dana temperatura naglo pada i izbija sitan ružičasti osip po trupu.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BRNU sindrom (Bolest usta, šaka i stopala):</a:t>
            </a:r>
            <a:r>
              <a:rPr sz="1300" b="0">
                <a:solidFill>
                  <a:srgbClr val="47342E"/>
                </a:solidFill>
                <a:latin typeface="Poppins"/>
              </a:rPr>
              <a:t> Bolne ranice u ustima i vezikule na dlanovima i tabanima; </a:t>
            </a:r>
            <a:r>
              <a:rPr sz="1300" b="1">
                <a:solidFill>
                  <a:srgbClr val="47342E"/>
                </a:solidFill>
                <a:latin typeface="Poppins"/>
              </a:rPr>
              <a:t>zahteva hladne napitke i kašastu hranu</a:t>
            </a:r>
            <a:r>
              <a:rPr sz="1300" b="0">
                <a:solidFill>
                  <a:srgbClr val="47342E"/>
                </a:solidFill>
                <a:latin typeface="Poppins"/>
              </a:rPr>
              <a:t> radi lakšeg gutanja.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Varičela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Ibuprofen ZABRANJEN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9976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Šarlah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Obavezan antibiotik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2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6. bolest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3 dana temp + osip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765535"/>
                </a:solidFill>
                <a:latin typeface="Poppins"/>
              </a:defRPr>
            </a:pPr>
            <a:r>
              <a:t>MODUL 4 • TEMA 34 • MODUL 4: NEGA BOLESNOG DETETA</a:t>
            </a:r>
          </a:p>
        </p:txBody>
      </p:sp>
      <p:pic>
        <p:nvPicPr>
          <p:cNvPr id="4" name="Picture 3" descr="logo_horizonta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765535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9614F"/>
                </a:solidFill>
                <a:latin typeface="Poppins"/>
              </a:defRPr>
            </a:pPr>
            <a:r>
              <a:t>ROYAL NANNY AKADEMIJA • STANDARDI NEGE   |   36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900" b="1">
                <a:solidFill>
                  <a:srgbClr val="47342E"/>
                </a:solidFill>
                <a:latin typeface="Libre Baskerville"/>
              </a:defRPr>
            </a:pPr>
            <a:r>
              <a:t>Ujedi insekata: Protokol vađenja krpelja</a:t>
            </a:r>
          </a:p>
          <a:p>
            <a:pPr>
              <a:spcBef>
                <a:spcPts val="300"/>
              </a:spcBef>
              <a:defRPr sz="1350">
                <a:solidFill>
                  <a:srgbClr val="69614F"/>
                </a:solidFill>
                <a:latin typeface="Poppins"/>
              </a:defRPr>
            </a:pPr>
            <a:r>
              <a:t>Modul 4: Nega bolesnog deteta • Tema 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Medicinski protokol vađenja krpelja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Pravilno uklanjanje krpelja unutar prvih 24 sata od uboda dramatično smanjuje rizik od prenosa Lajmske bolesti.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Vađenje krpelja – Medicinski standard:</a:t>
            </a:r>
            <a:r>
              <a:rPr sz="1300" b="0">
                <a:solidFill>
                  <a:srgbClr val="47342E"/>
                </a:solidFill>
                <a:latin typeface="Poppins"/>
              </a:rPr>
              <a:t> Uhvatiti krpelja </a:t>
            </a:r>
            <a:r>
              <a:rPr sz="1300" b="1">
                <a:solidFill>
                  <a:srgbClr val="47342E"/>
                </a:solidFill>
                <a:latin typeface="Poppins"/>
              </a:rPr>
              <a:t>medicinskom pincetom što bliže koži</a:t>
            </a:r>
            <a:r>
              <a:rPr sz="1300" b="0">
                <a:solidFill>
                  <a:srgbClr val="47342E"/>
                </a:solidFill>
                <a:latin typeface="Poppins"/>
              </a:rPr>
              <a:t> i povući ga </a:t>
            </a:r>
            <a:r>
              <a:rPr sz="1300" b="1">
                <a:solidFill>
                  <a:srgbClr val="47342E"/>
                </a:solidFill>
                <a:latin typeface="Poppins"/>
              </a:rPr>
              <a:t>pravolinijski i ravnomerno na gore</a:t>
            </a:r>
            <a:r>
              <a:rPr sz="1300" b="0">
                <a:solidFill>
                  <a:srgbClr val="47342E"/>
                </a:solidFill>
                <a:latin typeface="Poppins"/>
              </a:rPr>
              <a:t> bez uvrtanja.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STROGA ZABRANA NANOŠENJA HEMIKALIJA: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NIKADA ne mazati krpelja uljem, alkoholom, acetonom ili sapunom</a:t>
            </a:r>
            <a:r>
              <a:rPr sz="1300" b="0">
                <a:solidFill>
                  <a:srgbClr val="47342E"/>
                </a:solidFill>
                <a:latin typeface="Poppins"/>
              </a:rPr>
              <a:t> jer to izaziva gušenje krpelja i povraćanje zaraženog sadržaja u krv deteta!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Dezinfekcija nakon vađenja:</a:t>
            </a:r>
            <a:r>
              <a:rPr sz="1300" b="0">
                <a:solidFill>
                  <a:srgbClr val="47342E"/>
                </a:solidFill>
                <a:latin typeface="Poppins"/>
              </a:rPr>
              <a:t> Mesto uboda </a:t>
            </a:r>
            <a:r>
              <a:rPr sz="1300" b="1">
                <a:solidFill>
                  <a:srgbClr val="47342E"/>
                </a:solidFill>
                <a:latin typeface="Poppins"/>
              </a:rPr>
              <a:t>dezinfikovati Octeniseptom tek NAKON vađenja krpelja</a:t>
            </a:r>
            <a:r>
              <a:rPr sz="1300" b="0">
                <a:solidFill>
                  <a:srgbClr val="47342E"/>
                </a:solidFill>
                <a:latin typeface="Poppins"/>
              </a:rPr>
              <a:t>; ne dirati ranu prljavim rukama.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Ujedi pčela, osa i praćenje Lajmske bolesti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Razlikovanje lokalne upalne reakcije od sistemske alergije i hronične bakterijske infekcije.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Praćenje mesta uboda (Lajmska bolest):</a:t>
            </a:r>
            <a:r>
              <a:rPr sz="1300" b="0">
                <a:solidFill>
                  <a:srgbClr val="47342E"/>
                </a:solidFill>
                <a:latin typeface="Poppins"/>
              </a:rPr>
              <a:t> Pratiti mesto uboda </a:t>
            </a:r>
            <a:r>
              <a:rPr sz="1300" b="1">
                <a:solidFill>
                  <a:srgbClr val="47342E"/>
                </a:solidFill>
                <a:latin typeface="Poppins"/>
              </a:rPr>
              <a:t>narednih 30–40 dana</a:t>
            </a:r>
            <a:r>
              <a:rPr sz="1300" b="0">
                <a:solidFill>
                  <a:srgbClr val="47342E"/>
                </a:solidFill>
                <a:latin typeface="Poppins"/>
              </a:rPr>
              <a:t>; pojava crvenog prstena koji se širi (</a:t>
            </a:r>
            <a:r>
              <a:rPr sz="1300" b="1">
                <a:solidFill>
                  <a:srgbClr val="47342E"/>
                </a:solidFill>
                <a:latin typeface="Poppins"/>
              </a:rPr>
              <a:t>Erythema migrans</a:t>
            </a:r>
            <a:r>
              <a:rPr sz="1300" b="0">
                <a:solidFill>
                  <a:srgbClr val="47342E"/>
                </a:solidFill>
                <a:latin typeface="Poppins"/>
              </a:rPr>
              <a:t>) zahteva </a:t>
            </a:r>
            <a:r>
              <a:rPr sz="1300" b="1">
                <a:solidFill>
                  <a:srgbClr val="47342E"/>
                </a:solidFill>
                <a:latin typeface="Poppins"/>
              </a:rPr>
              <a:t>hitnu antibiotsku terapiju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Ujed pčele ili ose:</a:t>
            </a:r>
            <a:r>
              <a:rPr sz="1300" b="0">
                <a:solidFill>
                  <a:srgbClr val="47342E"/>
                </a:solidFill>
                <a:latin typeface="Poppins"/>
              </a:rPr>
              <a:t> Žaoku ukloniti </a:t>
            </a:r>
            <a:r>
              <a:rPr sz="1300" b="1">
                <a:solidFill>
                  <a:srgbClr val="47342E"/>
                </a:solidFill>
                <a:latin typeface="Poppins"/>
              </a:rPr>
              <a:t>struganjem ivicom plastične kartice ili noktom</a:t>
            </a:r>
            <a:r>
              <a:rPr sz="1300" b="0">
                <a:solidFill>
                  <a:srgbClr val="47342E"/>
                </a:solidFill>
                <a:latin typeface="Poppins"/>
              </a:rPr>
              <a:t> (ne stiskati pincetom da se ne istisne otrov); staviti </a:t>
            </a:r>
            <a:r>
              <a:rPr sz="1300" b="1">
                <a:solidFill>
                  <a:srgbClr val="47342E"/>
                </a:solidFill>
                <a:latin typeface="Poppins"/>
              </a:rPr>
              <a:t>hladnu oblogu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Crveni alarmi za anafilaksu:</a:t>
            </a:r>
            <a:r>
              <a:rPr sz="1300" b="0">
                <a:solidFill>
                  <a:srgbClr val="47342E"/>
                </a:solidFill>
                <a:latin typeface="Poppins"/>
              </a:rPr>
              <a:t> Otok usana, jezika, očnih kapaka, </a:t>
            </a:r>
            <a:r>
              <a:rPr sz="1300" b="1">
                <a:solidFill>
                  <a:srgbClr val="47342E"/>
                </a:solidFill>
                <a:latin typeface="Poppins"/>
              </a:rPr>
              <a:t>otežano disanje ili gušenje unutar 30 minuta od ujeda</a:t>
            </a:r>
            <a:r>
              <a:rPr sz="1300" b="0">
                <a:solidFill>
                  <a:srgbClr val="47342E"/>
                </a:solidFill>
                <a:latin typeface="Poppins"/>
              </a:rPr>
              <a:t> zahtevaju </a:t>
            </a:r>
            <a:r>
              <a:rPr sz="1300" b="1">
                <a:solidFill>
                  <a:srgbClr val="47342E"/>
                </a:solidFill>
                <a:latin typeface="Poppins"/>
              </a:rPr>
              <a:t>hitan poziv hitnoj pomoći (194)</a:t>
            </a:r>
            <a:r>
              <a:rPr sz="1300" b="0">
                <a:solidFill>
                  <a:srgbClr val="47342E"/>
                </a:solidFill>
                <a:latin typeface="Poppins"/>
              </a:rPr>
              <a:t>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Pinceta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Ravno na gore bez uvrtanja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9976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0 hemikalija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Zabrana ulja i alkohola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2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30 dana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Praćenje eritema migrans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765535"/>
                </a:solidFill>
                <a:latin typeface="Poppins"/>
              </a:defRPr>
            </a:pPr>
            <a:r>
              <a:t>MODUL 4 • TEMA 35 • MODUL 4: NEGA BOLESNOG DETETA</a:t>
            </a:r>
          </a:p>
        </p:txBody>
      </p:sp>
      <p:pic>
        <p:nvPicPr>
          <p:cNvPr id="4" name="Picture 3" descr="logo_horizonta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765535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9614F"/>
                </a:solidFill>
                <a:latin typeface="Poppins"/>
              </a:defRPr>
            </a:pPr>
            <a:r>
              <a:t>ROYAL NANNY AKADEMIJA • STANDARDI NEGE   |   37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47342E"/>
                </a:solidFill>
                <a:latin typeface="Libre Baskerville"/>
              </a:defRPr>
            </a:pPr>
            <a:r>
              <a:t>Alergije i anafilaktički šok kod dece</a:t>
            </a:r>
          </a:p>
          <a:p>
            <a:pPr>
              <a:spcBef>
                <a:spcPts val="300"/>
              </a:spcBef>
              <a:defRPr sz="1350">
                <a:solidFill>
                  <a:srgbClr val="69614F"/>
                </a:solidFill>
                <a:latin typeface="Poppins"/>
              </a:defRPr>
            </a:pPr>
            <a:r>
              <a:t>Modul 4: Nega bolesnog deteta • Tema 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Spektar alergijskih reakcija kod dece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Alergije u pedijatriji variraju od blagih kožnih promena do po život opasnog anafilaktičkog šoka.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Brze alergijske reakcije:</a:t>
            </a:r>
            <a:r>
              <a:rPr sz="1300" b="0">
                <a:solidFill>
                  <a:srgbClr val="47342E"/>
                </a:solidFill>
                <a:latin typeface="Poppins"/>
              </a:rPr>
              <a:t> Koprivnjača (urtikarija), </a:t>
            </a:r>
            <a:r>
              <a:rPr sz="1300" b="1">
                <a:solidFill>
                  <a:srgbClr val="47342E"/>
                </a:solidFill>
                <a:latin typeface="Poppins"/>
              </a:rPr>
              <a:t>otok usana, očnih kapaka i jezika (angioedem)</a:t>
            </a:r>
            <a:r>
              <a:rPr sz="1300" b="0">
                <a:solidFill>
                  <a:srgbClr val="47342E"/>
                </a:solidFill>
                <a:latin typeface="Poppins"/>
              </a:rPr>
              <a:t>, kašalj, promuklost, zviždanje u grudima, otežano disanje.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Gastrointestinalne alergije:</a:t>
            </a:r>
            <a:r>
              <a:rPr sz="1300" b="0">
                <a:solidFill>
                  <a:srgbClr val="47342E"/>
                </a:solidFill>
                <a:latin typeface="Poppins"/>
              </a:rPr>
              <a:t> Naglo povraćanje u mlazu, jaki stomačni grčevi i </a:t>
            </a:r>
            <a:r>
              <a:rPr sz="1300" b="1">
                <a:solidFill>
                  <a:srgbClr val="47342E"/>
                </a:solidFill>
                <a:latin typeface="Poppins"/>
              </a:rPr>
              <a:t>vodenasta dijareja neposredno nakon konzumiranja alergena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Prepoznavanje anafilakse i HITAN PROTOKOL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Anafilaktički šok je najurgentnije stanje u pedijatriji gde minuti odlučuju o ishodu.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Anafilaktički šok (Hitno stanje):</a:t>
            </a:r>
            <a:r>
              <a:rPr sz="1300" b="0">
                <a:solidFill>
                  <a:srgbClr val="47342E"/>
                </a:solidFill>
                <a:latin typeface="Poppins"/>
              </a:rPr>
              <a:t> Nagli pad pritiska, bledilo, hladan znoj, gušenje, gubitak svesti; </a:t>
            </a:r>
            <a:r>
              <a:rPr sz="1300" b="1">
                <a:solidFill>
                  <a:srgbClr val="47342E"/>
                </a:solidFill>
                <a:latin typeface="Poppins"/>
              </a:rPr>
              <a:t>ODMAH POZVATI 194</a:t>
            </a:r>
            <a:r>
              <a:rPr sz="1300" b="0">
                <a:solidFill>
                  <a:srgbClr val="47342E"/>
                </a:solidFill>
                <a:latin typeface="Poppins"/>
              </a:rPr>
              <a:t>!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Adrenalin autoinjektor (EpiPen):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Adrenalin je JEDINI lek koji spašava život kod anafilakse</a:t>
            </a:r>
            <a:r>
              <a:rPr sz="1300" b="0">
                <a:solidFill>
                  <a:srgbClr val="47342E"/>
                </a:solidFill>
                <a:latin typeface="Poppins"/>
              </a:rPr>
              <a:t>; primenjuje se </a:t>
            </a:r>
            <a:r>
              <a:rPr sz="1300" b="1">
                <a:solidFill>
                  <a:srgbClr val="47342E"/>
                </a:solidFill>
                <a:latin typeface="Poppins"/>
              </a:rPr>
              <a:t>u spoljašnju stranu butine pod uglom od 90° i drži se pritisnut 10 sekundi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Položaj deteta kod šoka:</a:t>
            </a:r>
            <a:r>
              <a:rPr sz="1300" b="0">
                <a:solidFill>
                  <a:srgbClr val="47342E"/>
                </a:solidFill>
                <a:latin typeface="Poppins"/>
              </a:rPr>
              <a:t> Dete položiti na leđa sa </a:t>
            </a:r>
            <a:r>
              <a:rPr sz="1300" b="1">
                <a:solidFill>
                  <a:srgbClr val="47342E"/>
                </a:solidFill>
                <a:latin typeface="Poppins"/>
              </a:rPr>
              <a:t>podignutim nogama (Šok položaj)</a:t>
            </a:r>
            <a:r>
              <a:rPr sz="1300" b="0">
                <a:solidFill>
                  <a:srgbClr val="47342E"/>
                </a:solidFill>
                <a:latin typeface="Poppins"/>
              </a:rPr>
              <a:t>; ako povraća ili gubi svest, </a:t>
            </a:r>
            <a:r>
              <a:rPr sz="1300" b="1">
                <a:solidFill>
                  <a:srgbClr val="47342E"/>
                </a:solidFill>
                <a:latin typeface="Poppins"/>
              </a:rPr>
              <a:t>okrenuti ga na bok</a:t>
            </a:r>
            <a:r>
              <a:rPr sz="1300" b="0">
                <a:solidFill>
                  <a:srgbClr val="47342E"/>
                </a:solidFill>
                <a:latin typeface="Poppins"/>
              </a:rPr>
              <a:t>; nikada ne postavljati u uspravan položaj!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Poziv 194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Momentalno pri anafilaksi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9976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EpiPen Jr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Adrenalin u butinu 90°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2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Stridor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Znak otoka disajnih puteva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765535"/>
                </a:solidFill>
                <a:latin typeface="Poppins"/>
              </a:defRPr>
            </a:pPr>
            <a:r>
              <a:t>MODUL 4 • TEMA 36 • MODUL 4: NEGA BOLESNOG DETETA</a:t>
            </a:r>
          </a:p>
        </p:txBody>
      </p:sp>
      <p:pic>
        <p:nvPicPr>
          <p:cNvPr id="4" name="Picture 3" descr="logo_horizonta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765535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9614F"/>
                </a:solidFill>
                <a:latin typeface="Poppins"/>
              </a:defRPr>
            </a:pPr>
            <a:r>
              <a:t>ROYAL NANNY AKADEMIJA • STANDARDI NEGE   |   38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900" b="1">
                <a:solidFill>
                  <a:srgbClr val="47342E"/>
                </a:solidFill>
                <a:latin typeface="Libre Baskerville"/>
              </a:defRPr>
            </a:pPr>
            <a:r>
              <a:t>Zlatni standard putne i kućne apoteke za decu</a:t>
            </a:r>
          </a:p>
          <a:p>
            <a:pPr>
              <a:spcBef>
                <a:spcPts val="300"/>
              </a:spcBef>
              <a:defRPr sz="1350">
                <a:solidFill>
                  <a:srgbClr val="69614F"/>
                </a:solidFill>
                <a:latin typeface="Poppins"/>
              </a:defRPr>
            </a:pPr>
            <a:r>
              <a:t>Modul 4: Nega bolesnog deteta • Tema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Principi organizacije i čuvanja lekova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Pravilno opremljena i bezbedno čuvana apoteka omogućava trenutnu reakciju u vanrednim situacijama.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Pravilno skladištenje:</a:t>
            </a:r>
            <a:r>
              <a:rPr sz="1300" b="0">
                <a:solidFill>
                  <a:srgbClr val="47342E"/>
                </a:solidFill>
                <a:latin typeface="Poppins"/>
              </a:rPr>
              <a:t> Čuvati u </a:t>
            </a:r>
            <a:r>
              <a:rPr sz="1300" b="1">
                <a:solidFill>
                  <a:srgbClr val="47342E"/>
                </a:solidFill>
                <a:latin typeface="Poppins"/>
              </a:rPr>
              <a:t>originalnoj ambalaži sa uputstvom i rokom trajanja</a:t>
            </a:r>
            <a:r>
              <a:rPr sz="1300" b="0">
                <a:solidFill>
                  <a:srgbClr val="47342E"/>
                </a:solidFill>
                <a:latin typeface="Poppins"/>
              </a:rPr>
              <a:t>, na suvom i tamnom mestu (do 25°C), </a:t>
            </a:r>
            <a:r>
              <a:rPr sz="1300" b="1">
                <a:solidFill>
                  <a:srgbClr val="47342E"/>
                </a:solidFill>
                <a:latin typeface="Poppins"/>
              </a:rPr>
              <a:t>pod ključem ili van domašaja dece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Periodična revizija rokova:</a:t>
            </a:r>
            <a:r>
              <a:rPr sz="1300" b="0">
                <a:solidFill>
                  <a:srgbClr val="47342E"/>
                </a:solidFill>
                <a:latin typeface="Poppins"/>
              </a:rPr>
              <a:t> Najmanje </a:t>
            </a:r>
            <a:r>
              <a:rPr sz="1300" b="1">
                <a:solidFill>
                  <a:srgbClr val="47342E"/>
                </a:solidFill>
                <a:latin typeface="Poppins"/>
              </a:rPr>
              <a:t>jednom u 3 meseca proveriti rokove trajanja svih lekova i sirupa</a:t>
            </a:r>
            <a:r>
              <a:rPr sz="1300" b="0">
                <a:solidFill>
                  <a:srgbClr val="47342E"/>
                </a:solidFill>
                <a:latin typeface="Poppins"/>
              </a:rPr>
              <a:t>; lekove sa isteklim rokom odmah bezbedno odložiti.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4 obavezne celine pedijatrijske apoteke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Strukturisani set medikamenata i sanitetskog materijala prilagođen uzrastu odojčeta.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1. Antipiretici i rehidracija: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Paracetamol sirup i čepići, ibuprofen sirup, kesice oralnih rehidracionih soli (ORS)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2. Toaleta disajnih puteva: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Sterilne ampule 0.9% NaCl (fiziološki rastvor)</a:t>
            </a:r>
            <a:r>
              <a:rPr sz="1300" b="0">
                <a:solidFill>
                  <a:srgbClr val="47342E"/>
                </a:solidFill>
                <a:latin typeface="Poppins"/>
              </a:rPr>
              <a:t> za ispiranje nosa i očiju, nosni aspirator sa mekim nastavkom.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3. Antiseptici i previjanje: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Octenisept sprej za rane i pupčanik</a:t>
            </a:r>
            <a:r>
              <a:rPr sz="1300" b="0">
                <a:solidFill>
                  <a:srgbClr val="47342E"/>
                </a:solidFill>
                <a:latin typeface="Poppins"/>
              </a:rPr>
              <a:t>, sterilne gaze (5x5 i 10x10 cm), mikropor flaster, elastični zavoj, hanzaplast.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4. Dijagnostika i doziranje: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Digitalni toplomer sa savitljivim vrhom</a:t>
            </a:r>
            <a:r>
              <a:rPr sz="1300" b="0">
                <a:solidFill>
                  <a:srgbClr val="47342E"/>
                </a:solidFill>
                <a:latin typeface="Poppins"/>
              </a:rPr>
              <a:t>, špricevi za doziranje lekova (2 ml i 5 ml), pinceta za krpelje.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4 celine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Struktura apoteke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9976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Zaključano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Van domašaja dece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2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6 meseci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Revizija rokova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765535"/>
                </a:solidFill>
                <a:latin typeface="Poppins"/>
              </a:defRPr>
            </a:pPr>
            <a:r>
              <a:t>MODUL 4 • TEMA 37 • MODUL 4: NEGA BOLESNOG DETETA</a:t>
            </a:r>
          </a:p>
        </p:txBody>
      </p:sp>
      <p:pic>
        <p:nvPicPr>
          <p:cNvPr id="4" name="Picture 3" descr="logo_horizonta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765535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9614F"/>
                </a:solidFill>
                <a:latin typeface="Poppins"/>
              </a:defRPr>
            </a:pPr>
            <a:r>
              <a:t>ROYAL NANNY AKADEMIJA • STANDARDI NEGE   |   39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900" b="1">
                <a:solidFill>
                  <a:srgbClr val="47342E"/>
                </a:solidFill>
                <a:latin typeface="Libre Baskerville"/>
              </a:defRPr>
            </a:pPr>
            <a:r>
              <a:t>Davanje lekova: Tehnike bezbedne administracije</a:t>
            </a:r>
          </a:p>
          <a:p>
            <a:pPr>
              <a:spcBef>
                <a:spcPts val="300"/>
              </a:spcBef>
              <a:defRPr sz="1350">
                <a:solidFill>
                  <a:srgbClr val="69614F"/>
                </a:solidFill>
                <a:latin typeface="Poppins"/>
              </a:defRPr>
            </a:pPr>
            <a:r>
              <a:t>Modul 4: Nega bolesnog deteta • Tema 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Zlatnih 5 pravila bezbednosti lekova (5R)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Međunarodni klinički standard za eliminaciju medikacijskih grešaka u radu sa decom.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Pravilo 5 prava (5R standard):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Pravo dete, pravi lek, prava doza, pravi put primene (oralno/rektalno), pravo vreme</a:t>
            </a:r>
            <a:r>
              <a:rPr sz="1300" b="0">
                <a:solidFill>
                  <a:srgbClr val="47342E"/>
                </a:solidFill>
                <a:latin typeface="Poppins"/>
              </a:rPr>
              <a:t> pre svake primene leka!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Doziranje isključivo po KILOGRAMIMA:</a:t>
            </a:r>
            <a:r>
              <a:rPr sz="1300" b="0">
                <a:solidFill>
                  <a:srgbClr val="47342E"/>
                </a:solidFill>
                <a:latin typeface="Poppins"/>
              </a:rPr>
              <a:t> Doza leka u pedijatriji se </a:t>
            </a:r>
            <a:r>
              <a:rPr sz="1300" b="1">
                <a:solidFill>
                  <a:srgbClr val="47342E"/>
                </a:solidFill>
                <a:latin typeface="Poppins"/>
              </a:rPr>
              <a:t>nikada ne računa prema godinama starosti, već isključivo prema telesnoj težini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Dvostruka provera (Double Check):</a:t>
            </a:r>
            <a:r>
              <a:rPr sz="1300" b="0">
                <a:solidFill>
                  <a:srgbClr val="47342E"/>
                </a:solidFill>
                <a:latin typeface="Poppins"/>
              </a:rPr>
              <a:t> Uvek </a:t>
            </a:r>
            <a:r>
              <a:rPr sz="1300" b="1">
                <a:solidFill>
                  <a:srgbClr val="47342E"/>
                </a:solidFill>
                <a:latin typeface="Poppins"/>
              </a:rPr>
              <a:t>pročitati naziv leka i koncentraciju tri puta</a:t>
            </a:r>
            <a:r>
              <a:rPr sz="1300" b="0">
                <a:solidFill>
                  <a:srgbClr val="47342E"/>
                </a:solidFill>
                <a:latin typeface="Poppins"/>
              </a:rPr>
              <a:t>: pri uzimanju iz apoteke, pri navlačenju u špric i pre same primene.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765535"/>
                </a:solidFill>
                <a:latin typeface="Libre Baskerville"/>
              </a:defRPr>
            </a:pPr>
            <a:r>
              <a:t>Tehnika davanja peroralnih sirupa, čepića i kapi</a:t>
            </a:r>
          </a:p>
          <a:p>
            <a:pPr>
              <a:spcBef>
                <a:spcPts val="600"/>
              </a:spcBef>
              <a:defRPr sz="1400" i="1">
                <a:solidFill>
                  <a:srgbClr val="765535"/>
                </a:solidFill>
                <a:latin typeface="Poppins"/>
              </a:defRPr>
            </a:pPr>
            <a:r>
              <a:t>Pravilna tehnika primene sprečava aspiraciju leka u disajne puteve i odbijanje terapije.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Tehnika davanja oralnog sirupa:</a:t>
            </a:r>
            <a:r>
              <a:rPr sz="1300" b="0">
                <a:solidFill>
                  <a:srgbClr val="47342E"/>
                </a:solidFill>
                <a:latin typeface="Poppins"/>
              </a:rPr>
              <a:t> Koristiti </a:t>
            </a:r>
            <a:r>
              <a:rPr sz="1300" b="1">
                <a:solidFill>
                  <a:srgbClr val="47342E"/>
                </a:solidFill>
                <a:latin typeface="Poppins"/>
              </a:rPr>
              <a:t>medicinski špric za lekove</a:t>
            </a:r>
            <a:r>
              <a:rPr sz="1300" b="0">
                <a:solidFill>
                  <a:srgbClr val="47342E"/>
                </a:solidFill>
                <a:latin typeface="Poppins"/>
              </a:rPr>
              <a:t>; ubrizgavati tečnost </a:t>
            </a:r>
            <a:r>
              <a:rPr sz="1300" b="1">
                <a:solidFill>
                  <a:srgbClr val="47342E"/>
                </a:solidFill>
                <a:latin typeface="Poppins"/>
              </a:rPr>
              <a:t>lagano u unutrašnju stranu obraza (u džep obraza)</a:t>
            </a:r>
            <a:r>
              <a:rPr sz="1300" b="0">
                <a:solidFill>
                  <a:srgbClr val="47342E"/>
                </a:solidFill>
                <a:latin typeface="Poppins"/>
              </a:rPr>
              <a:t>, nikada direktno u grlo!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STROGA ZABRANA MEŠANJA U PUNU FLAŠICU:</a:t>
            </a:r>
            <a:r>
              <a:rPr sz="1300" b="0">
                <a:solidFill>
                  <a:srgbClr val="47342E"/>
                </a:solidFill>
                <a:latin typeface="Poppins"/>
              </a:rPr>
              <a:t> </a:t>
            </a:r>
            <a:r>
              <a:rPr sz="1300" b="1">
                <a:solidFill>
                  <a:srgbClr val="47342E"/>
                </a:solidFill>
                <a:latin typeface="Poppins"/>
              </a:rPr>
              <a:t>NIKADA ne rastvarati lek u punu flašicu mleka ili soka</a:t>
            </a:r>
            <a:r>
              <a:rPr sz="1300" b="0">
                <a:solidFill>
                  <a:srgbClr val="47342E"/>
                </a:solidFill>
                <a:latin typeface="Poppins"/>
              </a:rPr>
              <a:t> jer ako dete ne popije sve, neće primiti punu dozu!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Pravilno postavljanje čepića:</a:t>
            </a:r>
            <a:r>
              <a:rPr sz="1300" b="0">
                <a:solidFill>
                  <a:srgbClr val="47342E"/>
                </a:solidFill>
                <a:latin typeface="Poppins"/>
              </a:rPr>
              <a:t> Oprati ruke, dete postaviti na bok sa savijenim nožicama; </a:t>
            </a:r>
            <a:r>
              <a:rPr sz="1300" b="1">
                <a:solidFill>
                  <a:srgbClr val="47342E"/>
                </a:solidFill>
                <a:latin typeface="Poppins"/>
              </a:rPr>
              <a:t>staviti čepić tupim krajem napred</a:t>
            </a:r>
            <a:r>
              <a:rPr sz="1300" b="0">
                <a:solidFill>
                  <a:srgbClr val="47342E"/>
                </a:solidFill>
                <a:latin typeface="Poppins"/>
              </a:rPr>
              <a:t> i držati stisnute gluteuse 1–2 minuta.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765535"/>
                </a:solidFill>
                <a:latin typeface="Poppins"/>
              </a:rPr>
              <a:t>• </a:t>
            </a:r>
            <a:r>
              <a:rPr sz="1300" b="1">
                <a:solidFill>
                  <a:srgbClr val="765535"/>
                </a:solidFill>
                <a:latin typeface="Poppins"/>
              </a:rPr>
              <a:t>Protokol kod povraćanja leka:</a:t>
            </a:r>
            <a:r>
              <a:rPr sz="1300" b="0">
                <a:solidFill>
                  <a:srgbClr val="47342E"/>
                </a:solidFill>
                <a:latin typeface="Poppins"/>
              </a:rPr>
              <a:t> Ako dete povrati unutar </a:t>
            </a:r>
            <a:r>
              <a:rPr sz="1300" b="1">
                <a:solidFill>
                  <a:srgbClr val="47342E"/>
                </a:solidFill>
                <a:latin typeface="Poppins"/>
              </a:rPr>
              <a:t>15 minuta od davanja</a:t>
            </a:r>
            <a:r>
              <a:rPr sz="1300" b="0">
                <a:solidFill>
                  <a:srgbClr val="47342E"/>
                </a:solidFill>
                <a:latin typeface="Poppins"/>
              </a:rPr>
              <a:t>, doza se ponavlja u celosti; ako povrati </a:t>
            </a:r>
            <a:r>
              <a:rPr sz="1300" b="1">
                <a:solidFill>
                  <a:srgbClr val="47342E"/>
                </a:solidFill>
                <a:latin typeface="Poppins"/>
              </a:rPr>
              <a:t>posle 30 minuta, doza se NE ponavlja</a:t>
            </a:r>
            <a:r>
              <a:rPr sz="1300" b="0">
                <a:solidFill>
                  <a:srgbClr val="47342E"/>
                </a:solidFill>
                <a:latin typeface="Poppins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3886200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5R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Pravila bezbednosti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9976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mg / kg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Doziranje po masi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2" y="5687568"/>
            <a:ext cx="344728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765535"/>
                </a:solidFill>
                <a:latin typeface="Libre Baskerville"/>
              </a:defRPr>
            </a:pPr>
            <a:r>
              <a:t>Oralni špric</a:t>
            </a:r>
          </a:p>
          <a:p>
            <a:pPr>
              <a:spcBef>
                <a:spcPts val="100"/>
              </a:spcBef>
              <a:defRPr sz="950">
                <a:solidFill>
                  <a:srgbClr val="69614F"/>
                </a:solidFill>
                <a:latin typeface="Poppins"/>
              </a:defRPr>
            </a:pPr>
            <a:r>
              <a:t>Uz unutrašnjost obraza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5687568"/>
            <a:ext cx="54864" cy="621792"/>
          </a:xfrm>
          <a:prstGeom prst="rect">
            <a:avLst/>
          </a:prstGeom>
          <a:solidFill>
            <a:srgbClr val="76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734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mark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"/>
            <a:ext cx="34747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432" y="329184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CDBBA0"/>
                </a:solidFill>
                <a:latin typeface="Poppins"/>
              </a:defRPr>
            </a:pPr>
            <a:r>
              <a:t>PROFESIONALNI STANDARDI • ZAVRŠNI STANDARDI</a:t>
            </a:r>
          </a:p>
        </p:txBody>
      </p:sp>
      <p:pic>
        <p:nvPicPr>
          <p:cNvPr id="4" name="Picture 3" descr="logo_horizontal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737360" cy="68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CDBBA0"/>
                </a:solidFill>
                <a:latin typeface="Poppins"/>
              </a:defRPr>
            </a:pPr>
            <a:r>
              <a:t>PROVERENE   •   ELEGANTNE   •   POUZDANE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CDBBA0"/>
                </a:solidFill>
                <a:latin typeface="Poppins"/>
              </a:defRPr>
            </a:pPr>
            <a:r>
              <a:t>ROYAL NANNY AKADEMIJA • STANDARDI NEGE   |   40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900" b="1">
                <a:solidFill>
                  <a:srgbClr val="F0E9D7"/>
                </a:solidFill>
                <a:latin typeface="Libre Baskerville"/>
              </a:defRPr>
            </a:pPr>
            <a:r>
              <a:t>Dnevnik nege, diskrecija i etički kodeks Royal Nanny</a:t>
            </a:r>
          </a:p>
          <a:p>
            <a:pPr>
              <a:spcBef>
                <a:spcPts val="300"/>
              </a:spcBef>
              <a:defRPr sz="1350">
                <a:solidFill>
                  <a:srgbClr val="CDBBA0"/>
                </a:solidFill>
                <a:latin typeface="Poppins"/>
              </a:defRPr>
            </a:pPr>
            <a:r>
              <a:t>Završni standardi • Profesionalna praksa i sertifikacija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57800" cy="3886200"/>
          </a:xfrm>
          <a:prstGeom prst="roundRect">
            <a:avLst/>
          </a:prstGeom>
          <a:solidFill>
            <a:srgbClr val="3A2B26"/>
          </a:solidFill>
          <a:ln w="12700">
            <a:solidFill>
              <a:srgbClr val="CD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D1AE66"/>
                </a:solidFill>
                <a:latin typeface="Libre Baskerville"/>
              </a:defRPr>
            </a:pPr>
            <a:r>
              <a:t>Pedijatrijski dnevnik nege i primopredaja smene</a:t>
            </a:r>
          </a:p>
          <a:p>
            <a:pPr>
              <a:spcBef>
                <a:spcPts val="600"/>
              </a:spcBef>
              <a:defRPr sz="1400" i="1">
                <a:solidFill>
                  <a:srgbClr val="D1AE66"/>
                </a:solidFill>
                <a:latin typeface="Poppins"/>
              </a:defRPr>
            </a:pPr>
            <a:r>
              <a:t>Sistematično vođenje evidencije obezbeđuje kontinuitet vrhunske nege i rano uočavanje promena u zdravstvenom stanju deteta.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D1AE66"/>
                </a:solidFill>
                <a:latin typeface="Poppins"/>
              </a:rPr>
              <a:t>• </a:t>
            </a:r>
            <a:r>
              <a:rPr sz="1300" b="1">
                <a:solidFill>
                  <a:srgbClr val="D1AE66"/>
                </a:solidFill>
                <a:latin typeface="Poppins"/>
              </a:rPr>
              <a:t>Struktura Dnevnika nege:</a:t>
            </a:r>
            <a:r>
              <a:rPr sz="1300" b="0">
                <a:solidFill>
                  <a:srgbClr val="F0E9D7"/>
                </a:solidFill>
                <a:latin typeface="Poppins"/>
              </a:rPr>
              <a:t> Svakodnevno precizno beleženje </a:t>
            </a:r>
            <a:r>
              <a:rPr sz="1300" b="1">
                <a:solidFill>
                  <a:srgbClr val="FFFFFF"/>
                </a:solidFill>
                <a:latin typeface="Poppins"/>
              </a:rPr>
              <a:t>vremena i trajanja podoja / mililitara formule</a:t>
            </a:r>
            <a:r>
              <a:rPr sz="1300" b="0">
                <a:solidFill>
                  <a:srgbClr val="F0E9D7"/>
                </a:solidFill>
                <a:latin typeface="Poppins"/>
              </a:rPr>
              <a:t>, dužine sna, </a:t>
            </a:r>
            <a:r>
              <a:rPr sz="1300" b="1">
                <a:solidFill>
                  <a:srgbClr val="FFFFFF"/>
                </a:solidFill>
                <a:latin typeface="Poppins"/>
              </a:rPr>
              <a:t>broja i izgleda mokrih i prljavih pelena</a:t>
            </a:r>
            <a:r>
              <a:rPr sz="1300" b="0">
                <a:solidFill>
                  <a:srgbClr val="F0E9D7"/>
                </a:solidFill>
                <a:latin typeface="Poppins"/>
              </a:rPr>
              <a:t>, temperature i primenjenih lekova.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D1AE66"/>
                </a:solidFill>
                <a:latin typeface="Poppins"/>
              </a:rPr>
              <a:t>• </a:t>
            </a:r>
            <a:r>
              <a:rPr sz="1300" b="1">
                <a:solidFill>
                  <a:srgbClr val="D1AE66"/>
                </a:solidFill>
                <a:latin typeface="Poppins"/>
              </a:rPr>
              <a:t>Protokol primopredaje smene:</a:t>
            </a:r>
            <a:r>
              <a:rPr sz="1300" b="0">
                <a:solidFill>
                  <a:srgbClr val="F0E9D7"/>
                </a:solidFill>
                <a:latin typeface="Poppins"/>
              </a:rPr>
              <a:t> </a:t>
            </a:r>
            <a:r>
              <a:rPr sz="1300" b="1">
                <a:solidFill>
                  <a:srgbClr val="FFFFFF"/>
                </a:solidFill>
                <a:latin typeface="Poppins"/>
              </a:rPr>
              <a:t>Strukturisani usmeni i pismeni brifing sa roditeljima</a:t>
            </a:r>
            <a:r>
              <a:rPr sz="1300" b="0">
                <a:solidFill>
                  <a:srgbClr val="F0E9D7"/>
                </a:solidFill>
                <a:latin typeface="Poppins"/>
              </a:rPr>
              <a:t> na početku i kraju svake smene uz zajednički pregled Dnevnika nege.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D1AE66"/>
                </a:solidFill>
                <a:latin typeface="Poppins"/>
              </a:rPr>
              <a:t>• </a:t>
            </a:r>
            <a:r>
              <a:rPr sz="1300" b="1">
                <a:solidFill>
                  <a:srgbClr val="D1AE66"/>
                </a:solidFill>
                <a:latin typeface="Poppins"/>
              </a:rPr>
              <a:t>Kontinuirana edukacija i resertifikacija:</a:t>
            </a:r>
            <a:r>
              <a:rPr sz="1300" b="0">
                <a:solidFill>
                  <a:srgbClr val="F0E9D7"/>
                </a:solidFill>
                <a:latin typeface="Poppins"/>
              </a:rPr>
              <a:t> </a:t>
            </a:r>
            <a:r>
              <a:rPr sz="1300" b="1">
                <a:solidFill>
                  <a:srgbClr val="FFFFFF"/>
                </a:solidFill>
                <a:latin typeface="Poppins"/>
              </a:rPr>
              <a:t>Godišnja obnova znanja iz prve pomoći i pedijatrijske nege</a:t>
            </a:r>
            <a:r>
              <a:rPr sz="1300" b="0">
                <a:solidFill>
                  <a:srgbClr val="F0E9D7"/>
                </a:solidFill>
                <a:latin typeface="Poppins"/>
              </a:rPr>
              <a:t>; održavanje najvišeg nivoa Royal Nanny zlatnog standarda.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73152" cy="3886200"/>
          </a:xfrm>
          <a:prstGeom prst="rect">
            <a:avLst/>
          </a:prstGeom>
          <a:solidFill>
            <a:srgbClr val="D1A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3886200"/>
          </a:xfrm>
          <a:prstGeom prst="roundRect">
            <a:avLst/>
          </a:prstGeom>
          <a:solidFill>
            <a:srgbClr val="3A2B26"/>
          </a:solidFill>
          <a:ln w="12700">
            <a:solidFill>
              <a:srgbClr val="CD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292608" tIns="256032" bIns="201168"/>
          <a:lstStyle/>
          <a:p>
            <a:pPr algn="ctr">
              <a:defRPr sz="2100" b="1">
                <a:solidFill>
                  <a:srgbClr val="D1AE66"/>
                </a:solidFill>
                <a:latin typeface="Libre Baskerville"/>
              </a:defRPr>
            </a:pPr>
            <a:r>
              <a:t>Etički kodeks, poverljivost (NDA) i sertifikacija</a:t>
            </a:r>
          </a:p>
          <a:p>
            <a:pPr>
              <a:spcBef>
                <a:spcPts val="600"/>
              </a:spcBef>
              <a:defRPr sz="1400" i="1">
                <a:solidFill>
                  <a:srgbClr val="D1AE66"/>
                </a:solidFill>
                <a:latin typeface="Poppins"/>
              </a:defRPr>
            </a:pPr>
            <a:r>
              <a:t>Standardi profesionalnog ponašanja, integriteta i diskrecije u porodicama visoke reputacije.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D1AE66"/>
                </a:solidFill>
                <a:latin typeface="Poppins"/>
              </a:rPr>
              <a:t>• </a:t>
            </a:r>
            <a:r>
              <a:rPr sz="1300" b="1">
                <a:solidFill>
                  <a:srgbClr val="D1AE66"/>
                </a:solidFill>
                <a:latin typeface="Poppins"/>
              </a:rPr>
              <a:t>Ugovor o poverljivosti (NDA):</a:t>
            </a:r>
            <a:r>
              <a:rPr sz="1300" b="0">
                <a:solidFill>
                  <a:srgbClr val="F0E9D7"/>
                </a:solidFill>
                <a:latin typeface="Poppins"/>
              </a:rPr>
              <a:t> </a:t>
            </a:r>
            <a:r>
              <a:rPr sz="1300" b="1">
                <a:solidFill>
                  <a:srgbClr val="FFFFFF"/>
                </a:solidFill>
                <a:latin typeface="Poppins"/>
              </a:rPr>
              <a:t>Apsolutna profesionalna diskrecija</a:t>
            </a:r>
            <a:r>
              <a:rPr sz="1300" b="0">
                <a:solidFill>
                  <a:srgbClr val="F0E9D7"/>
                </a:solidFill>
                <a:latin typeface="Poppins"/>
              </a:rPr>
              <a:t>; zabranjeno deljenje bilo kakvih informacija o porodičnom životu, imovinskom stanju ili zdravlju deteta trećim licima.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D1AE66"/>
                </a:solidFill>
                <a:latin typeface="Poppins"/>
              </a:rPr>
              <a:t>• </a:t>
            </a:r>
            <a:r>
              <a:rPr sz="1300" b="1">
                <a:solidFill>
                  <a:srgbClr val="D1AE66"/>
                </a:solidFill>
                <a:latin typeface="Poppins"/>
              </a:rPr>
              <a:t>STROGA ZABRANA FOTOGRAFISANJA:</a:t>
            </a:r>
            <a:r>
              <a:rPr sz="1300" b="0">
                <a:solidFill>
                  <a:srgbClr val="F0E9D7"/>
                </a:solidFill>
                <a:latin typeface="Poppins"/>
              </a:rPr>
              <a:t> </a:t>
            </a:r>
            <a:r>
              <a:rPr sz="1300" b="1">
                <a:solidFill>
                  <a:srgbClr val="FFFFFF"/>
                </a:solidFill>
                <a:latin typeface="Poppins"/>
              </a:rPr>
              <a:t>Najstrože je zabranjeno fotografisanje deteta i prostora</a:t>
            </a:r>
            <a:r>
              <a:rPr sz="1300" b="0">
                <a:solidFill>
                  <a:srgbClr val="F0E9D7"/>
                </a:solidFill>
                <a:latin typeface="Poppins"/>
              </a:rPr>
              <a:t> privatnim telefonom, kao i objavljivanje na društvenim mrežama ili slanje trećim licima.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D1AE66"/>
                </a:solidFill>
                <a:latin typeface="Poppins"/>
              </a:rPr>
              <a:t>• </a:t>
            </a:r>
            <a:r>
              <a:rPr sz="1300" b="1">
                <a:solidFill>
                  <a:srgbClr val="D1AE66"/>
                </a:solidFill>
                <a:latin typeface="Poppins"/>
              </a:rPr>
              <a:t>Granice profesionalne uloge:</a:t>
            </a:r>
            <a:r>
              <a:rPr sz="1300" b="0">
                <a:solidFill>
                  <a:srgbClr val="F0E9D7"/>
                </a:solidFill>
                <a:latin typeface="Poppins"/>
              </a:rPr>
              <a:t> Održavanje diplomatske distance uz toplinu i empatiju prema detetu; poštovanje kućnog reda i odluka roditelja bez nametanja ličnih stavova.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3886200"/>
          </a:xfrm>
          <a:prstGeom prst="rect">
            <a:avLst/>
          </a:prstGeom>
          <a:solidFill>
            <a:srgbClr val="D1A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687568"/>
            <a:ext cx="3447288" cy="621792"/>
          </a:xfrm>
          <a:prstGeom prst="roundRect">
            <a:avLst/>
          </a:prstGeom>
          <a:solidFill>
            <a:srgbClr val="3A2B26"/>
          </a:solidFill>
          <a:ln w="12700">
            <a:solidFill>
              <a:srgbClr val="CD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D1AE66"/>
                </a:solidFill>
                <a:latin typeface="Libre Baskerville"/>
              </a:defRPr>
            </a:pPr>
            <a:r>
              <a:t>Dnevnik</a:t>
            </a:r>
          </a:p>
          <a:p>
            <a:pPr>
              <a:spcBef>
                <a:spcPts val="100"/>
              </a:spcBef>
              <a:defRPr sz="950">
                <a:solidFill>
                  <a:srgbClr val="F0E9D7"/>
                </a:solidFill>
                <a:latin typeface="Poppins"/>
              </a:defRPr>
            </a:pPr>
            <a:r>
              <a:t>Pedijatrijska evidencija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687568"/>
            <a:ext cx="54864" cy="621792"/>
          </a:xfrm>
          <a:prstGeom prst="rect">
            <a:avLst/>
          </a:prstGeom>
          <a:solidFill>
            <a:srgbClr val="D1A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9976" y="5687568"/>
            <a:ext cx="3447288" cy="621792"/>
          </a:xfrm>
          <a:prstGeom prst="roundRect">
            <a:avLst/>
          </a:prstGeom>
          <a:solidFill>
            <a:srgbClr val="3A2B26"/>
          </a:solidFill>
          <a:ln w="12700">
            <a:solidFill>
              <a:srgbClr val="CD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D1AE66"/>
                </a:solidFill>
                <a:latin typeface="Libre Baskerville"/>
              </a:defRPr>
            </a:pPr>
            <a:r>
              <a:t>NDA</a:t>
            </a:r>
          </a:p>
          <a:p>
            <a:pPr>
              <a:spcBef>
                <a:spcPts val="100"/>
              </a:spcBef>
              <a:defRPr sz="950">
                <a:solidFill>
                  <a:srgbClr val="F0E9D7"/>
                </a:solidFill>
                <a:latin typeface="Poppins"/>
              </a:defRPr>
            </a:pPr>
            <a:r>
              <a:t>Apsolutna diskrecija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5687568"/>
            <a:ext cx="54864" cy="621792"/>
          </a:xfrm>
          <a:prstGeom prst="rect">
            <a:avLst/>
          </a:prstGeom>
          <a:solidFill>
            <a:srgbClr val="D1A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2" y="5687568"/>
            <a:ext cx="3447288" cy="621792"/>
          </a:xfrm>
          <a:prstGeom prst="roundRect">
            <a:avLst/>
          </a:prstGeom>
          <a:solidFill>
            <a:srgbClr val="3A2B26"/>
          </a:solidFill>
          <a:ln w="12700">
            <a:solidFill>
              <a:srgbClr val="CD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ctr">
              <a:defRPr sz="1550" b="1">
                <a:solidFill>
                  <a:srgbClr val="D1AE66"/>
                </a:solidFill>
                <a:latin typeface="Libre Baskerville"/>
              </a:defRPr>
            </a:pPr>
            <a:r>
              <a:t>100%</a:t>
            </a:r>
          </a:p>
          <a:p>
            <a:pPr>
              <a:spcBef>
                <a:spcPts val="100"/>
              </a:spcBef>
              <a:defRPr sz="950">
                <a:solidFill>
                  <a:srgbClr val="F0E9D7"/>
                </a:solidFill>
                <a:latin typeface="Poppins"/>
              </a:defRPr>
            </a:pPr>
            <a:r>
              <a:t>Royal Nanny sertifikat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5687568"/>
            <a:ext cx="54864" cy="621792"/>
          </a:xfrm>
          <a:prstGeom prst="rect">
            <a:avLst/>
          </a:prstGeom>
          <a:solidFill>
            <a:srgbClr val="D1A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